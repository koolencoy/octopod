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EXECUTIVE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The Observability Portal — What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An Observability Transformation</a:t>
            </a:r>
            <a:r>
              <a:rPr sz="1100" b="0">
                <a:solidFill>
                  <a:srgbClr val="7A808A"/>
                </a:solidFill>
                <a:latin typeface="Segoe UI"/>
              </a:rPr>
              <a:t> — an evolution of how observability is run: full user self-service, practised as platform engineering.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91056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The Portal is a product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part of every engineer’s toolset, built on open-source Backstage: engineers enable themselves across the platform tools behind it. Users see services, never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And it is the channel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the elimination of </a:t>
            </a:r>
            <a:r>
              <a:rPr sz="1000" b="1">
                <a:solidFill>
                  <a:srgbClr val="1B2A41"/>
                </a:solidFill>
                <a:latin typeface="Segoe UI"/>
              </a:rPr>
              <a:t>institutional blind spots.</a:t>
            </a:r>
            <a:r>
              <a:rPr sz="1000" b="0">
                <a:solidFill>
                  <a:srgbClr val="7A808A"/>
                </a:solidFill>
                <a:latin typeface="Segoe UI"/>
              </a:rPr>
              <a:t> Ownership, process, and status cease to be tribal knowledge held by individuals; they become published capabilities of one platform. </a:t>
            </a:r>
            <a:r>
              <a:rPr sz="1000" b="1">
                <a:solidFill>
                  <a:srgbClr val="1B2A41"/>
                </a:solidFill>
                <a:latin typeface="Segoe UI"/>
              </a:rPr>
              <a:t>Automation does the work; open governance keeps it visible</a:t>
            </a:r>
            <a:r>
              <a:rPr sz="1000" b="0">
                <a:solidFill>
                  <a:srgbClr val="7A808A"/>
                </a:solidFill>
                <a:latin typeface="Segoe UI"/>
              </a:rPr>
              <a:t> — a single front door for every enquiry and request: open book, self-service, always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50592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Enable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Remove every barrier to entry: any engineer switches observability on in minutes, correctly, without knowing the tools behind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Add Monitoring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alerts, auto-routed to the right 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ELK Log Onboarding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agents, topic, parsers, indices — one 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Access &amp; Asset Registry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permissions and registration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2450592"/>
            <a:ext cx="3520440" cy="25603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Assure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Make coverage provable: continuously verify that what should be observed is observed — and works — before an incident asks.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Observability Score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scorecard &amp; certification per asset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9976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Synthetic Alerting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fire-drill an alert end to 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9976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Reconciliation Reports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expected vs reality, daily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245059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56032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B2A41"/>
                </a:solidFill>
                <a:latin typeface="Segoe UI"/>
              </a:rPr>
              <a:t>Observability Brain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2816352"/>
            <a:ext cx="3520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7A808A"/>
                </a:solidFill>
                <a:latin typeface="Segoe UI"/>
              </a:rPr>
              <a:t>Make knowledge self-serve: every answer about the estate available instantly, grounded in the source of truth and cited.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11312" y="3246120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200400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Search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configs, runbooks, specs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2" y="3538727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493008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Ask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answers cite their sources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11312" y="3831335"/>
            <a:ext cx="73152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3785615"/>
            <a:ext cx="3319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Act</a:t>
            </a:r>
            <a:r>
              <a:rPr sz="900" b="0">
                <a:solidFill>
                  <a:srgbClr val="40444B"/>
                </a:solidFill>
                <a:latin typeface="Segoe UI"/>
              </a:rPr>
              <a:t> — links into governed services, never around them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114800"/>
            <a:ext cx="11064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EVERY CHANGE — HUMAN OR AI — TAKES ONE PATH</a:t>
            </a:r>
          </a:p>
        </p:txBody>
      </p:sp>
      <p:sp>
        <p:nvSpPr>
          <p:cNvPr id="36" name="Chevron 35"/>
          <p:cNvSpPr/>
          <p:nvPr/>
        </p:nvSpPr>
        <p:spPr>
          <a:xfrm>
            <a:off x="548640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Assisted Request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self-service, done in minutes</a:t>
            </a:r>
          </a:p>
        </p:txBody>
      </p:sp>
      <p:sp>
        <p:nvSpPr>
          <p:cNvPr id="37" name="Chevron 36"/>
          <p:cNvSpPr/>
          <p:nvPr/>
        </p:nvSpPr>
        <p:spPr>
          <a:xfrm>
            <a:off x="2752344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Maker–Checker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approval via pull request</a:t>
            </a:r>
          </a:p>
        </p:txBody>
      </p:sp>
      <p:sp>
        <p:nvSpPr>
          <p:cNvPr id="38" name="Chevron 37"/>
          <p:cNvSpPr/>
          <p:nvPr/>
        </p:nvSpPr>
        <p:spPr>
          <a:xfrm>
            <a:off x="4956048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1B2A41"/>
                </a:solidFill>
                <a:latin typeface="Segoe UI"/>
              </a:rPr>
              <a:t>Git — the record</a:t>
            </a:r>
          </a:p>
          <a:p>
            <a:pPr algn="ctr"/>
            <a:r>
              <a:rPr sz="800">
                <a:solidFill>
                  <a:srgbClr val="2E74B5"/>
                </a:solidFill>
                <a:latin typeface="Segoe UI"/>
              </a:rPr>
              <a:t>the single source of truth</a:t>
            </a:r>
          </a:p>
        </p:txBody>
      </p:sp>
      <p:sp>
        <p:nvSpPr>
          <p:cNvPr id="39" name="Chevron 38"/>
          <p:cNvSpPr/>
          <p:nvPr/>
        </p:nvSpPr>
        <p:spPr>
          <a:xfrm>
            <a:off x="7159752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Automation applies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no manual changes</a:t>
            </a:r>
          </a:p>
        </p:txBody>
      </p:sp>
      <p:sp>
        <p:nvSpPr>
          <p:cNvPr id="40" name="Chevron 39"/>
          <p:cNvSpPr/>
          <p:nvPr/>
        </p:nvSpPr>
        <p:spPr>
          <a:xfrm>
            <a:off x="9363456" y="4389120"/>
            <a:ext cx="2377440" cy="658368"/>
          </a:xfrm>
          <a:prstGeom prst="chevron">
            <a:avLst>
              <a:gd name="adj" fmla="val 50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2801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Drift detection</a:t>
            </a:r>
          </a:p>
          <a:p>
            <a:pPr algn="ctr"/>
            <a:r>
              <a:rPr sz="800">
                <a:solidFill>
                  <a:srgbClr val="C9D2DD"/>
                </a:solidFill>
                <a:latin typeface="Segoe UI"/>
              </a:rPr>
              <a:t>continuous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157216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Segoe UI"/>
              </a:rPr>
              <a:t>AI guided, humans approve, git records</a:t>
            </a:r>
            <a:r>
              <a:rPr sz="1100" b="0">
                <a:solidFill>
                  <a:srgbClr val="40444B"/>
                </a:solidFill>
                <a:latin typeface="Segoe UI"/>
              </a:rPr>
              <a:t>  —  no one, and nothing, writes to a platform directly. </a:t>
            </a:r>
            <a:r>
              <a:rPr sz="1100" b="1">
                <a:solidFill>
                  <a:srgbClr val="1B2A41"/>
                </a:solidFill>
                <a:latin typeface="Segoe UI"/>
              </a:rPr>
              <a:t>Drift is impossible by construction — not fought by discipline.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9612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05856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Grounded in two systems of record:  </a:t>
            </a:r>
            <a:r>
              <a:rPr sz="1050" b="1">
                <a:solidFill>
                  <a:srgbClr val="1B2A41"/>
                </a:solidFill>
                <a:latin typeface="Segoe UI"/>
              </a:rPr>
              <a:t>CMDB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exists)  ·  </a:t>
            </a:r>
            <a:r>
              <a:rPr sz="1050" b="1">
                <a:solidFill>
                  <a:srgbClr val="1B2A41"/>
                </a:solidFill>
                <a:latin typeface="Segoe UI"/>
              </a:rPr>
              <a:t>Git — the second brain</a:t>
            </a:r>
            <a:r>
              <a:rPr sz="1050" b="0">
                <a:solidFill>
                  <a:srgbClr val="40444B"/>
                </a:solidFill>
                <a:latin typeface="Segoe UI"/>
              </a:rPr>
              <a:t> (what is configured, and why)</a:t>
            </a:r>
          </a:p>
          <a:p>
            <a:pPr algn="l">
              <a:spcAft>
                <a:spcPts val="5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Runs the tools we already own — invisible to requesters:  </a:t>
            </a:r>
            <a:r>
              <a:rPr sz="1050" b="0">
                <a:solidFill>
                  <a:srgbClr val="40444B"/>
                </a:solidFill>
                <a:latin typeface="Segoe UI"/>
              </a:rPr>
              <a:t>ELK + Kafka  ·  DX UIM  ·  SolarWinds  ·  Grafana / Kibana  ·  Moogsoft → HPSM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Why do we need 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The tools kept modernising — the practice stood still</a:t>
            </a:r>
            <a:r>
              <a:rPr sz="1150" b="0">
                <a:solidFill>
                  <a:srgbClr val="7A808A"/>
                </a:solidFill>
                <a:latin typeface="Segoe UI"/>
              </a:rPr>
              <a:t> — a decade invested in platforms, with no innovation in how observability itself is done: siloed automation, no continuity, while the estate it watches exploded.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A sprawl of tools, no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Complex platforms grown side by side, with no singular product to orchestrate them — enabling yourself depends on finding the right engineer.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No knowable way to “do observability”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The documentation exists — Confluence pages grown stale, bloated, and burdensome. Nobody trusts them; everybody falls back to asking.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1810512"/>
            <a:ext cx="352044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385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A41"/>
                </a:solidFill>
                <a:latin typeface="Segoe UI"/>
              </a:rPr>
              <a:t>Operations struck and stuck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31136"/>
            <a:ext cx="3520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0444B"/>
                </a:solidFill>
                <a:latin typeface="Segoe UI"/>
              </a:rPr>
              <a:t>Massive volume, the same stale problems arriving daily. With the explosion of microservices and AI, operational fatigue is the common illness.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3E4C63"/>
                </a:solidFill>
                <a:latin typeface="Segoe UI"/>
              </a:rPr>
              <a:t>Manual work has a scaling law: errors accumulate into operational drift — more volume, more drift, same small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19856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29584"/>
            <a:ext cx="11064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THE OPERATING-MODEL SHIFT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Requests wait on individual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03904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03904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Governed self-service — fulfilled within minutes of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879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Documentation maintained by hand, trusted by no 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18795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87952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One source of truth, generated from the config that runs the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7A808A"/>
                </a:solidFill>
                <a:latin typeface="Segoe UI"/>
              </a:rPr>
              <a:t>Approvals informal; audit reconstructed from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57200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57200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Approval, record, and activation built into every change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047488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57216"/>
            <a:ext cx="5669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VALUE ARISES NATURALLY — A NATURAL EFFECT OF THE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31536"/>
            <a:ext cx="5669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An evolution, not a fix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engineers freed from toil back to engineering; a self-service culture; knowledge that compounds instead of decays.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The next frontier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once decided, the second brain unlocks AI-guided operations: proactive, predictive observability, and a platform-engineering pattern the wider bank can reuse.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57216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7A808A"/>
                </a:solidFill>
                <a:latin typeface="Segoe UI"/>
              </a:rPr>
              <a:t>WHY NOW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31536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B2A41"/>
                </a:solidFill>
                <a:latin typeface="Segoe UI"/>
              </a:rPr>
              <a:t>Already working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first slice runs end to end today.  </a:t>
            </a:r>
            <a:r>
              <a:rPr sz="1050" b="1">
                <a:solidFill>
                  <a:srgbClr val="1B2A41"/>
                </a:solidFill>
                <a:latin typeface="Segoe UI"/>
              </a:rPr>
              <a:t>Nothing new to buy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Backstage + tools we own.  </a:t>
            </a:r>
            <a:r>
              <a:rPr sz="1050" b="1">
                <a:solidFill>
                  <a:srgbClr val="1B2A41"/>
                </a:solidFill>
                <a:latin typeface="Segoe UI"/>
              </a:rPr>
              <a:t>AI-ready</a:t>
            </a:r>
            <a:r>
              <a:rPr sz="1000" b="0">
                <a:solidFill>
                  <a:srgbClr val="40444B"/>
                </a:solidFill>
                <a:latin typeface="Segoe UI"/>
              </a:rPr>
              <a:t> — a plain-text estate makes AI safe by construction.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HOW — THE PIPELINE IN FULL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8521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868680" cy="82296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487168"/>
            <a:ext cx="722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Users</a:t>
            </a:r>
          </a:p>
          <a:p>
            <a:pPr algn="l">
              <a:spcAft>
                <a:spcPts val="0"/>
              </a:spcAft>
            </a:pPr>
            <a:r>
              <a:rPr sz="750" b="0">
                <a:solidFill>
                  <a:srgbClr val="C9D2DD"/>
                </a:solidFill>
                <a:latin typeface="Segoe UI"/>
              </a:rPr>
              <a:t>any team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44752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0784" y="1371600"/>
            <a:ext cx="265176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10512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36B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63040"/>
            <a:ext cx="21396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BACKSTAGE · YELLOW 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10512" y="1719072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755648"/>
            <a:ext cx="2212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1 · </a:t>
            </a:r>
            <a:r>
              <a:rPr sz="950" b="1">
                <a:solidFill>
                  <a:srgbClr val="1B2A41"/>
                </a:solidFill>
                <a:latin typeface="Segoe UI"/>
              </a:rPr>
              <a:t>Guided request form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 step-by-step wizard captures the need and produces one standard, tool-neutral request document.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10512" y="2523744"/>
            <a:ext cx="243230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560320"/>
            <a:ext cx="22128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2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Auto-filed to git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portal files the request in git automatically — its own branch, ready for review. No human touches git.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10512" y="3328416"/>
            <a:ext cx="243230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364992"/>
            <a:ext cx="22128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3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workflow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Maker–checker: approver reviews a human-readable diff, never raw tool keys.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389120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1371600"/>
            <a:ext cx="237744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1463040"/>
            <a:ext cx="18653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BITBUCKET · THE RECORD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719072"/>
            <a:ext cx="215798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8" y="1755648"/>
            <a:ext cx="193852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4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Approve &amp; merge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approver merges the change — the merge IS the approval, and git keeps the permanent record: who, what, when.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2578608"/>
            <a:ext cx="215798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2615184"/>
            <a:ext cx="19385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5 · </a:t>
            </a:r>
            <a:r>
              <a:rPr sz="950" b="1">
                <a:solidFill>
                  <a:srgbClr val="1B2A41"/>
                </a:solidFill>
                <a:latin typeface="Segoe UI"/>
              </a:rPr>
              <a:t>Approval triggers automation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moment a change lands, git signals the automation — no scheduler, no queue, no hand-off.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383280"/>
            <a:ext cx="215798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419856"/>
            <a:ext cx="1938528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One repo per tool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Every tool’s configuration in its own repository, under one shared convention.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59168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1371600"/>
            <a:ext cx="2468880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24927" y="1444752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1463040"/>
            <a:ext cx="19568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ANSIBLE · AUTOMATION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24927" y="1719072"/>
            <a:ext cx="224942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5" y="1755648"/>
            <a:ext cx="202996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6 · </a:t>
            </a:r>
            <a:r>
              <a:rPr sz="950" b="1">
                <a:solidFill>
                  <a:srgbClr val="1B2A41"/>
                </a:solidFill>
                <a:latin typeface="Segoe UI"/>
              </a:rPr>
              <a:t>Reads the approved change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Automation reads exactly what was approved — one change, one file, or a full re-sync to repair drift.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4927" y="2651760"/>
            <a:ext cx="2249424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34655" y="2688336"/>
            <a:ext cx="202996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Segoe UI"/>
              </a:rPr>
              <a:t>7 · </a:t>
            </a:r>
            <a:r>
              <a:rPr sz="950" b="1">
                <a:solidFill>
                  <a:srgbClr val="1B2A41"/>
                </a:solidFill>
                <a:latin typeface="Segoe UI"/>
              </a:rPr>
              <a:t>Translate &amp; activate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40444B"/>
                </a:solidFill>
                <a:latin typeface="Segoe UI"/>
              </a:rPr>
              <a:t>The standard request is translated into each tool’s own language and applied — safe to re-run, retried on failure, credentials vaulted.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927" y="3511296"/>
            <a:ext cx="2249424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5" y="3547872"/>
            <a:ext cx="2029967" cy="4571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1B2A41"/>
                </a:solidFill>
                <a:latin typeface="Segoe UI"/>
              </a:rPr>
              <a:t>Read-only by construction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40444B"/>
                </a:solidFill>
                <a:latin typeface="Segoe UI"/>
              </a:rPr>
              <a:t>Automation can read the record — it can never rewrite it.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820656" y="2651760"/>
            <a:ext cx="219456" cy="182880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76688" y="1371600"/>
            <a:ext cx="1563624" cy="27432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86415" y="1463040"/>
            <a:ext cx="13624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>
                <a:solidFill>
                  <a:srgbClr val="7A808A"/>
                </a:solidFill>
                <a:latin typeface="Segoe UI"/>
              </a:rPr>
              <a:t>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8128" y="1682496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32136" y="1856232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CC0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DX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88168" y="1700784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DX UIM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infrastructure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68128" y="2304288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32136" y="2478024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00B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8" y="2322576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ELK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logs &amp; search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68128" y="2926080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232136" y="3099816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F99D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SW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88168" y="2944368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SolarWinds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network · planned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68128" y="3547872"/>
            <a:ext cx="1380744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232136" y="3721608"/>
            <a:ext cx="201168" cy="201168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88168" y="3566160"/>
            <a:ext cx="10241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1B2A41"/>
                </a:solidFill>
                <a:latin typeface="Segoe UI"/>
              </a:rPr>
              <a:t>Moogsoft</a:t>
            </a:r>
          </a:p>
          <a:p>
            <a:pPr algn="l">
              <a:spcAft>
                <a:spcPts val="100"/>
              </a:spcAft>
            </a:pPr>
            <a:r>
              <a:rPr sz="700" b="0">
                <a:solidFill>
                  <a:srgbClr val="40444B"/>
                </a:solidFill>
                <a:latin typeface="Segoe UI"/>
              </a:rPr>
              <a:t>events → tickets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00784" y="4187952"/>
            <a:ext cx="9939528" cy="34747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eft Arrow 52"/>
          <p:cNvSpPr/>
          <p:nvPr/>
        </p:nvSpPr>
        <p:spPr>
          <a:xfrm>
            <a:off x="1792224" y="4270248"/>
            <a:ext cx="237744" cy="182880"/>
          </a:xfrm>
          <a:prstGeom prst="lef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21408" y="4187952"/>
            <a:ext cx="9326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8 · Requester notified — every time</a:t>
            </a:r>
            <a:r>
              <a:rPr sz="850" b="0">
                <a:solidFill>
                  <a:srgbClr val="40444B"/>
                </a:solidFill>
                <a:latin typeface="Segoe UI"/>
              </a:rPr>
              <a:t>  —  success reported live; failure reported loudly and flagged critical, so the record and reality can never disagree silently.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0784" y="4608576"/>
            <a:ext cx="9939528" cy="457200"/>
          </a:xfrm>
          <a:prstGeom prst="rect">
            <a:avLst/>
          </a:prstGeom>
          <a:solidFill>
            <a:srgbClr val="FDF6EA"/>
          </a:solidFill>
          <a:ln w="9525">
            <a:solidFill>
              <a:srgbClr val="F0D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eft Arrow 55"/>
          <p:cNvSpPr/>
          <p:nvPr/>
        </p:nvSpPr>
        <p:spPr>
          <a:xfrm>
            <a:off x="1792224" y="4745736"/>
            <a:ext cx="237744" cy="182880"/>
          </a:xfrm>
          <a:prstGeom prst="leftArrow">
            <a:avLst/>
          </a:prstGeom>
          <a:solidFill>
            <a:srgbClr val="F59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21408" y="4608576"/>
            <a:ext cx="9326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9 · Drift detector — continuous read-back from the targets. </a:t>
            </a:r>
            <a:r>
              <a:rPr sz="800" b="0">
                <a:solidFill>
                  <a:srgbClr val="40444B"/>
                </a:solidFill>
                <a:latin typeface="Segoe UI"/>
              </a:rPr>
              <a:t>A scheduled check reads the live configuration back from every tool and compares it with the record. Anything changed directly on a tool surfaces as drift: the owner is notified, the Reports service shows the difference, and the fix stays governed — a safe re-sync or an approved change. Never a silent overwrite.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5120640"/>
            <a:ext cx="1109167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5120640"/>
            <a:ext cx="45720" cy="5120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13232" y="525780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5" y="5120640"/>
            <a:ext cx="10469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10 · TechDocs — the living document. </a:t>
            </a:r>
            <a:r>
              <a:rPr sz="800" b="0">
                <a:solidFill>
                  <a:srgbClr val="40444B"/>
                </a:solidFill>
                <a:latin typeface="Segoe UI"/>
              </a:rPr>
              <a:t>Documentation lives beside the configuration and is rendered straight from it — every asset registered with its owner, dashboards, and docs attached. It cannot drift from reality.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687568"/>
            <a:ext cx="11064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INVARIANTS:  </a:t>
            </a:r>
            <a:r>
              <a:rPr sz="750" b="0">
                <a:solidFill>
                  <a:srgbClr val="7A808A"/>
                </a:solidFill>
                <a:latin typeface="Segoe UI"/>
              </a:rPr>
              <a:t>data flows one way — the portal writes the record, automation reads it  ·  every action is safe to repeat  ·  nothing is ever deleted implicitly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888736"/>
            <a:ext cx="11091672" cy="530352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13232" y="6021324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5568" y="5888736"/>
            <a:ext cx="10378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11 · Observability Brain — the oracle at the front door. </a:t>
            </a:r>
            <a:r>
              <a:rPr sz="750" b="0">
                <a:solidFill>
                  <a:srgbClr val="C9D2DD"/>
                </a:solidFill>
                <a:latin typeface="Segoe UI"/>
              </a:rPr>
              <a:t>Backstage — the yellow pages of everything monitored — carries the Brain as its chatbot interface, wired to Bitbucket: the overall config source of truth, holding a decade of refined gold from every target tool — TechDocs, configurations, behavioural schedules. The Brain reads it to answer, guide, and propose for every user seeking assistance — grounded, cited, always under the approval gate.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THE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1"/>
                </a:solidFill>
                <a:latin typeface="Segoe UI"/>
              </a:rPr>
              <a:t>From person-dependent process to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440680" cy="45262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E4C63"/>
                </a:solidFill>
                <a:latin typeface="Segoe UI"/>
              </a:rPr>
              <a:t>AS-IS —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Ping / call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963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19655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1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Confluence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2051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2072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Jira ticket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446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4487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41063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Manual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6883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3" y="2103120"/>
            <a:ext cx="877824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2130551"/>
            <a:ext cx="8046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3E4C63"/>
                </a:solidFill>
                <a:latin typeface="Segoe UI"/>
              </a:rPr>
              <a:t>Slow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2788920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Observability is the supporting cast — and the punching bag when incidents hit: essential to everyone, invested in by no 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472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447287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tools modernised into a bigger stack of boxes — complexity grew with the organisation, but no continuity of automation grew with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05655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105655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human IS the workflow: every request, change, and answer routes through an engineer by hand (Confluence page → Jira ticket → manual work)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64023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764023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The dependency is now dangerous: even SME engineers make mistakes — fatigue turns expertise into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4223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B0544A"/>
                </a:solidFill>
                <a:latin typeface="Segoe U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422391"/>
            <a:ext cx="4800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No human can keep up with the scaling rule — volume grows with the estate; the team does not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1600200"/>
            <a:ext cx="52578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2512" y="1600200"/>
            <a:ext cx="525780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Segoe UI"/>
              </a:rPr>
              <a:t>TO-BE — with the portal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11112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7688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Portal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0416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One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16568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53144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Automated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6416" y="2212848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69296" y="2103120"/>
            <a:ext cx="1060704" cy="457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05872" y="2130551"/>
            <a:ext cx="987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750" b="1">
                <a:solidFill>
                  <a:srgbClr val="FFFFFF"/>
                </a:solidFill>
                <a:latin typeface="Segoe UI"/>
              </a:rPr>
              <a:t>Requester notified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11112" y="2788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78892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touchpoint consolidated into one portal — self-service by default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11112" y="333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33756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Target services are transparent to the user — the portal routes each request automatically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388620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Fewer human touchpoints: one approval, then proper automation end to 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1112" y="4434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434840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Every step auditable and scalable by construction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98347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498347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One single source of truth for all configuration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5532119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2E74B5"/>
                </a:solidFill>
                <a:latin typeface="Segoe U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532119"/>
            <a:ext cx="4617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40444B"/>
                </a:solidFill>
                <a:latin typeface="Segoe UI"/>
              </a:rPr>
              <a:t>Next-level automation enables the Observability Brain — the estate answers questions and proposes changes, under the same approval gate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B2A41"/>
                </a:solidFill>
                <a:latin typeface="Segoe UI"/>
              </a:rPr>
              <a:t>Same work, structurally different: </a:t>
            </a:r>
            <a:r>
              <a:rPr sz="1150" b="0">
                <a:solidFill>
                  <a:srgbClr val="40444B"/>
                </a:solidFill>
                <a:latin typeface="Segoe UI"/>
              </a:rPr>
              <a:t>the process moves from people’s heads and inboxes into a governed platform — recorded by default, faster by design.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7A808A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A41"/>
                </a:solidFill>
                <a:latin typeface="Segoe UI"/>
              </a:rPr>
              <a:t>The self-service catalogue, phased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52144"/>
            <a:ext cx="914400" cy="320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00784"/>
            <a:ext cx="10607040" cy="20116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1192256" y="1636776"/>
            <a:ext cx="256032" cy="164592"/>
          </a:xfrm>
          <a:prstGeom prst="rightArrow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2A41"/>
                </a:solidFill>
                <a:latin typeface="Segoe UI"/>
              </a:rPr>
              <a:t>Twenty services, one design language — foundation and the log stack are demoable today; the roadmap is activation order. Why this order: harden the live slice → land the log stack together → expansion rides the proven pattern (new wizard, new translator, same governance) → visibility needs reconciliation across the grown estate → assurance needs assets worth scoring — and the Brain grows with everything recorded along the way.</a:t>
            </a:r>
            <a:r>
              <a:rPr sz="850" b="0">
                <a:solidFill>
                  <a:srgbClr val="40444B"/>
                </a:solidFill>
                <a:latin typeface="Segoe U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D8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7A808A"/>
                </a:solidFill>
                <a:latin typeface="Segoe UI"/>
              </a:rPr>
              <a:t>5</a:t>
            </a:r>
          </a:p>
        </p:txBody>
      </p:sp>
      <p:sp>
        <p:nvSpPr>
          <p:cNvPr id="186" name="RB Date 0"/>
          <p:cNvSpPr txBox="1"/>
          <p:nvPr/>
        </p:nvSpPr>
        <p:spPr>
          <a:xfrm>
            <a:off x="548640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Q3 2026</a:t>
            </a:r>
          </a:p>
        </p:txBody>
      </p:sp>
      <p:sp>
        <p:nvSpPr>
          <p:cNvPr id="187" name="RB Kicker 0"/>
          <p:cNvSpPr txBox="1"/>
          <p:nvPr/>
        </p:nvSpPr>
        <p:spPr>
          <a:xfrm>
            <a:off x="548640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FOUNDATION</a:t>
            </a:r>
          </a:p>
        </p:txBody>
      </p:sp>
      <p:sp>
        <p:nvSpPr>
          <p:cNvPr id="188" name="RB Accent 0"/>
          <p:cNvSpPr/>
          <p:nvPr/>
        </p:nvSpPr>
        <p:spPr>
          <a:xfrm>
            <a:off x="54864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B Card 0-0"/>
          <p:cNvSpPr/>
          <p:nvPr/>
        </p:nvSpPr>
        <p:spPr>
          <a:xfrm>
            <a:off x="548640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RB Icon 0-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11096"/>
            <a:ext cx="237744" cy="237744"/>
          </a:xfrm>
          <a:prstGeom prst="rect">
            <a:avLst/>
          </a:prstGeom>
          <a:effectLst/>
        </p:spPr>
      </p:pic>
      <p:sp>
        <p:nvSpPr>
          <p:cNvPr id="191" name="RB Title 0-0"/>
          <p:cNvSpPr txBox="1"/>
          <p:nvPr/>
        </p:nvSpPr>
        <p:spPr>
          <a:xfrm>
            <a:off x="640080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Process Monitoring</a:t>
            </a:r>
          </a:p>
        </p:txBody>
      </p:sp>
      <p:sp>
        <p:nvSpPr>
          <p:cNvPr id="192" name="RB Desc 0-0"/>
          <p:cNvSpPr txBox="1"/>
          <p:nvPr/>
        </p:nvSpPr>
        <p:spPr>
          <a:xfrm>
            <a:off x="640080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 named process up or down — alert on state change</a:t>
            </a:r>
          </a:p>
        </p:txBody>
      </p:sp>
      <p:sp>
        <p:nvSpPr>
          <p:cNvPr id="193" name="RB Cta 0-0"/>
          <p:cNvSpPr txBox="1"/>
          <p:nvPr/>
        </p:nvSpPr>
        <p:spPr>
          <a:xfrm>
            <a:off x="640080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94" name="RB Card 0-1"/>
          <p:cNvSpPr/>
          <p:nvPr/>
        </p:nvSpPr>
        <p:spPr>
          <a:xfrm>
            <a:off x="548640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RB Icon 0-1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90088"/>
            <a:ext cx="237744" cy="237744"/>
          </a:xfrm>
          <a:prstGeom prst="rect">
            <a:avLst/>
          </a:prstGeom>
          <a:effectLst/>
        </p:spPr>
      </p:pic>
      <p:sp>
        <p:nvSpPr>
          <p:cNvPr id="196" name="RB Title 0-1"/>
          <p:cNvSpPr txBox="1"/>
          <p:nvPr/>
        </p:nvSpPr>
        <p:spPr>
          <a:xfrm>
            <a:off x="640080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Log Monitoring</a:t>
            </a:r>
          </a:p>
        </p:txBody>
      </p:sp>
      <p:sp>
        <p:nvSpPr>
          <p:cNvPr id="197" name="RB Desc 0-1"/>
          <p:cNvSpPr txBox="1"/>
          <p:nvPr/>
        </p:nvSpPr>
        <p:spPr>
          <a:xfrm>
            <a:off x="640080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Keyword &amp; pattern alerts on any log file</a:t>
            </a:r>
          </a:p>
        </p:txBody>
      </p:sp>
      <p:sp>
        <p:nvSpPr>
          <p:cNvPr id="198" name="RB Cta 0-1"/>
          <p:cNvSpPr txBox="1"/>
          <p:nvPr/>
        </p:nvSpPr>
        <p:spPr>
          <a:xfrm>
            <a:off x="640080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199" name="RB Card 0-2"/>
          <p:cNvSpPr/>
          <p:nvPr/>
        </p:nvSpPr>
        <p:spPr>
          <a:xfrm>
            <a:off x="548640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0" name="RB Icon 0-2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69080"/>
            <a:ext cx="237744" cy="237744"/>
          </a:xfrm>
          <a:prstGeom prst="rect">
            <a:avLst/>
          </a:prstGeom>
          <a:effectLst/>
        </p:spPr>
      </p:pic>
      <p:sp>
        <p:nvSpPr>
          <p:cNvPr id="201" name="RB Title 0-2"/>
          <p:cNvSpPr txBox="1"/>
          <p:nvPr/>
        </p:nvSpPr>
        <p:spPr>
          <a:xfrm>
            <a:off x="640080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CDM Monitoring</a:t>
            </a:r>
          </a:p>
        </p:txBody>
      </p:sp>
      <p:sp>
        <p:nvSpPr>
          <p:cNvPr id="202" name="RB Desc 0-2"/>
          <p:cNvSpPr txBox="1"/>
          <p:nvPr/>
        </p:nvSpPr>
        <p:spPr>
          <a:xfrm>
            <a:off x="640080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CPU, disk &amp; memory thresholds per host</a:t>
            </a:r>
          </a:p>
        </p:txBody>
      </p:sp>
      <p:sp>
        <p:nvSpPr>
          <p:cNvPr id="203" name="RB Cta 0-2"/>
          <p:cNvSpPr txBox="1"/>
          <p:nvPr/>
        </p:nvSpPr>
        <p:spPr>
          <a:xfrm>
            <a:off x="640080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Launch template  →</a:t>
            </a:r>
          </a:p>
        </p:txBody>
      </p:sp>
      <p:sp>
        <p:nvSpPr>
          <p:cNvPr id="204" name="RB Card 0-3"/>
          <p:cNvSpPr/>
          <p:nvPr/>
        </p:nvSpPr>
        <p:spPr>
          <a:xfrm>
            <a:off x="548640" y="5065776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5" name="RB Icon 0-3" descr="register-as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48072"/>
            <a:ext cx="237744" cy="237744"/>
          </a:xfrm>
          <a:prstGeom prst="rect">
            <a:avLst/>
          </a:prstGeom>
          <a:effectLst/>
        </p:spPr>
      </p:pic>
      <p:sp>
        <p:nvSpPr>
          <p:cNvPr id="206" name="RB Title 0-3"/>
          <p:cNvSpPr txBox="1"/>
          <p:nvPr/>
        </p:nvSpPr>
        <p:spPr>
          <a:xfrm>
            <a:off x="640080" y="5413248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Register Asset</a:t>
            </a:r>
          </a:p>
        </p:txBody>
      </p:sp>
      <p:sp>
        <p:nvSpPr>
          <p:cNvPr id="207" name="RB Desc 0-3"/>
          <p:cNvSpPr txBox="1"/>
          <p:nvPr/>
        </p:nvSpPr>
        <p:spPr>
          <a:xfrm>
            <a:off x="640080" y="5586983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Ad-hoc registration into the catalog</a:t>
            </a:r>
          </a:p>
        </p:txBody>
      </p:sp>
      <p:sp>
        <p:nvSpPr>
          <p:cNvPr id="208" name="RB Cta 0-3"/>
          <p:cNvSpPr txBox="1"/>
          <p:nvPr/>
        </p:nvSpPr>
        <p:spPr>
          <a:xfrm>
            <a:off x="640080" y="5888736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Register now  →</a:t>
            </a:r>
          </a:p>
        </p:txBody>
      </p:sp>
      <p:sp>
        <p:nvSpPr>
          <p:cNvPr id="209" name="RB Date 1"/>
          <p:cNvSpPr txBox="1"/>
          <p:nvPr/>
        </p:nvSpPr>
        <p:spPr>
          <a:xfrm>
            <a:off x="2407615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Q4 2026</a:t>
            </a:r>
          </a:p>
        </p:txBody>
      </p:sp>
      <p:sp>
        <p:nvSpPr>
          <p:cNvPr id="210" name="RB Kicker 1"/>
          <p:cNvSpPr txBox="1"/>
          <p:nvPr/>
        </p:nvSpPr>
        <p:spPr>
          <a:xfrm>
            <a:off x="2407615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LOGS &amp; AGENTS</a:t>
            </a:r>
          </a:p>
        </p:txBody>
      </p:sp>
      <p:sp>
        <p:nvSpPr>
          <p:cNvPr id="211" name="RB Accent 1"/>
          <p:cNvSpPr/>
          <p:nvPr/>
        </p:nvSpPr>
        <p:spPr>
          <a:xfrm>
            <a:off x="2407615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B Card 1-0"/>
          <p:cNvSpPr/>
          <p:nvPr/>
        </p:nvSpPr>
        <p:spPr>
          <a:xfrm>
            <a:off x="2407615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RB Icon 1-0" descr="elk-log-onboar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055" y="1911096"/>
            <a:ext cx="237744" cy="237744"/>
          </a:xfrm>
          <a:prstGeom prst="rect">
            <a:avLst/>
          </a:prstGeom>
          <a:effectLst/>
        </p:spPr>
      </p:pic>
      <p:sp>
        <p:nvSpPr>
          <p:cNvPr id="214" name="RB Title 1-0"/>
          <p:cNvSpPr txBox="1"/>
          <p:nvPr/>
        </p:nvSpPr>
        <p:spPr>
          <a:xfrm>
            <a:off x="2499055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ELK Log Onboarding</a:t>
            </a:r>
          </a:p>
        </p:txBody>
      </p:sp>
      <p:sp>
        <p:nvSpPr>
          <p:cNvPr id="215" name="RB Desc 1-0"/>
          <p:cNvSpPr txBox="1"/>
          <p:nvPr/>
        </p:nvSpPr>
        <p:spPr>
          <a:xfrm>
            <a:off x="2499055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Agents, Kafka, parsers, indices — one request</a:t>
            </a:r>
          </a:p>
        </p:txBody>
      </p:sp>
      <p:sp>
        <p:nvSpPr>
          <p:cNvPr id="216" name="RB Cta 1-0"/>
          <p:cNvSpPr txBox="1"/>
          <p:nvPr/>
        </p:nvSpPr>
        <p:spPr>
          <a:xfrm>
            <a:off x="2499055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Start onboarding  →</a:t>
            </a:r>
          </a:p>
        </p:txBody>
      </p:sp>
      <p:sp>
        <p:nvSpPr>
          <p:cNvPr id="217" name="RB Card 1-1"/>
          <p:cNvSpPr/>
          <p:nvPr/>
        </p:nvSpPr>
        <p:spPr>
          <a:xfrm>
            <a:off x="2407615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8" name="RB Icon 1-1" descr="install-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9055" y="2990088"/>
            <a:ext cx="237744" cy="237744"/>
          </a:xfrm>
          <a:prstGeom prst="rect">
            <a:avLst/>
          </a:prstGeom>
          <a:effectLst/>
        </p:spPr>
      </p:pic>
      <p:sp>
        <p:nvSpPr>
          <p:cNvPr id="219" name="RB Title 1-1"/>
          <p:cNvSpPr txBox="1"/>
          <p:nvPr/>
        </p:nvSpPr>
        <p:spPr>
          <a:xfrm>
            <a:off x="2499055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Install Agent</a:t>
            </a:r>
          </a:p>
        </p:txBody>
      </p:sp>
      <p:sp>
        <p:nvSpPr>
          <p:cNvPr id="220" name="RB Desc 1-1"/>
          <p:cNvSpPr txBox="1"/>
          <p:nvPr/>
        </p:nvSpPr>
        <p:spPr>
          <a:xfrm>
            <a:off x="2499055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The right agents per host — only what is missing</a:t>
            </a:r>
          </a:p>
        </p:txBody>
      </p:sp>
      <p:sp>
        <p:nvSpPr>
          <p:cNvPr id="221" name="RB Cta 1-1"/>
          <p:cNvSpPr txBox="1"/>
          <p:nvPr/>
        </p:nvSpPr>
        <p:spPr>
          <a:xfrm>
            <a:off x="2499055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Install agents  →</a:t>
            </a:r>
          </a:p>
        </p:txBody>
      </p:sp>
      <p:sp>
        <p:nvSpPr>
          <p:cNvPr id="222" name="RB Card 1-2"/>
          <p:cNvSpPr/>
          <p:nvPr/>
        </p:nvSpPr>
        <p:spPr>
          <a:xfrm>
            <a:off x="2407615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3" name="RB Icon 1-2" descr="request-log-ac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055" y="4069080"/>
            <a:ext cx="237744" cy="237744"/>
          </a:xfrm>
          <a:prstGeom prst="rect">
            <a:avLst/>
          </a:prstGeom>
          <a:effectLst/>
        </p:spPr>
      </p:pic>
      <p:sp>
        <p:nvSpPr>
          <p:cNvPr id="224" name="RB Title 1-2"/>
          <p:cNvSpPr txBox="1"/>
          <p:nvPr/>
        </p:nvSpPr>
        <p:spPr>
          <a:xfrm>
            <a:off x="2499055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Request Log Access</a:t>
            </a:r>
          </a:p>
        </p:txBody>
      </p:sp>
      <p:sp>
        <p:nvSpPr>
          <p:cNvPr id="225" name="RB Desc 1-2"/>
          <p:cNvSpPr txBox="1"/>
          <p:nvPr/>
        </p:nvSpPr>
        <p:spPr>
          <a:xfrm>
            <a:off x="2499055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Read-only ELK index access, on request</a:t>
            </a:r>
          </a:p>
        </p:txBody>
      </p:sp>
      <p:sp>
        <p:nvSpPr>
          <p:cNvPr id="226" name="RB Cta 1-2"/>
          <p:cNvSpPr txBox="1"/>
          <p:nvPr/>
        </p:nvSpPr>
        <p:spPr>
          <a:xfrm>
            <a:off x="2499055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Request access  →</a:t>
            </a:r>
          </a:p>
        </p:txBody>
      </p:sp>
      <p:sp>
        <p:nvSpPr>
          <p:cNvPr id="227" name="RB Date 2"/>
          <p:cNvSpPr txBox="1"/>
          <p:nvPr/>
        </p:nvSpPr>
        <p:spPr>
          <a:xfrm>
            <a:off x="4266590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Q1 2027</a:t>
            </a:r>
          </a:p>
        </p:txBody>
      </p:sp>
      <p:sp>
        <p:nvSpPr>
          <p:cNvPr id="228" name="RB Kicker 2"/>
          <p:cNvSpPr txBox="1"/>
          <p:nvPr/>
        </p:nvSpPr>
        <p:spPr>
          <a:xfrm>
            <a:off x="4266590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EXPANSION · ENDPOINTS</a:t>
            </a:r>
          </a:p>
        </p:txBody>
      </p:sp>
      <p:sp>
        <p:nvSpPr>
          <p:cNvPr id="229" name="RB Accent 2"/>
          <p:cNvSpPr/>
          <p:nvPr/>
        </p:nvSpPr>
        <p:spPr>
          <a:xfrm>
            <a:off x="426659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B Card 2-0"/>
          <p:cNvSpPr/>
          <p:nvPr/>
        </p:nvSpPr>
        <p:spPr>
          <a:xfrm>
            <a:off x="4266590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1" name="RB Icon 2-0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8030" y="1911096"/>
            <a:ext cx="237744" cy="237744"/>
          </a:xfrm>
          <a:prstGeom prst="rect">
            <a:avLst/>
          </a:prstGeom>
          <a:effectLst/>
        </p:spPr>
      </p:pic>
      <p:sp>
        <p:nvSpPr>
          <p:cNvPr id="232" name="RB Title 2-0"/>
          <p:cNvSpPr txBox="1"/>
          <p:nvPr/>
        </p:nvSpPr>
        <p:spPr>
          <a:xfrm>
            <a:off x="4358030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URL Monitoring</a:t>
            </a:r>
          </a:p>
        </p:txBody>
      </p:sp>
      <p:sp>
        <p:nvSpPr>
          <p:cNvPr id="233" name="RB Desc 2-0"/>
          <p:cNvSpPr txBox="1"/>
          <p:nvPr/>
        </p:nvSpPr>
        <p:spPr>
          <a:xfrm>
            <a:off x="4358030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Availability &amp; response-time checks per URL</a:t>
            </a:r>
          </a:p>
        </p:txBody>
      </p:sp>
      <p:sp>
        <p:nvSpPr>
          <p:cNvPr id="234" name="RB Cta 2-0"/>
          <p:cNvSpPr txBox="1"/>
          <p:nvPr/>
        </p:nvSpPr>
        <p:spPr>
          <a:xfrm>
            <a:off x="4358030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Add a check  →</a:t>
            </a:r>
          </a:p>
        </p:txBody>
      </p:sp>
      <p:sp>
        <p:nvSpPr>
          <p:cNvPr id="235" name="RB Card 2-1"/>
          <p:cNvSpPr/>
          <p:nvPr/>
        </p:nvSpPr>
        <p:spPr>
          <a:xfrm>
            <a:off x="4266590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6" name="RB Icon 2-1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8030" y="2990088"/>
            <a:ext cx="237744" cy="237744"/>
          </a:xfrm>
          <a:prstGeom prst="rect">
            <a:avLst/>
          </a:prstGeom>
          <a:effectLst/>
        </p:spPr>
      </p:pic>
      <p:sp>
        <p:nvSpPr>
          <p:cNvPr id="237" name="RB Title 2-1"/>
          <p:cNvSpPr txBox="1"/>
          <p:nvPr/>
        </p:nvSpPr>
        <p:spPr>
          <a:xfrm>
            <a:off x="4358030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Cert Monitoring</a:t>
            </a:r>
          </a:p>
        </p:txBody>
      </p:sp>
      <p:sp>
        <p:nvSpPr>
          <p:cNvPr id="238" name="RB Desc 2-1"/>
          <p:cNvSpPr txBox="1"/>
          <p:nvPr/>
        </p:nvSpPr>
        <p:spPr>
          <a:xfrm>
            <a:off x="4358030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TLS certificate expiry — alerted before it bites</a:t>
            </a:r>
          </a:p>
        </p:txBody>
      </p:sp>
      <p:sp>
        <p:nvSpPr>
          <p:cNvPr id="239" name="RB Cta 2-1"/>
          <p:cNvSpPr txBox="1"/>
          <p:nvPr/>
        </p:nvSpPr>
        <p:spPr>
          <a:xfrm>
            <a:off x="4358030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Watch certs  →</a:t>
            </a:r>
          </a:p>
        </p:txBody>
      </p:sp>
      <p:sp>
        <p:nvSpPr>
          <p:cNvPr id="240" name="RB Card 2-2"/>
          <p:cNvSpPr/>
          <p:nvPr/>
        </p:nvSpPr>
        <p:spPr>
          <a:xfrm>
            <a:off x="4266590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1" name="RB Icon 2-2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58030" y="4069080"/>
            <a:ext cx="237744" cy="237744"/>
          </a:xfrm>
          <a:prstGeom prst="rect">
            <a:avLst/>
          </a:prstGeom>
          <a:effectLst/>
        </p:spPr>
      </p:pic>
      <p:sp>
        <p:nvSpPr>
          <p:cNvPr id="242" name="RB Title 2-2"/>
          <p:cNvSpPr txBox="1"/>
          <p:nvPr/>
        </p:nvSpPr>
        <p:spPr>
          <a:xfrm>
            <a:off x="4358030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Public-Facing Monitoring</a:t>
            </a:r>
          </a:p>
        </p:txBody>
      </p:sp>
      <p:sp>
        <p:nvSpPr>
          <p:cNvPr id="243" name="RB Desc 2-2"/>
          <p:cNvSpPr txBox="1"/>
          <p:nvPr/>
        </p:nvSpPr>
        <p:spPr>
          <a:xfrm>
            <a:off x="4358030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Outside-in checks on internet-facing services</a:t>
            </a:r>
          </a:p>
        </p:txBody>
      </p:sp>
      <p:sp>
        <p:nvSpPr>
          <p:cNvPr id="244" name="RB Cta 2-2"/>
          <p:cNvSpPr txBox="1"/>
          <p:nvPr/>
        </p:nvSpPr>
        <p:spPr>
          <a:xfrm>
            <a:off x="4358030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Add a check  →</a:t>
            </a:r>
          </a:p>
        </p:txBody>
      </p:sp>
      <p:sp>
        <p:nvSpPr>
          <p:cNvPr id="245" name="RB Card 2-3"/>
          <p:cNvSpPr/>
          <p:nvPr/>
        </p:nvSpPr>
        <p:spPr>
          <a:xfrm>
            <a:off x="4266590" y="5065776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6" name="RB Icon 2-3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8030" y="5148072"/>
            <a:ext cx="237744" cy="237744"/>
          </a:xfrm>
          <a:prstGeom prst="rect">
            <a:avLst/>
          </a:prstGeom>
          <a:effectLst/>
        </p:spPr>
      </p:pic>
      <p:sp>
        <p:nvSpPr>
          <p:cNvPr id="247" name="RB Title 2-3"/>
          <p:cNvSpPr txBox="1"/>
          <p:nvPr/>
        </p:nvSpPr>
        <p:spPr>
          <a:xfrm>
            <a:off x="4358030" y="5413248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File Integrity Monitoring</a:t>
            </a:r>
          </a:p>
        </p:txBody>
      </p:sp>
      <p:sp>
        <p:nvSpPr>
          <p:cNvPr id="248" name="RB Desc 2-3"/>
          <p:cNvSpPr txBox="1"/>
          <p:nvPr/>
        </p:nvSpPr>
        <p:spPr>
          <a:xfrm>
            <a:off x="4358030" y="5586983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Alert on unauthorised file changes</a:t>
            </a:r>
          </a:p>
        </p:txBody>
      </p:sp>
      <p:sp>
        <p:nvSpPr>
          <p:cNvPr id="249" name="RB Cta 2-3"/>
          <p:cNvSpPr txBox="1"/>
          <p:nvPr/>
        </p:nvSpPr>
        <p:spPr>
          <a:xfrm>
            <a:off x="4358030" y="5888736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Enable FIM  →</a:t>
            </a:r>
          </a:p>
        </p:txBody>
      </p:sp>
      <p:sp>
        <p:nvSpPr>
          <p:cNvPr id="250" name="RB Date 3"/>
          <p:cNvSpPr txBox="1"/>
          <p:nvPr/>
        </p:nvSpPr>
        <p:spPr>
          <a:xfrm>
            <a:off x="6125565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Q2 2027</a:t>
            </a:r>
          </a:p>
        </p:txBody>
      </p:sp>
      <p:sp>
        <p:nvSpPr>
          <p:cNvPr id="251" name="RB Kicker 3"/>
          <p:cNvSpPr txBox="1"/>
          <p:nvPr/>
        </p:nvSpPr>
        <p:spPr>
          <a:xfrm>
            <a:off x="6125565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PLATFORMS · INTELLIGENCE</a:t>
            </a:r>
          </a:p>
        </p:txBody>
      </p:sp>
      <p:sp>
        <p:nvSpPr>
          <p:cNvPr id="252" name="RB Accent 3"/>
          <p:cNvSpPr/>
          <p:nvPr/>
        </p:nvSpPr>
        <p:spPr>
          <a:xfrm>
            <a:off x="6125565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B Card 3-0"/>
          <p:cNvSpPr/>
          <p:nvPr/>
        </p:nvSpPr>
        <p:spPr>
          <a:xfrm>
            <a:off x="6125565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4" name="RB Icon 3-0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005" y="1911096"/>
            <a:ext cx="237744" cy="237744"/>
          </a:xfrm>
          <a:prstGeom prst="rect">
            <a:avLst/>
          </a:prstGeom>
          <a:effectLst/>
        </p:spPr>
      </p:pic>
      <p:sp>
        <p:nvSpPr>
          <p:cNvPr id="255" name="RB Title 3-0"/>
          <p:cNvSpPr txBox="1"/>
          <p:nvPr/>
        </p:nvSpPr>
        <p:spPr>
          <a:xfrm>
            <a:off x="6217005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Database Monitoring</a:t>
            </a:r>
          </a:p>
        </p:txBody>
      </p:sp>
      <p:sp>
        <p:nvSpPr>
          <p:cNvPr id="256" name="RB Desc 3-0"/>
          <p:cNvSpPr txBox="1"/>
          <p:nvPr/>
        </p:nvSpPr>
        <p:spPr>
          <a:xfrm>
            <a:off x="6217005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Health &amp; performance — Oracle, MSSQL, PostgreSQL</a:t>
            </a:r>
          </a:p>
        </p:txBody>
      </p:sp>
      <p:sp>
        <p:nvSpPr>
          <p:cNvPr id="257" name="RB Cta 3-0"/>
          <p:cNvSpPr txBox="1"/>
          <p:nvPr/>
        </p:nvSpPr>
        <p:spPr>
          <a:xfrm>
            <a:off x="6217005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Add monitoring  →</a:t>
            </a:r>
          </a:p>
        </p:txBody>
      </p:sp>
      <p:sp>
        <p:nvSpPr>
          <p:cNvPr id="258" name="RB Card 3-1"/>
          <p:cNvSpPr/>
          <p:nvPr/>
        </p:nvSpPr>
        <p:spPr>
          <a:xfrm>
            <a:off x="6125565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9" name="RB Icon 3-1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005" y="2990088"/>
            <a:ext cx="237744" cy="237744"/>
          </a:xfrm>
          <a:prstGeom prst="rect">
            <a:avLst/>
          </a:prstGeom>
          <a:effectLst/>
        </p:spPr>
      </p:pic>
      <p:sp>
        <p:nvSpPr>
          <p:cNvPr id="260" name="RB Title 3-1"/>
          <p:cNvSpPr txBox="1"/>
          <p:nvPr/>
        </p:nvSpPr>
        <p:spPr>
          <a:xfrm>
            <a:off x="6217005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Hyper-V · ESXi · IBM</a:t>
            </a:r>
          </a:p>
        </p:txBody>
      </p:sp>
      <p:sp>
        <p:nvSpPr>
          <p:cNvPr id="261" name="RB Desc 3-1"/>
          <p:cNvSpPr txBox="1"/>
          <p:nvPr/>
        </p:nvSpPr>
        <p:spPr>
          <a:xfrm>
            <a:off x="6217005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Virtualisation &amp; IBM estate monitoring</a:t>
            </a:r>
          </a:p>
        </p:txBody>
      </p:sp>
      <p:sp>
        <p:nvSpPr>
          <p:cNvPr id="262" name="RB Cta 3-1"/>
          <p:cNvSpPr txBox="1"/>
          <p:nvPr/>
        </p:nvSpPr>
        <p:spPr>
          <a:xfrm>
            <a:off x="6217005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Add monitoring  →</a:t>
            </a:r>
          </a:p>
        </p:txBody>
      </p:sp>
      <p:sp>
        <p:nvSpPr>
          <p:cNvPr id="263" name="RB Card 3-2"/>
          <p:cNvSpPr/>
          <p:nvPr/>
        </p:nvSpPr>
        <p:spPr>
          <a:xfrm>
            <a:off x="6125565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4" name="RB Icon 3-2" descr="add-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005" y="4069080"/>
            <a:ext cx="237744" cy="237744"/>
          </a:xfrm>
          <a:prstGeom prst="rect">
            <a:avLst/>
          </a:prstGeom>
          <a:effectLst/>
        </p:spPr>
      </p:pic>
      <p:sp>
        <p:nvSpPr>
          <p:cNvPr id="265" name="RB Title 3-2"/>
          <p:cNvSpPr txBox="1"/>
          <p:nvPr/>
        </p:nvSpPr>
        <p:spPr>
          <a:xfrm>
            <a:off x="6217005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Send Quick SMS</a:t>
            </a:r>
          </a:p>
        </p:txBody>
      </p:sp>
      <p:sp>
        <p:nvSpPr>
          <p:cNvPr id="266" name="RB Desc 3-2"/>
          <p:cNvSpPr txBox="1"/>
          <p:nvPr/>
        </p:nvSpPr>
        <p:spPr>
          <a:xfrm>
            <a:off x="6217005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On-demand SMS notify for critical events</a:t>
            </a:r>
          </a:p>
        </p:txBody>
      </p:sp>
      <p:sp>
        <p:nvSpPr>
          <p:cNvPr id="267" name="RB Cta 3-2"/>
          <p:cNvSpPr txBox="1"/>
          <p:nvPr/>
        </p:nvSpPr>
        <p:spPr>
          <a:xfrm>
            <a:off x="6217005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Send SMS  →</a:t>
            </a:r>
          </a:p>
        </p:txBody>
      </p:sp>
      <p:sp>
        <p:nvSpPr>
          <p:cNvPr id="268" name="RB Card 3-3"/>
          <p:cNvSpPr/>
          <p:nvPr/>
        </p:nvSpPr>
        <p:spPr>
          <a:xfrm>
            <a:off x="6125565" y="5065776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9" name="RB Icon 3-3" descr="observability-bra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005" y="5148072"/>
            <a:ext cx="237744" cy="237744"/>
          </a:xfrm>
          <a:prstGeom prst="rect">
            <a:avLst/>
          </a:prstGeom>
          <a:effectLst/>
        </p:spPr>
      </p:pic>
      <p:sp>
        <p:nvSpPr>
          <p:cNvPr id="270" name="RB Title 3-3"/>
          <p:cNvSpPr txBox="1"/>
          <p:nvPr/>
        </p:nvSpPr>
        <p:spPr>
          <a:xfrm>
            <a:off x="6217005" y="5413248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Observability Brain</a:t>
            </a:r>
          </a:p>
        </p:txBody>
      </p:sp>
      <p:sp>
        <p:nvSpPr>
          <p:cNvPr id="271" name="RB Desc 3-3"/>
          <p:cNvSpPr txBox="1"/>
          <p:nvPr/>
        </p:nvSpPr>
        <p:spPr>
          <a:xfrm>
            <a:off x="6217005" y="5586983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The oracle — grounded answers over the second brain</a:t>
            </a:r>
          </a:p>
        </p:txBody>
      </p:sp>
      <p:sp>
        <p:nvSpPr>
          <p:cNvPr id="272" name="RB Cta 3-3"/>
          <p:cNvSpPr txBox="1"/>
          <p:nvPr/>
        </p:nvSpPr>
        <p:spPr>
          <a:xfrm>
            <a:off x="6217005" y="5888736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Ask the Brain  →</a:t>
            </a:r>
          </a:p>
        </p:txBody>
      </p:sp>
      <p:sp>
        <p:nvSpPr>
          <p:cNvPr id="273" name="RB Date 4"/>
          <p:cNvSpPr txBox="1"/>
          <p:nvPr/>
        </p:nvSpPr>
        <p:spPr>
          <a:xfrm>
            <a:off x="7984540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Q3 2027</a:t>
            </a:r>
          </a:p>
        </p:txBody>
      </p:sp>
      <p:sp>
        <p:nvSpPr>
          <p:cNvPr id="274" name="RB Kicker 4"/>
          <p:cNvSpPr txBox="1"/>
          <p:nvPr/>
        </p:nvSpPr>
        <p:spPr>
          <a:xfrm>
            <a:off x="7984540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VISIBILITY</a:t>
            </a:r>
          </a:p>
        </p:txBody>
      </p:sp>
      <p:sp>
        <p:nvSpPr>
          <p:cNvPr id="275" name="RB Accent 4"/>
          <p:cNvSpPr/>
          <p:nvPr/>
        </p:nvSpPr>
        <p:spPr>
          <a:xfrm>
            <a:off x="7984540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B Card 4-0"/>
          <p:cNvSpPr/>
          <p:nvPr/>
        </p:nvSpPr>
        <p:spPr>
          <a:xfrm>
            <a:off x="7984540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7" name="RB Icon 4-0" descr="repo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5980" y="1911096"/>
            <a:ext cx="237744" cy="237744"/>
          </a:xfrm>
          <a:prstGeom prst="rect">
            <a:avLst/>
          </a:prstGeom>
          <a:effectLst/>
        </p:spPr>
      </p:pic>
      <p:sp>
        <p:nvSpPr>
          <p:cNvPr id="278" name="RB Title 4-0"/>
          <p:cNvSpPr txBox="1"/>
          <p:nvPr/>
        </p:nvSpPr>
        <p:spPr>
          <a:xfrm>
            <a:off x="8075980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Reports</a:t>
            </a:r>
          </a:p>
        </p:txBody>
      </p:sp>
      <p:sp>
        <p:nvSpPr>
          <p:cNvPr id="279" name="RB Desc 4-0"/>
          <p:cNvSpPr txBox="1"/>
          <p:nvPr/>
        </p:nvSpPr>
        <p:spPr>
          <a:xfrm>
            <a:off x="8075980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Daily reconciliation — gaps, unmonitored, drift</a:t>
            </a:r>
          </a:p>
        </p:txBody>
      </p:sp>
      <p:sp>
        <p:nvSpPr>
          <p:cNvPr id="280" name="RB Cta 4-0"/>
          <p:cNvSpPr txBox="1"/>
          <p:nvPr/>
        </p:nvSpPr>
        <p:spPr>
          <a:xfrm>
            <a:off x="8075980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View reports  →</a:t>
            </a:r>
          </a:p>
        </p:txBody>
      </p:sp>
      <p:sp>
        <p:nvSpPr>
          <p:cNvPr id="281" name="RB Card 4-1"/>
          <p:cNvSpPr/>
          <p:nvPr/>
        </p:nvSpPr>
        <p:spPr>
          <a:xfrm>
            <a:off x="7984540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2" name="RB Icon 4-1" descr="dashboard-inven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980" y="2990088"/>
            <a:ext cx="237744" cy="237744"/>
          </a:xfrm>
          <a:prstGeom prst="rect">
            <a:avLst/>
          </a:prstGeom>
          <a:effectLst/>
        </p:spPr>
      </p:pic>
      <p:sp>
        <p:nvSpPr>
          <p:cNvPr id="283" name="RB Title 4-1"/>
          <p:cNvSpPr txBox="1"/>
          <p:nvPr/>
        </p:nvSpPr>
        <p:spPr>
          <a:xfrm>
            <a:off x="8075980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Dashboard Inventory</a:t>
            </a:r>
          </a:p>
        </p:txBody>
      </p:sp>
      <p:sp>
        <p:nvSpPr>
          <p:cNvPr id="284" name="RB Desc 4-1"/>
          <p:cNvSpPr txBox="1"/>
          <p:nvPr/>
        </p:nvSpPr>
        <p:spPr>
          <a:xfrm>
            <a:off x="8075980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Every dashboard described and linked</a:t>
            </a:r>
          </a:p>
        </p:txBody>
      </p:sp>
      <p:sp>
        <p:nvSpPr>
          <p:cNvPr id="285" name="RB Cta 4-1"/>
          <p:cNvSpPr txBox="1"/>
          <p:nvPr/>
        </p:nvSpPr>
        <p:spPr>
          <a:xfrm>
            <a:off x="8075980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Browse dashboards  →</a:t>
            </a:r>
          </a:p>
        </p:txBody>
      </p:sp>
      <p:sp>
        <p:nvSpPr>
          <p:cNvPr id="286" name="RB Card 4-2"/>
          <p:cNvSpPr/>
          <p:nvPr/>
        </p:nvSpPr>
        <p:spPr>
          <a:xfrm>
            <a:off x="7984540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7" name="RB Icon 4-2" descr="data-dictiona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5980" y="4069080"/>
            <a:ext cx="237744" cy="237744"/>
          </a:xfrm>
          <a:prstGeom prst="rect">
            <a:avLst/>
          </a:prstGeom>
          <a:effectLst/>
        </p:spPr>
      </p:pic>
      <p:sp>
        <p:nvSpPr>
          <p:cNvPr id="288" name="RB Title 4-2"/>
          <p:cNvSpPr txBox="1"/>
          <p:nvPr/>
        </p:nvSpPr>
        <p:spPr>
          <a:xfrm>
            <a:off x="8075980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Data Dictionary</a:t>
            </a:r>
          </a:p>
        </p:txBody>
      </p:sp>
      <p:sp>
        <p:nvSpPr>
          <p:cNvPr id="289" name="RB Desc 4-2"/>
          <p:cNvSpPr txBox="1"/>
          <p:nvPr/>
        </p:nvSpPr>
        <p:spPr>
          <a:xfrm>
            <a:off x="8075980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Every ELK index and its function</a:t>
            </a:r>
          </a:p>
        </p:txBody>
      </p:sp>
      <p:sp>
        <p:nvSpPr>
          <p:cNvPr id="290" name="RB Cta 4-2"/>
          <p:cNvSpPr txBox="1"/>
          <p:nvPr/>
        </p:nvSpPr>
        <p:spPr>
          <a:xfrm>
            <a:off x="8075980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Browse dictionary  →</a:t>
            </a:r>
          </a:p>
        </p:txBody>
      </p:sp>
      <p:sp>
        <p:nvSpPr>
          <p:cNvPr id="291" name="RB Date 5"/>
          <p:cNvSpPr txBox="1"/>
          <p:nvPr/>
        </p:nvSpPr>
        <p:spPr>
          <a:xfrm>
            <a:off x="9843515" y="1298448"/>
            <a:ext cx="175564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Segoe UI"/>
              </a:rPr>
              <a:t>Q4 2027</a:t>
            </a:r>
          </a:p>
        </p:txBody>
      </p:sp>
      <p:sp>
        <p:nvSpPr>
          <p:cNvPr id="292" name="RB Kicker 5"/>
          <p:cNvSpPr txBox="1"/>
          <p:nvPr/>
        </p:nvSpPr>
        <p:spPr>
          <a:xfrm>
            <a:off x="9843515" y="1508760"/>
            <a:ext cx="17556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1">
                <a:solidFill>
                  <a:srgbClr val="7A808A"/>
                </a:solidFill>
                <a:latin typeface="Segoe UI"/>
              </a:rPr>
              <a:t>ASSURANCE</a:t>
            </a:r>
          </a:p>
        </p:txBody>
      </p:sp>
      <p:sp>
        <p:nvSpPr>
          <p:cNvPr id="293" name="RB Accent 5"/>
          <p:cNvSpPr/>
          <p:nvPr/>
        </p:nvSpPr>
        <p:spPr>
          <a:xfrm>
            <a:off x="9843515" y="1700784"/>
            <a:ext cx="457200" cy="25603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B Card 5-0"/>
          <p:cNvSpPr/>
          <p:nvPr/>
        </p:nvSpPr>
        <p:spPr>
          <a:xfrm>
            <a:off x="9843515" y="1828800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5" name="RB Icon 5-0" descr="observability-sc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34955" y="1911096"/>
            <a:ext cx="237744" cy="237744"/>
          </a:xfrm>
          <a:prstGeom prst="rect">
            <a:avLst/>
          </a:prstGeom>
          <a:effectLst/>
        </p:spPr>
      </p:pic>
      <p:sp>
        <p:nvSpPr>
          <p:cNvPr id="296" name="RB Title 5-0"/>
          <p:cNvSpPr txBox="1"/>
          <p:nvPr/>
        </p:nvSpPr>
        <p:spPr>
          <a:xfrm>
            <a:off x="9934955" y="2176272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Observability Score</a:t>
            </a:r>
          </a:p>
        </p:txBody>
      </p:sp>
      <p:sp>
        <p:nvSpPr>
          <p:cNvPr id="297" name="RB Desc 5-0"/>
          <p:cNvSpPr txBox="1"/>
          <p:nvPr/>
        </p:nvSpPr>
        <p:spPr>
          <a:xfrm>
            <a:off x="9934955" y="2350007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Scorecard &amp; certification per asset</a:t>
            </a:r>
          </a:p>
        </p:txBody>
      </p:sp>
      <p:sp>
        <p:nvSpPr>
          <p:cNvPr id="298" name="RB Cta 5-0"/>
          <p:cNvSpPr txBox="1"/>
          <p:nvPr/>
        </p:nvSpPr>
        <p:spPr>
          <a:xfrm>
            <a:off x="9934955" y="2651760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View scorecard  →</a:t>
            </a:r>
          </a:p>
        </p:txBody>
      </p:sp>
      <p:sp>
        <p:nvSpPr>
          <p:cNvPr id="299" name="RB Card 5-1"/>
          <p:cNvSpPr/>
          <p:nvPr/>
        </p:nvSpPr>
        <p:spPr>
          <a:xfrm>
            <a:off x="9843515" y="2907792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0" name="RB Icon 5-1" descr="synthetic-aler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4955" y="2990088"/>
            <a:ext cx="237744" cy="237744"/>
          </a:xfrm>
          <a:prstGeom prst="rect">
            <a:avLst/>
          </a:prstGeom>
          <a:effectLst/>
        </p:spPr>
      </p:pic>
      <p:sp>
        <p:nvSpPr>
          <p:cNvPr id="301" name="RB Title 5-1"/>
          <p:cNvSpPr txBox="1"/>
          <p:nvPr/>
        </p:nvSpPr>
        <p:spPr>
          <a:xfrm>
            <a:off x="9934955" y="3255264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Synthetic Alerting</a:t>
            </a:r>
          </a:p>
        </p:txBody>
      </p:sp>
      <p:sp>
        <p:nvSpPr>
          <p:cNvPr id="302" name="RB Desc 5-1"/>
          <p:cNvSpPr txBox="1"/>
          <p:nvPr/>
        </p:nvSpPr>
        <p:spPr>
          <a:xfrm>
            <a:off x="9934955" y="3428999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End-to-end fire drills — [DRILL] ticket out</a:t>
            </a:r>
          </a:p>
        </p:txBody>
      </p:sp>
      <p:sp>
        <p:nvSpPr>
          <p:cNvPr id="303" name="RB Cta 5-1"/>
          <p:cNvSpPr txBox="1"/>
          <p:nvPr/>
        </p:nvSpPr>
        <p:spPr>
          <a:xfrm>
            <a:off x="9934955" y="3730752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Run a drill  →</a:t>
            </a:r>
          </a:p>
        </p:txBody>
      </p:sp>
      <p:sp>
        <p:nvSpPr>
          <p:cNvPr id="304" name="RB Card 5-2"/>
          <p:cNvSpPr/>
          <p:nvPr/>
        </p:nvSpPr>
        <p:spPr>
          <a:xfrm>
            <a:off x="9843515" y="3986784"/>
            <a:ext cx="1755648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5" name="RB Icon 5-2" descr="alert-suppress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4955" y="4069080"/>
            <a:ext cx="237744" cy="237744"/>
          </a:xfrm>
          <a:prstGeom prst="rect">
            <a:avLst/>
          </a:prstGeom>
          <a:effectLst/>
        </p:spPr>
      </p:pic>
      <p:sp>
        <p:nvSpPr>
          <p:cNvPr id="306" name="RB Title 5-2"/>
          <p:cNvSpPr txBox="1"/>
          <p:nvPr/>
        </p:nvSpPr>
        <p:spPr>
          <a:xfrm>
            <a:off x="9934955" y="4334256"/>
            <a:ext cx="1572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0182B"/>
                </a:solidFill>
                <a:latin typeface="Segoe UI"/>
              </a:rPr>
              <a:t>Alert Suppression</a:t>
            </a:r>
          </a:p>
        </p:txBody>
      </p:sp>
      <p:sp>
        <p:nvSpPr>
          <p:cNvPr id="307" name="RB Desc 5-2"/>
          <p:cNvSpPr txBox="1"/>
          <p:nvPr/>
        </p:nvSpPr>
        <p:spPr>
          <a:xfrm>
            <a:off x="9934955" y="4507991"/>
            <a:ext cx="15727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55637D"/>
                </a:solidFill>
                <a:latin typeface="Segoe UI"/>
              </a:rPr>
              <a:t>Governed change windows, auto-expiring</a:t>
            </a:r>
          </a:p>
        </p:txBody>
      </p:sp>
      <p:sp>
        <p:nvSpPr>
          <p:cNvPr id="308" name="RB Cta 5-2"/>
          <p:cNvSpPr txBox="1"/>
          <p:nvPr/>
        </p:nvSpPr>
        <p:spPr>
          <a:xfrm>
            <a:off x="9934955" y="4809744"/>
            <a:ext cx="157276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DA2837"/>
                </a:solidFill>
                <a:latin typeface="Segoe UI"/>
              </a:rPr>
              <a:t>Schedule window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822960" cy="411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C9D2DD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we need from this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23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Endorse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07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Portal as the single front door for observability, and self-service as the default way of working.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Hold teams to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50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New monitoring requests go through the Portal as slices come live — not around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2E74B5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Protect the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093208"/>
            <a:ext cx="9692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C9D2DD"/>
                </a:solidFill>
                <a:latin typeface="Segoe UI"/>
              </a:rPr>
              <a:t>The platform team finishes the current milestone (30 September 2026) and onboards the next tool — rather than being absorbed back into the queue the Portal is retiring.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C9D2DD"/>
                </a:solidFill>
                <a:latin typeface="Segoe UI"/>
              </a:rPr>
              <a:t>The cost of the old way is so familiar it has become invisible. The Portal makes it visible — and then removes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E4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Observability Portal — Executive Briefing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0528"/>
            <a:ext cx="667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C9D2D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