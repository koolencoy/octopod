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EXECUTIVE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B2A41"/>
                </a:solidFill>
                <a:latin typeface="Segoe UI"/>
              </a:rPr>
              <a:t>The Observability Portal — What it 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914400" cy="320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35024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E74B5"/>
                </a:solidFill>
                <a:latin typeface="Segoe UI"/>
              </a:rPr>
              <a:t>An Observability Transformation</a:t>
            </a:r>
            <a:r>
              <a:rPr sz="1100" b="0">
                <a:solidFill>
                  <a:srgbClr val="7A808A"/>
                </a:solidFill>
                <a:latin typeface="Segoe UI"/>
              </a:rPr>
              <a:t> — an evolution of how observability is run: full user self-service, practised as platform engineering.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91056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The Portal is a product</a:t>
            </a:r>
            <a:r>
              <a:rPr sz="1000" b="0">
                <a:solidFill>
                  <a:srgbClr val="7A808A"/>
                </a:solidFill>
                <a:latin typeface="Segoe UI"/>
              </a:rPr>
              <a:t> — part of every engineer’s toolset, built on open-source Backstage: engineers enable themselves across the platform tools behind it. Users see services, never tools.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47088"/>
            <a:ext cx="11064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74B5"/>
                </a:solidFill>
                <a:latin typeface="Segoe UI"/>
              </a:rPr>
              <a:t>And it is the channel</a:t>
            </a:r>
            <a:r>
              <a:rPr sz="1000" b="0">
                <a:solidFill>
                  <a:srgbClr val="7A808A"/>
                </a:solidFill>
                <a:latin typeface="Segoe UI"/>
              </a:rPr>
              <a:t> — the elimination of </a:t>
            </a:r>
            <a:r>
              <a:rPr sz="1000" b="1">
                <a:solidFill>
                  <a:srgbClr val="1B2A41"/>
                </a:solidFill>
                <a:latin typeface="Segoe UI"/>
              </a:rPr>
              <a:t>institutional blind spots.</a:t>
            </a:r>
            <a:r>
              <a:rPr sz="1000" b="0">
                <a:solidFill>
                  <a:srgbClr val="7A808A"/>
                </a:solidFill>
                <a:latin typeface="Segoe UI"/>
              </a:rPr>
              <a:t> Ownership, process, and status cease to be tribal knowledge held by individuals; they become published capabilities of one platform. </a:t>
            </a:r>
            <a:r>
              <a:rPr sz="1000" b="1">
                <a:solidFill>
                  <a:srgbClr val="1B2A41"/>
                </a:solidFill>
                <a:latin typeface="Segoe UI"/>
              </a:rPr>
              <a:t>Automation does the work; open governance keeps it visible</a:t>
            </a:r>
            <a:r>
              <a:rPr sz="1000" b="0">
                <a:solidFill>
                  <a:srgbClr val="7A808A"/>
                </a:solidFill>
                <a:latin typeface="Segoe UI"/>
              </a:rPr>
              <a:t> — a single front door for every enquiry and request: open book, self-service, always 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50592"/>
            <a:ext cx="3520440" cy="25603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3520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B2A41"/>
                </a:solidFill>
                <a:latin typeface="Segoe UI"/>
              </a:rPr>
              <a:t>Enable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16352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1">
                <a:solidFill>
                  <a:srgbClr val="7A808A"/>
                </a:solidFill>
                <a:latin typeface="Segoe UI"/>
              </a:rPr>
              <a:t>Remove every barrier to entry: any engineer switches observability on in minutes, correctly, without knowing the tools behind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46120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200400"/>
            <a:ext cx="3319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B2A41"/>
                </a:solidFill>
                <a:latin typeface="Segoe UI"/>
              </a:rPr>
              <a:t>Add Monitoring</a:t>
            </a:r>
            <a:r>
              <a:rPr sz="900" b="0">
                <a:solidFill>
                  <a:srgbClr val="40444B"/>
                </a:solidFill>
                <a:latin typeface="Segoe UI"/>
              </a:rPr>
              <a:t> — alerts, auto-routed to the right platform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538727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493008"/>
            <a:ext cx="3319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B2A41"/>
                </a:solidFill>
                <a:latin typeface="Segoe UI"/>
              </a:rPr>
              <a:t>ELK Log Onboarding</a:t>
            </a:r>
            <a:r>
              <a:rPr sz="900" b="0">
                <a:solidFill>
                  <a:srgbClr val="40444B"/>
                </a:solidFill>
                <a:latin typeface="Segoe UI"/>
              </a:rPr>
              <a:t> — agents, topic, parsers, indices — one request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831335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785615"/>
            <a:ext cx="3319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B2A41"/>
                </a:solidFill>
                <a:latin typeface="Segoe UI"/>
              </a:rPr>
              <a:t>Access &amp; Asset Registry</a:t>
            </a:r>
            <a:r>
              <a:rPr sz="900" b="0">
                <a:solidFill>
                  <a:srgbClr val="40444B"/>
                </a:solidFill>
                <a:latin typeface="Segoe UI"/>
              </a:rPr>
              <a:t> — permissions and registration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79976" y="2450592"/>
            <a:ext cx="3520440" cy="25603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9976" y="2560320"/>
            <a:ext cx="3520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B2A41"/>
                </a:solidFill>
                <a:latin typeface="Segoe UI"/>
              </a:rPr>
              <a:t>Assure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9976" y="2816352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1">
                <a:solidFill>
                  <a:srgbClr val="7A808A"/>
                </a:solidFill>
                <a:latin typeface="Segoe UI"/>
              </a:rPr>
              <a:t>Make coverage provable: continuously verify that what should be observed is observed — and works — before an incident asks.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79976" y="3246120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81144" y="3200400"/>
            <a:ext cx="3319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B2A41"/>
                </a:solidFill>
                <a:latin typeface="Segoe UI"/>
              </a:rPr>
              <a:t>Observability Score</a:t>
            </a:r>
            <a:r>
              <a:rPr sz="900" b="0">
                <a:solidFill>
                  <a:srgbClr val="40444B"/>
                </a:solidFill>
                <a:latin typeface="Segoe UI"/>
              </a:rPr>
              <a:t> — scorecard &amp; certification per asset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79976" y="3538727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81144" y="3493008"/>
            <a:ext cx="3319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B2A41"/>
                </a:solidFill>
                <a:latin typeface="Segoe UI"/>
              </a:rPr>
              <a:t>Synthetic Alerting</a:t>
            </a:r>
            <a:r>
              <a:rPr sz="900" b="0">
                <a:solidFill>
                  <a:srgbClr val="40444B"/>
                </a:solidFill>
                <a:latin typeface="Segoe UI"/>
              </a:rPr>
              <a:t> — fire-drill an alert end to end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79976" y="3831335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81144" y="3785615"/>
            <a:ext cx="3319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B2A41"/>
                </a:solidFill>
                <a:latin typeface="Segoe UI"/>
              </a:rPr>
              <a:t>Reconciliation Reports</a:t>
            </a:r>
            <a:r>
              <a:rPr sz="900" b="0">
                <a:solidFill>
                  <a:srgbClr val="40444B"/>
                </a:solidFill>
                <a:latin typeface="Segoe UI"/>
              </a:rPr>
              <a:t> — expected vs reality, daily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11312" y="2450592"/>
            <a:ext cx="3520440" cy="2560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2" y="2560320"/>
            <a:ext cx="3520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B2A41"/>
                </a:solidFill>
                <a:latin typeface="Segoe UI"/>
              </a:rPr>
              <a:t>Observability Brain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2816352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1">
                <a:solidFill>
                  <a:srgbClr val="7A808A"/>
                </a:solidFill>
                <a:latin typeface="Segoe UI"/>
              </a:rPr>
              <a:t>Make knowledge self-serve: every answer about the estate available instantly, grounded in the source of truth and cited.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11312" y="3246120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3200400"/>
            <a:ext cx="3319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B2A41"/>
                </a:solidFill>
                <a:latin typeface="Segoe UI"/>
              </a:rPr>
              <a:t>Search</a:t>
            </a:r>
            <a:r>
              <a:rPr sz="900" b="0">
                <a:solidFill>
                  <a:srgbClr val="40444B"/>
                </a:solidFill>
                <a:latin typeface="Segoe UI"/>
              </a:rPr>
              <a:t> — configs, runbooks, specs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11312" y="3538727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3493008"/>
            <a:ext cx="3319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B2A41"/>
                </a:solidFill>
                <a:latin typeface="Segoe UI"/>
              </a:rPr>
              <a:t>Ask</a:t>
            </a:r>
            <a:r>
              <a:rPr sz="900" b="0">
                <a:solidFill>
                  <a:srgbClr val="40444B"/>
                </a:solidFill>
                <a:latin typeface="Segoe UI"/>
              </a:rPr>
              <a:t> — answers cite their sources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11312" y="3831335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3785615"/>
            <a:ext cx="3319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B2A41"/>
                </a:solidFill>
                <a:latin typeface="Segoe UI"/>
              </a:rPr>
              <a:t>Act</a:t>
            </a:r>
            <a:r>
              <a:rPr sz="900" b="0">
                <a:solidFill>
                  <a:srgbClr val="40444B"/>
                </a:solidFill>
                <a:latin typeface="Segoe UI"/>
              </a:rPr>
              <a:t> — links into governed services, never around them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114800"/>
            <a:ext cx="11064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7A808A"/>
                </a:solidFill>
                <a:latin typeface="Segoe UI"/>
              </a:rPr>
              <a:t>EVERY CHANGE — HUMAN OR AI — TAKES ONE PATH</a:t>
            </a:r>
          </a:p>
        </p:txBody>
      </p:sp>
      <p:sp>
        <p:nvSpPr>
          <p:cNvPr id="36" name="Chevron 35"/>
          <p:cNvSpPr/>
          <p:nvPr/>
        </p:nvSpPr>
        <p:spPr>
          <a:xfrm>
            <a:off x="548640" y="4389120"/>
            <a:ext cx="2377440" cy="658368"/>
          </a:xfrm>
          <a:prstGeom prst="chevron">
            <a:avLst>
              <a:gd name="adj" fmla="val 5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2801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Assisted Request</a:t>
            </a:r>
          </a:p>
          <a:p>
            <a:pPr algn="ctr"/>
            <a:r>
              <a:rPr sz="800">
                <a:solidFill>
                  <a:srgbClr val="C9D2DD"/>
                </a:solidFill>
                <a:latin typeface="Segoe UI"/>
              </a:rPr>
              <a:t>self-service, done in minutes</a:t>
            </a:r>
          </a:p>
        </p:txBody>
      </p:sp>
      <p:sp>
        <p:nvSpPr>
          <p:cNvPr id="37" name="Chevron 36"/>
          <p:cNvSpPr/>
          <p:nvPr/>
        </p:nvSpPr>
        <p:spPr>
          <a:xfrm>
            <a:off x="2752344" y="4389120"/>
            <a:ext cx="2377440" cy="658368"/>
          </a:xfrm>
          <a:prstGeom prst="chevron">
            <a:avLst>
              <a:gd name="adj" fmla="val 5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2801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Maker–Checker</a:t>
            </a:r>
          </a:p>
          <a:p>
            <a:pPr algn="ctr"/>
            <a:r>
              <a:rPr sz="800">
                <a:solidFill>
                  <a:srgbClr val="C9D2DD"/>
                </a:solidFill>
                <a:latin typeface="Segoe UI"/>
              </a:rPr>
              <a:t>approval via pull request</a:t>
            </a:r>
          </a:p>
        </p:txBody>
      </p:sp>
      <p:sp>
        <p:nvSpPr>
          <p:cNvPr id="38" name="Chevron 37"/>
          <p:cNvSpPr/>
          <p:nvPr/>
        </p:nvSpPr>
        <p:spPr>
          <a:xfrm>
            <a:off x="4956048" y="4389120"/>
            <a:ext cx="2377440" cy="658368"/>
          </a:xfrm>
          <a:prstGeom prst="chevron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28016" tIns="18288" bIns="18288"/>
          <a:lstStyle/>
          <a:p>
            <a:pPr algn="ctr"/>
            <a:r>
              <a:rPr sz="1000" b="1">
                <a:solidFill>
                  <a:srgbClr val="1B2A41"/>
                </a:solidFill>
                <a:latin typeface="Segoe UI"/>
              </a:rPr>
              <a:t>Git — the record</a:t>
            </a:r>
          </a:p>
          <a:p>
            <a:pPr algn="ctr"/>
            <a:r>
              <a:rPr sz="800">
                <a:solidFill>
                  <a:srgbClr val="2E74B5"/>
                </a:solidFill>
                <a:latin typeface="Segoe UI"/>
              </a:rPr>
              <a:t>the single source of truth</a:t>
            </a:r>
          </a:p>
        </p:txBody>
      </p:sp>
      <p:sp>
        <p:nvSpPr>
          <p:cNvPr id="39" name="Chevron 38"/>
          <p:cNvSpPr/>
          <p:nvPr/>
        </p:nvSpPr>
        <p:spPr>
          <a:xfrm>
            <a:off x="7159752" y="4389120"/>
            <a:ext cx="2377440" cy="658368"/>
          </a:xfrm>
          <a:prstGeom prst="chevron">
            <a:avLst>
              <a:gd name="adj" fmla="val 50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2801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Automation applies</a:t>
            </a:r>
          </a:p>
          <a:p>
            <a:pPr algn="ctr"/>
            <a:r>
              <a:rPr sz="800">
                <a:solidFill>
                  <a:srgbClr val="C9D2DD"/>
                </a:solidFill>
                <a:latin typeface="Segoe UI"/>
              </a:rPr>
              <a:t>no manual changes</a:t>
            </a:r>
          </a:p>
        </p:txBody>
      </p:sp>
      <p:sp>
        <p:nvSpPr>
          <p:cNvPr id="40" name="Chevron 39"/>
          <p:cNvSpPr/>
          <p:nvPr/>
        </p:nvSpPr>
        <p:spPr>
          <a:xfrm>
            <a:off x="9363456" y="4389120"/>
            <a:ext cx="2377440" cy="658368"/>
          </a:xfrm>
          <a:prstGeom prst="chevron">
            <a:avLst>
              <a:gd name="adj" fmla="val 50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2801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Drift detection</a:t>
            </a:r>
          </a:p>
          <a:p>
            <a:pPr algn="ctr"/>
            <a:r>
              <a:rPr sz="800">
                <a:solidFill>
                  <a:srgbClr val="C9D2DD"/>
                </a:solidFill>
                <a:latin typeface="Segoe UI"/>
              </a:rPr>
              <a:t>continuous verification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157216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E74B5"/>
                </a:solidFill>
                <a:latin typeface="Segoe UI"/>
              </a:rPr>
              <a:t>AI guided, humans approve, git records</a:t>
            </a:r>
            <a:r>
              <a:rPr sz="1100" b="0">
                <a:solidFill>
                  <a:srgbClr val="40444B"/>
                </a:solidFill>
                <a:latin typeface="Segoe UI"/>
              </a:rPr>
              <a:t>  —  no one, and nothing, writes to a platform directly. </a:t>
            </a:r>
            <a:r>
              <a:rPr sz="1100" b="1">
                <a:solidFill>
                  <a:srgbClr val="1B2A41"/>
                </a:solidFill>
                <a:latin typeface="Segoe UI"/>
              </a:rPr>
              <a:t>Drift is impossible by construction — not fought by discipline.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596128"/>
            <a:ext cx="11091672" cy="10972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705856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Grounded in two systems of record:  </a:t>
            </a:r>
            <a:r>
              <a:rPr sz="1050" b="1">
                <a:solidFill>
                  <a:srgbClr val="1B2A41"/>
                </a:solidFill>
                <a:latin typeface="Segoe UI"/>
              </a:rPr>
              <a:t>CMDB</a:t>
            </a:r>
            <a:r>
              <a:rPr sz="1050" b="0">
                <a:solidFill>
                  <a:srgbClr val="40444B"/>
                </a:solidFill>
                <a:latin typeface="Segoe UI"/>
              </a:rPr>
              <a:t> (what exists)  ·  </a:t>
            </a:r>
            <a:r>
              <a:rPr sz="1050" b="1">
                <a:solidFill>
                  <a:srgbClr val="1B2A41"/>
                </a:solidFill>
                <a:latin typeface="Segoe UI"/>
              </a:rPr>
              <a:t>Git — the second brain</a:t>
            </a:r>
            <a:r>
              <a:rPr sz="1050" b="0">
                <a:solidFill>
                  <a:srgbClr val="40444B"/>
                </a:solidFill>
                <a:latin typeface="Segoe UI"/>
              </a:rPr>
              <a:t> (what is configured, and why)</a:t>
            </a:r>
          </a:p>
          <a:p>
            <a:pPr algn="l">
              <a:spcAft>
                <a:spcPts val="50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Runs the tools we already own — invisible to requesters:  </a:t>
            </a:r>
            <a:r>
              <a:rPr sz="1050" b="0">
                <a:solidFill>
                  <a:srgbClr val="40444B"/>
                </a:solidFill>
                <a:latin typeface="Segoe UI"/>
              </a:rPr>
              <a:t>ELK + Kafka  ·  DX UIM  ·  SolarWinds  ·  Grafana / Kibana  ·  Moogsoft → HPSM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Observability Portal — Executive Briefing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B2A41"/>
                </a:solidFill>
                <a:latin typeface="Segoe UI"/>
              </a:rPr>
              <a:t>Why do we need it?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914400" cy="320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B2A41"/>
                </a:solidFill>
                <a:latin typeface="Segoe UI"/>
              </a:rPr>
              <a:t>The tools kept modernising — the practice stood still</a:t>
            </a:r>
            <a:r>
              <a:rPr sz="1150" b="0">
                <a:solidFill>
                  <a:srgbClr val="7A808A"/>
                </a:solidFill>
                <a:latin typeface="Segoe UI"/>
              </a:rPr>
              <a:t> — a decade invested in platforms, with no innovation in how observability itself is done: siloed automation, no continuity, while the estate it watches exploded.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10512"/>
            <a:ext cx="3520440" cy="2560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38528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B2A41"/>
                </a:solidFill>
                <a:latin typeface="Segoe UI"/>
              </a:rPr>
              <a:t>A sprawl of tools, no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31136"/>
            <a:ext cx="3520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0444B"/>
                </a:solidFill>
                <a:latin typeface="Segoe UI"/>
              </a:rPr>
              <a:t>Complex platforms grown side by side, with no singular product to orchestrate them — enabling yourself depends on finding the right engineer.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9976" y="1810512"/>
            <a:ext cx="3520440" cy="2560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79976" y="1938528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B2A41"/>
                </a:solidFill>
                <a:latin typeface="Segoe UI"/>
              </a:rPr>
              <a:t>No knowable way to “do observability”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9976" y="2231136"/>
            <a:ext cx="3520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0444B"/>
                </a:solidFill>
                <a:latin typeface="Segoe UI"/>
              </a:rPr>
              <a:t>The documentation exists — Confluence pages grown stale, bloated, and burdensome. Nobody trusts them; everybody falls back to asking.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11312" y="1810512"/>
            <a:ext cx="3520440" cy="2560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938528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B2A41"/>
                </a:solidFill>
                <a:latin typeface="Segoe UI"/>
              </a:rPr>
              <a:t>Operations struck and stuck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231136"/>
            <a:ext cx="3520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0444B"/>
                </a:solidFill>
                <a:latin typeface="Segoe UI"/>
              </a:rPr>
              <a:t>Massive volume, the same stale problems arriving daily. With the explosion of microservices and AI, operational fatigue is the common illness.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35808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1">
                <a:solidFill>
                  <a:srgbClr val="3E4C63"/>
                </a:solidFill>
                <a:latin typeface="Segoe UI"/>
              </a:rPr>
              <a:t>Manual work has a scaling law: errors accumulate into operational drift — more volume, more drift, same small team.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419856"/>
            <a:ext cx="11091672" cy="10972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29584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7A808A"/>
                </a:solidFill>
                <a:latin typeface="Segoe UI"/>
              </a:rPr>
              <a:t>THE OPERATING-MODEL SHIFT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03904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7A808A"/>
                </a:solidFill>
                <a:latin typeface="Segoe UI"/>
              </a:rPr>
              <a:t>Requests wait on individual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3803904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Segoe U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803904"/>
            <a:ext cx="6492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Governed self-service — fulfilled within minutes of approval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8795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7A808A"/>
                </a:solidFill>
                <a:latin typeface="Segoe UI"/>
              </a:rPr>
              <a:t>Documentation maintained by hand, trusted by no 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4187952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Segoe U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4187952"/>
            <a:ext cx="6492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One source of truth, generated from the config that runs the 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57200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7A808A"/>
                </a:solidFill>
                <a:latin typeface="Segoe UI"/>
              </a:rPr>
              <a:t>Approvals informal; audit reconstructed from memory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57200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Segoe U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4572000"/>
            <a:ext cx="6492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Approval, record, and activation built into every change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047488"/>
            <a:ext cx="11091672" cy="10972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157216"/>
            <a:ext cx="5669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7A808A"/>
                </a:solidFill>
                <a:latin typeface="Segoe UI"/>
              </a:rPr>
              <a:t>VALUE ARISES NATURALLY — A NATURAL EFFECT OF THE DESIGN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431536"/>
            <a:ext cx="5669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An evolution, not a fix</a:t>
            </a:r>
            <a:r>
              <a:rPr sz="1000" b="0">
                <a:solidFill>
                  <a:srgbClr val="40444B"/>
                </a:solidFill>
                <a:latin typeface="Segoe UI"/>
              </a:rPr>
              <a:t> — engineers freed from toil back to engineering; a self-service culture; knowledge that compounds instead of decays.</a:t>
            </a:r>
          </a:p>
          <a:p>
            <a:pPr algn="l">
              <a:spcAft>
                <a:spcPts val="300"/>
              </a:spcAft>
            </a:pPr>
            <a:r>
              <a:rPr sz="1050" b="1">
                <a:solidFill>
                  <a:srgbClr val="2E74B5"/>
                </a:solidFill>
                <a:latin typeface="Segoe UI"/>
              </a:rPr>
              <a:t>The next frontier</a:t>
            </a:r>
            <a:r>
              <a:rPr sz="1000" b="0">
                <a:solidFill>
                  <a:srgbClr val="40444B"/>
                </a:solidFill>
                <a:latin typeface="Segoe UI"/>
              </a:rPr>
              <a:t> — once decided, the second brain unlocks AI-guided operations: proactive, predictive observability, and a platform-engineering pattern the wider bank can reuse.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157216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7A808A"/>
                </a:solidFill>
                <a:latin typeface="Segoe UI"/>
              </a:rPr>
              <a:t>WHY NOW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431536"/>
            <a:ext cx="5120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Already working</a:t>
            </a:r>
            <a:r>
              <a:rPr sz="1000" b="0">
                <a:solidFill>
                  <a:srgbClr val="40444B"/>
                </a:solidFill>
                <a:latin typeface="Segoe UI"/>
              </a:rPr>
              <a:t> — first slice runs end to end today.  </a:t>
            </a:r>
            <a:r>
              <a:rPr sz="1050" b="1">
                <a:solidFill>
                  <a:srgbClr val="1B2A41"/>
                </a:solidFill>
                <a:latin typeface="Segoe UI"/>
              </a:rPr>
              <a:t>Nothing new to buy</a:t>
            </a:r>
            <a:r>
              <a:rPr sz="1000" b="0">
                <a:solidFill>
                  <a:srgbClr val="40444B"/>
                </a:solidFill>
                <a:latin typeface="Segoe UI"/>
              </a:rPr>
              <a:t> — Backstage + tools we own.  </a:t>
            </a:r>
            <a:r>
              <a:rPr sz="1050" b="1">
                <a:solidFill>
                  <a:srgbClr val="1B2A41"/>
                </a:solidFill>
                <a:latin typeface="Segoe UI"/>
              </a:rPr>
              <a:t>AI-ready</a:t>
            </a:r>
            <a:r>
              <a:rPr sz="1000" b="0">
                <a:solidFill>
                  <a:srgbClr val="40444B"/>
                </a:solidFill>
                <a:latin typeface="Segoe UI"/>
              </a:rPr>
              <a:t> — a plain-text estate makes AI safe by construction.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Observability Portal — Executive Briefing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HOW — THE PIPELINE IN FULL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8521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B2A41"/>
                </a:solidFill>
                <a:latin typeface="Segoe UI"/>
              </a:rP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914400" cy="320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331720"/>
            <a:ext cx="868680" cy="82296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2487168"/>
            <a:ext cx="722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Users</a:t>
            </a:r>
          </a:p>
          <a:p>
            <a:pPr algn="l">
              <a:spcAft>
                <a:spcPts val="0"/>
              </a:spcAft>
            </a:pPr>
            <a:r>
              <a:rPr sz="750" b="0">
                <a:solidFill>
                  <a:srgbClr val="C9D2DD"/>
                </a:solidFill>
                <a:latin typeface="Segoe UI"/>
              </a:rPr>
              <a:t>any team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444752" y="2651760"/>
            <a:ext cx="219456" cy="182880"/>
          </a:xfrm>
          <a:prstGeom prst="righ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00784" y="1371600"/>
            <a:ext cx="2651760" cy="27432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810512" y="1444752"/>
            <a:ext cx="237744" cy="237744"/>
          </a:xfrm>
          <a:prstGeom prst="roundRect">
            <a:avLst>
              <a:gd name="adj" fmla="val 25000"/>
            </a:avLst>
          </a:prstGeom>
          <a:solidFill>
            <a:srgbClr val="36B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1408" y="1463040"/>
            <a:ext cx="21396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7A808A"/>
                </a:solidFill>
                <a:latin typeface="Segoe UI"/>
              </a:rPr>
              <a:t>BACKSTAGE · YELLOW PAGES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10512" y="1719072"/>
            <a:ext cx="243230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1755648"/>
            <a:ext cx="2212848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Segoe UI"/>
              </a:rPr>
              <a:t>1 · </a:t>
            </a:r>
            <a:r>
              <a:rPr sz="950" b="1">
                <a:solidFill>
                  <a:srgbClr val="1B2A41"/>
                </a:solidFill>
                <a:latin typeface="Segoe UI"/>
              </a:rPr>
              <a:t>Guided request form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40444B"/>
                </a:solidFill>
                <a:latin typeface="Segoe UI"/>
              </a:rPr>
              <a:t>A step-by-step wizard captures the need and produces one standard, tool-neutral request document.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10512" y="2523744"/>
            <a:ext cx="243230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2560320"/>
            <a:ext cx="2212848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Segoe UI"/>
              </a:rPr>
              <a:t>2 · </a:t>
            </a:r>
            <a:r>
              <a:rPr sz="950" b="1">
                <a:solidFill>
                  <a:srgbClr val="1B2A41"/>
                </a:solidFill>
                <a:latin typeface="Segoe UI"/>
              </a:rPr>
              <a:t>Auto-filed to git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40444B"/>
                </a:solidFill>
                <a:latin typeface="Segoe UI"/>
              </a:rPr>
              <a:t>The portal files the request in git automatically — its own branch, ready for review. No human touches git.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10512" y="3328416"/>
            <a:ext cx="2432304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20240" y="3364992"/>
            <a:ext cx="221284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Segoe UI"/>
              </a:rPr>
              <a:t>3 · </a:t>
            </a:r>
            <a:r>
              <a:rPr sz="950" b="1">
                <a:solidFill>
                  <a:srgbClr val="1B2A41"/>
                </a:solidFill>
                <a:latin typeface="Segoe UI"/>
              </a:rPr>
              <a:t>Approval workflow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40444B"/>
                </a:solidFill>
                <a:latin typeface="Segoe UI"/>
              </a:rPr>
              <a:t>Maker–checker: approver reviews a human-readable diff, never raw tool keys.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389120" y="2651760"/>
            <a:ext cx="219456" cy="182880"/>
          </a:xfrm>
          <a:prstGeom prst="righ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1371600"/>
            <a:ext cx="2377440" cy="27432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54880" y="1444752"/>
            <a:ext cx="237744" cy="237744"/>
          </a:xfrm>
          <a:prstGeom prst="roundRect">
            <a:avLst>
              <a:gd name="adj" fmla="val 25000"/>
            </a:avLst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Bb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65776" y="1463040"/>
            <a:ext cx="18653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7A808A"/>
                </a:solidFill>
                <a:latin typeface="Segoe UI"/>
              </a:rPr>
              <a:t>BITBUCKET · THE RECORD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1719072"/>
            <a:ext cx="2157984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4608" y="1755648"/>
            <a:ext cx="193852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Segoe UI"/>
              </a:rPr>
              <a:t>4 · </a:t>
            </a:r>
            <a:r>
              <a:rPr sz="950" b="1">
                <a:solidFill>
                  <a:srgbClr val="1B2A41"/>
                </a:solidFill>
                <a:latin typeface="Segoe UI"/>
              </a:rPr>
              <a:t>Approve &amp; merge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40444B"/>
                </a:solidFill>
                <a:latin typeface="Segoe UI"/>
              </a:rPr>
              <a:t>The approver merges the change — the merge IS the approval, and git keeps the permanent record: who, what, when.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0" y="2578608"/>
            <a:ext cx="2157984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4608" y="2615184"/>
            <a:ext cx="19385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Segoe UI"/>
              </a:rPr>
              <a:t>5 · </a:t>
            </a:r>
            <a:r>
              <a:rPr sz="950" b="1">
                <a:solidFill>
                  <a:srgbClr val="1B2A41"/>
                </a:solidFill>
                <a:latin typeface="Segoe UI"/>
              </a:rPr>
              <a:t>Approval triggers automation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40444B"/>
                </a:solidFill>
                <a:latin typeface="Segoe UI"/>
              </a:rPr>
              <a:t>The moment a change lands, git signals the automation — no scheduler, no queue, no hand-off.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3383280"/>
            <a:ext cx="2157984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64608" y="3419856"/>
            <a:ext cx="193852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B2A41"/>
                </a:solidFill>
                <a:latin typeface="Segoe UI"/>
              </a:rPr>
              <a:t>One repo per tool</a:t>
            </a:r>
          </a:p>
          <a:p>
            <a:pPr algn="l">
              <a:spcAft>
                <a:spcPts val="200"/>
              </a:spcAft>
            </a:pPr>
            <a:r>
              <a:rPr sz="750" b="0">
                <a:solidFill>
                  <a:srgbClr val="40444B"/>
                </a:solidFill>
                <a:latin typeface="Segoe UI"/>
              </a:rPr>
              <a:t>Every tool’s configuration in its own repository, under one shared convention.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059168" y="2651760"/>
            <a:ext cx="219456" cy="182880"/>
          </a:xfrm>
          <a:prstGeom prst="righ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0" y="1371600"/>
            <a:ext cx="2468880" cy="27432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424927" y="1444752"/>
            <a:ext cx="237744" cy="237744"/>
          </a:xfrm>
          <a:prstGeom prst="roundRect">
            <a:avLst>
              <a:gd name="adj" fmla="val 25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35823" y="1463040"/>
            <a:ext cx="195681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7A808A"/>
                </a:solidFill>
                <a:latin typeface="Segoe UI"/>
              </a:rPr>
              <a:t>ANSIBLE · AUTOMATION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24927" y="1719072"/>
            <a:ext cx="224942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34655" y="1755648"/>
            <a:ext cx="202996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Segoe UI"/>
              </a:rPr>
              <a:t>6 · </a:t>
            </a:r>
            <a:r>
              <a:rPr sz="950" b="1">
                <a:solidFill>
                  <a:srgbClr val="1B2A41"/>
                </a:solidFill>
                <a:latin typeface="Segoe UI"/>
              </a:rPr>
              <a:t>Reads the approved change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40444B"/>
                </a:solidFill>
                <a:latin typeface="Segoe UI"/>
              </a:rPr>
              <a:t>Automation reads exactly what was approved — one change, one file, or a full re-sync to repair drift.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24927" y="2651760"/>
            <a:ext cx="2249424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34655" y="2688336"/>
            <a:ext cx="2029967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Segoe UI"/>
              </a:rPr>
              <a:t>7 · </a:t>
            </a:r>
            <a:r>
              <a:rPr sz="950" b="1">
                <a:solidFill>
                  <a:srgbClr val="1B2A41"/>
                </a:solidFill>
                <a:latin typeface="Segoe UI"/>
              </a:rPr>
              <a:t>Translate &amp; activate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40444B"/>
                </a:solidFill>
                <a:latin typeface="Segoe UI"/>
              </a:rPr>
              <a:t>The standard request is translated into each tool’s own language and applied — safe to re-run, retried on failure, credentials vaulted.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24927" y="3511296"/>
            <a:ext cx="2249424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34655" y="3547872"/>
            <a:ext cx="2029967" cy="4571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B2A41"/>
                </a:solidFill>
                <a:latin typeface="Segoe UI"/>
              </a:rPr>
              <a:t>Read-only by construction</a:t>
            </a:r>
          </a:p>
          <a:p>
            <a:pPr algn="l">
              <a:spcAft>
                <a:spcPts val="200"/>
              </a:spcAft>
            </a:pPr>
            <a:r>
              <a:rPr sz="750" b="0">
                <a:solidFill>
                  <a:srgbClr val="40444B"/>
                </a:solidFill>
                <a:latin typeface="Segoe UI"/>
              </a:rPr>
              <a:t>Automation can read the record — it can never rewrite it.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9820656" y="2651760"/>
            <a:ext cx="219456" cy="182880"/>
          </a:xfrm>
          <a:prstGeom prst="righ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76688" y="1371600"/>
            <a:ext cx="1563624" cy="27432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86415" y="1463040"/>
            <a:ext cx="13624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7A808A"/>
                </a:solidFill>
                <a:latin typeface="Segoe UI"/>
              </a:rPr>
              <a:t>TARGETS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168128" y="1682496"/>
            <a:ext cx="1380744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232136" y="1856232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CC0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DX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88168" y="1700784"/>
            <a:ext cx="102412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1B2A41"/>
                </a:solidFill>
                <a:latin typeface="Segoe UI"/>
              </a:rPr>
              <a:t>DX UIM</a:t>
            </a:r>
          </a:p>
          <a:p>
            <a:pPr algn="l">
              <a:spcAft>
                <a:spcPts val="100"/>
              </a:spcAft>
            </a:pPr>
            <a:r>
              <a:rPr sz="700" b="0">
                <a:solidFill>
                  <a:srgbClr val="40444B"/>
                </a:solidFill>
                <a:latin typeface="Segoe UI"/>
              </a:rPr>
              <a:t>infrastructure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168128" y="2304288"/>
            <a:ext cx="1380744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232136" y="2478024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00B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88168" y="2322576"/>
            <a:ext cx="102412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1B2A41"/>
                </a:solidFill>
                <a:latin typeface="Segoe UI"/>
              </a:rPr>
              <a:t>ELK</a:t>
            </a:r>
          </a:p>
          <a:p>
            <a:pPr algn="l">
              <a:spcAft>
                <a:spcPts val="100"/>
              </a:spcAft>
            </a:pPr>
            <a:r>
              <a:rPr sz="700" b="0">
                <a:solidFill>
                  <a:srgbClr val="40444B"/>
                </a:solidFill>
                <a:latin typeface="Segoe UI"/>
              </a:rPr>
              <a:t>logs &amp; search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168128" y="2926080"/>
            <a:ext cx="1380744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232136" y="3099816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F99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SW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88168" y="2944368"/>
            <a:ext cx="102412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1B2A41"/>
                </a:solidFill>
                <a:latin typeface="Segoe UI"/>
              </a:rPr>
              <a:t>SolarWinds</a:t>
            </a:r>
          </a:p>
          <a:p>
            <a:pPr algn="l">
              <a:spcAft>
                <a:spcPts val="100"/>
              </a:spcAft>
            </a:pPr>
            <a:r>
              <a:rPr sz="700" b="0">
                <a:solidFill>
                  <a:srgbClr val="40444B"/>
                </a:solidFill>
                <a:latin typeface="Segoe UI"/>
              </a:rPr>
              <a:t>network · planned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168128" y="3547872"/>
            <a:ext cx="1380744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0232136" y="3721608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88168" y="3566160"/>
            <a:ext cx="102412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1B2A41"/>
                </a:solidFill>
                <a:latin typeface="Segoe UI"/>
              </a:rPr>
              <a:t>Moogsoft</a:t>
            </a:r>
          </a:p>
          <a:p>
            <a:pPr algn="l">
              <a:spcAft>
                <a:spcPts val="100"/>
              </a:spcAft>
            </a:pPr>
            <a:r>
              <a:rPr sz="700" b="0">
                <a:solidFill>
                  <a:srgbClr val="40444B"/>
                </a:solidFill>
                <a:latin typeface="Segoe UI"/>
              </a:rPr>
              <a:t>events → tickets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700784" y="4187952"/>
            <a:ext cx="9939528" cy="34747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Left Arrow 52"/>
          <p:cNvSpPr/>
          <p:nvPr/>
        </p:nvSpPr>
        <p:spPr>
          <a:xfrm>
            <a:off x="1792224" y="4270248"/>
            <a:ext cx="237744" cy="182880"/>
          </a:xfrm>
          <a:prstGeom prst="lef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121408" y="4187952"/>
            <a:ext cx="93268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1B2A41"/>
                </a:solidFill>
                <a:latin typeface="Segoe UI"/>
              </a:rPr>
              <a:t>8 · Requester notified — every time</a:t>
            </a:r>
            <a:r>
              <a:rPr sz="850" b="0">
                <a:solidFill>
                  <a:srgbClr val="40444B"/>
                </a:solidFill>
                <a:latin typeface="Segoe UI"/>
              </a:rPr>
              <a:t>  —  success reported live; failure reported loudly and flagged critical, so the record and reality can never disagree silently.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700784" y="4608576"/>
            <a:ext cx="9939528" cy="457200"/>
          </a:xfrm>
          <a:prstGeom prst="rect">
            <a:avLst/>
          </a:prstGeom>
          <a:solidFill>
            <a:srgbClr val="FDF6EA"/>
          </a:solidFill>
          <a:ln w="9525">
            <a:solidFill>
              <a:srgbClr val="F0D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Left Arrow 55"/>
          <p:cNvSpPr/>
          <p:nvPr/>
        </p:nvSpPr>
        <p:spPr>
          <a:xfrm>
            <a:off x="1792224" y="4745736"/>
            <a:ext cx="237744" cy="182880"/>
          </a:xfrm>
          <a:prstGeom prst="leftArrow">
            <a:avLst/>
          </a:prstGeom>
          <a:solidFill>
            <a:srgbClr val="F59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21408" y="4608576"/>
            <a:ext cx="9326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B2A41"/>
                </a:solidFill>
                <a:latin typeface="Segoe UI"/>
              </a:rPr>
              <a:t>9 · Drift detector — continuous read-back from the targets. </a:t>
            </a:r>
            <a:r>
              <a:rPr sz="800" b="0">
                <a:solidFill>
                  <a:srgbClr val="40444B"/>
                </a:solidFill>
                <a:latin typeface="Segoe UI"/>
              </a:rPr>
              <a:t>A scheduled check reads the live configuration back from every tool and compares it with the record. Anything changed directly on a tool surfaces as drift: the owner is notified, the Reports service shows the difference, and the fix stays governed — a safe re-sync or an approved change. Never a silent overwrite.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5120640"/>
            <a:ext cx="11091672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48640" y="5120640"/>
            <a:ext cx="45720" cy="5120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713232" y="5257800"/>
            <a:ext cx="237744" cy="237744"/>
          </a:xfrm>
          <a:prstGeom prst="roundRect">
            <a:avLst>
              <a:gd name="adj" fmla="val 25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TD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2415" y="5120640"/>
            <a:ext cx="104698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B2A41"/>
                </a:solidFill>
                <a:latin typeface="Segoe UI"/>
              </a:rPr>
              <a:t>10 · TechDocs — the living document. </a:t>
            </a:r>
            <a:r>
              <a:rPr sz="800" b="0">
                <a:solidFill>
                  <a:srgbClr val="40444B"/>
                </a:solidFill>
                <a:latin typeface="Segoe UI"/>
              </a:rPr>
              <a:t>Documentation lives beside the configuration and is rendered straight from it — every asset registered with its owner, dashboards, and docs attached. It cannot drift from reality.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5687568"/>
            <a:ext cx="110642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7A808A"/>
                </a:solidFill>
                <a:latin typeface="Segoe UI"/>
              </a:rPr>
              <a:t>INVARIANTS:  </a:t>
            </a:r>
            <a:r>
              <a:rPr sz="750" b="0">
                <a:solidFill>
                  <a:srgbClr val="7A808A"/>
                </a:solidFill>
                <a:latin typeface="Segoe UI"/>
              </a:rPr>
              <a:t>data flows one way — the portal writes the record, automation reads it  ·  every action is safe to repeat  ·  nothing is ever deleted implicitly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8640" y="5888736"/>
            <a:ext cx="11091672" cy="530352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713232" y="6021324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OB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15568" y="5888736"/>
            <a:ext cx="103784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11 · Observability Brain — the oracle at the front door. </a:t>
            </a:r>
            <a:r>
              <a:rPr sz="750" b="0">
                <a:solidFill>
                  <a:srgbClr val="C9D2DD"/>
                </a:solidFill>
                <a:latin typeface="Segoe UI"/>
              </a:rPr>
              <a:t>Backstage — the yellow pages of everything monitored — carries the Brain as its chatbot interface, wired to Bitbucket: the overall config source of truth, holding a decade of refined gold from every target tool — TechDocs, configurations, behavioural schedules. The Brain reads it to answer, guide, and propose for every user seeking assistance — grounded, cited, always under the approval gate.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Observability Portal — Executive Briefing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THE 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B2A41"/>
                </a:solidFill>
                <a:latin typeface="Segoe UI"/>
              </a:rPr>
              <a:t>From person-dependent process to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914400" cy="320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5440680" cy="45262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5564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E4C63"/>
                </a:solidFill>
                <a:latin typeface="Segoe UI"/>
              </a:rPr>
              <a:t>AS-IS —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87782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2130551"/>
            <a:ext cx="80467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750" b="1">
                <a:solidFill>
                  <a:srgbClr val="3E4C63"/>
                </a:solidFill>
                <a:latin typeface="Segoe UI"/>
              </a:rPr>
              <a:t>Ping / call engineer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9636" y="221284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19655" y="2103120"/>
            <a:ext cx="87782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56231" y="2130551"/>
            <a:ext cx="80467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750" b="1">
                <a:solidFill>
                  <a:srgbClr val="3E4C63"/>
                </a:solidFill>
                <a:latin typeface="Segoe UI"/>
              </a:rPr>
              <a:t>Confluence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2051" y="221284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62072" y="2103120"/>
            <a:ext cx="87782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98648" y="2130551"/>
            <a:ext cx="80467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750" b="1">
                <a:solidFill>
                  <a:srgbClr val="3E4C63"/>
                </a:solidFill>
                <a:latin typeface="Segoe UI"/>
              </a:rPr>
              <a:t>Jira ticket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4468" y="221284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04487" y="2103120"/>
            <a:ext cx="87782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41063" y="2130551"/>
            <a:ext cx="80467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750" b="1">
                <a:solidFill>
                  <a:srgbClr val="3E4C63"/>
                </a:solidFill>
                <a:latin typeface="Segoe UI"/>
              </a:rPr>
              <a:t>Manual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86883" y="221284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46903" y="2103120"/>
            <a:ext cx="87782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79" y="2130551"/>
            <a:ext cx="80467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750" b="1">
                <a:solidFill>
                  <a:srgbClr val="3E4C63"/>
                </a:solidFill>
                <a:latin typeface="Segoe UI"/>
              </a:rPr>
              <a:t>Slow approval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7889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B0544A"/>
                </a:solidFill>
                <a:latin typeface="Segoe UI"/>
              </a:rPr>
              <a:t>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2788920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Observability is the supporting cast — and the punching bag when incidents hit: essential to everyone, invested in by no 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447287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B0544A"/>
                </a:solidFill>
                <a:latin typeface="Segoe UI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3447287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The tools modernised into a bigger stack of boxes — complexity grew with the organisation, but no continuity of automation grew with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105655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B0544A"/>
                </a:solidFill>
                <a:latin typeface="Segoe UI"/>
              </a:rPr>
              <a:t>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4105655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The human IS the workflow: every request, change, and answer routes through an engineer by hand (Confluence page → Jira ticket → manual work)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764023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B0544A"/>
                </a:solidFill>
                <a:latin typeface="Segoe UI"/>
              </a:rPr>
              <a:t>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4764023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The dependency is now dangerous: even SME engineers make mistakes — fatigue turns expertise into risk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22391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B0544A"/>
                </a:solidFill>
                <a:latin typeface="Segoe UI"/>
              </a:rPr>
              <a:t>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" y="5422391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No human can keep up with the scaling rule — volume grows with the estate; the team does not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82512" y="1600200"/>
            <a:ext cx="525780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82512" y="1600200"/>
            <a:ext cx="5257800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11112" y="175564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E74B5"/>
                </a:solidFill>
                <a:latin typeface="Segoe UI"/>
              </a:rPr>
              <a:t>TO-BE — with the portal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11112" y="2103120"/>
            <a:ext cx="1060704" cy="4572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47688" y="2130551"/>
            <a:ext cx="987551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750" b="1">
                <a:solidFill>
                  <a:srgbClr val="FFFFFF"/>
                </a:solidFill>
                <a:latin typeface="Segoe UI"/>
              </a:rPr>
              <a:t>Portal request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221284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63840" y="2103120"/>
            <a:ext cx="1060704" cy="4572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00416" y="2130551"/>
            <a:ext cx="987551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750" b="1">
                <a:solidFill>
                  <a:srgbClr val="FFFFFF"/>
                </a:solidFill>
                <a:latin typeface="Segoe UI"/>
              </a:rPr>
              <a:t>One approval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33688" y="221284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16568" y="2103120"/>
            <a:ext cx="1060704" cy="4572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53144" y="2130551"/>
            <a:ext cx="987551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750" b="1">
                <a:solidFill>
                  <a:srgbClr val="FFFFFF"/>
                </a:solidFill>
                <a:latin typeface="Segoe UI"/>
              </a:rPr>
              <a:t>Automated activation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86416" y="221284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369296" y="2103120"/>
            <a:ext cx="1060704" cy="4572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05872" y="2130551"/>
            <a:ext cx="987551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750" b="1">
                <a:solidFill>
                  <a:srgbClr val="FFFFFF"/>
                </a:solidFill>
                <a:latin typeface="Segoe UI"/>
              </a:rPr>
              <a:t>Requester notified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11112" y="27889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74B5"/>
                </a:solidFill>
                <a:latin typeface="Segoe UI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2788920"/>
            <a:ext cx="4617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Every touchpoint consolidated into one portal — self-service by default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11112" y="33375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74B5"/>
                </a:solidFill>
                <a:latin typeface="Segoe UI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3337560"/>
            <a:ext cx="4617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Target services are transparent to the user — the portal routes each request automatically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11112" y="38862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74B5"/>
                </a:solidFill>
                <a:latin typeface="Segoe UI"/>
              </a:rP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3886200"/>
            <a:ext cx="4617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Fewer human touchpoints: one approval, then proper automation end to end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11112" y="443484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74B5"/>
                </a:solidFill>
                <a:latin typeface="Segoe UI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0" y="4434840"/>
            <a:ext cx="4617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Every step auditable and scalable by construction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11112" y="4983479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74B5"/>
                </a:solidFill>
                <a:latin typeface="Segoe UI"/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0" y="4983479"/>
            <a:ext cx="4617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One single source of truth for all configuration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11112" y="5532119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74B5"/>
                </a:solidFill>
                <a:latin typeface="Segoe UI"/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0" y="5532119"/>
            <a:ext cx="4617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Next-level automation enables the Observability Brain — the estate answers questions and proposes changes, under the same approval gate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23620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B2A41"/>
                </a:solidFill>
                <a:latin typeface="Segoe UI"/>
              </a:rPr>
              <a:t>Same work, structurally different: </a:t>
            </a:r>
            <a:r>
              <a:rPr sz="1150" b="0">
                <a:solidFill>
                  <a:srgbClr val="40444B"/>
                </a:solidFill>
                <a:latin typeface="Segoe UI"/>
              </a:rPr>
              <a:t>the process moves from people’s heads and inboxes into a governed platform — recorded by default, faster by design.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Observability Portal — Executive Briefing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B2A41"/>
                </a:solidFill>
                <a:latin typeface="Segoe UI"/>
              </a:rPr>
              <a:t>The self-service catalogue, phased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52144"/>
            <a:ext cx="914400" cy="320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700784"/>
            <a:ext cx="10607040" cy="20116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Arrow 5"/>
          <p:cNvSpPr/>
          <p:nvPr/>
        </p:nvSpPr>
        <p:spPr>
          <a:xfrm>
            <a:off x="11192256" y="1636776"/>
            <a:ext cx="256032" cy="164592"/>
          </a:xfrm>
          <a:prstGeom prst="righ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B2A41"/>
                </a:solidFill>
                <a:latin typeface="Segoe UI"/>
              </a:rPr>
              <a:t>Twenty services, one design language — foundation and the log stack are demoable today; the roadmap is activation order. Why this order: harden the live slice → land the log stack together → expansion rides the proven pattern (new wizard, new translator, same governance) → visibility needs reconciliation across the grown estate → assurance needs assets worth scoring → the Brain reads everything recorded before it.</a:t>
            </a:r>
            <a:r>
              <a:rPr sz="850" b="0">
                <a:solidFill>
                  <a:srgbClr val="40444B"/>
                </a:solidFill>
                <a:latin typeface="Segoe UI"/>
              </a:rPr>
              <a:t/>
            </a:r>
          </a:p>
        </p:txBody>
      </p:sp>
      <p:sp>
        <p:nvSpPr>
          <p:cNvPr id="83" name="Rectangle 82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Observability Portal — Executive Briefing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5</a:t>
            </a:r>
          </a:p>
        </p:txBody>
      </p:sp>
      <p:sp>
        <p:nvSpPr>
          <p:cNvPr id="186" name="RB Date 0"/>
          <p:cNvSpPr txBox="1"/>
          <p:nvPr/>
        </p:nvSpPr>
        <p:spPr>
          <a:xfrm>
            <a:off x="548640" y="1298448"/>
            <a:ext cx="149961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Segoe UI"/>
              </a:rPr>
              <a:t>Q3 2026</a:t>
            </a:r>
          </a:p>
        </p:txBody>
      </p:sp>
      <p:sp>
        <p:nvSpPr>
          <p:cNvPr id="187" name="RB Kicker 0"/>
          <p:cNvSpPr txBox="1"/>
          <p:nvPr/>
        </p:nvSpPr>
        <p:spPr>
          <a:xfrm>
            <a:off x="548640" y="1508760"/>
            <a:ext cx="14996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1">
                <a:solidFill>
                  <a:srgbClr val="7A808A"/>
                </a:solidFill>
                <a:latin typeface="Segoe UI"/>
              </a:rPr>
              <a:t>FOUNDATION</a:t>
            </a:r>
          </a:p>
        </p:txBody>
      </p:sp>
      <p:sp>
        <p:nvSpPr>
          <p:cNvPr id="188" name="RB Accent 0"/>
          <p:cNvSpPr/>
          <p:nvPr/>
        </p:nvSpPr>
        <p:spPr>
          <a:xfrm>
            <a:off x="548640" y="1700784"/>
            <a:ext cx="457200" cy="2560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B Card 0-0"/>
          <p:cNvSpPr/>
          <p:nvPr/>
        </p:nvSpPr>
        <p:spPr>
          <a:xfrm>
            <a:off x="548640" y="1828800"/>
            <a:ext cx="1499616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0" name="RB Icon 0-0" descr="add-monit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11096"/>
            <a:ext cx="237744" cy="237744"/>
          </a:xfrm>
          <a:prstGeom prst="rect">
            <a:avLst/>
          </a:prstGeom>
          <a:effectLst/>
        </p:spPr>
      </p:pic>
      <p:sp>
        <p:nvSpPr>
          <p:cNvPr id="191" name="RB Title 0-0"/>
          <p:cNvSpPr txBox="1"/>
          <p:nvPr/>
        </p:nvSpPr>
        <p:spPr>
          <a:xfrm>
            <a:off x="640080" y="2157984"/>
            <a:ext cx="13167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0182B"/>
                </a:solidFill>
                <a:latin typeface="Segoe UI"/>
              </a:rPr>
              <a:t>Process Monitoring</a:t>
            </a:r>
          </a:p>
        </p:txBody>
      </p:sp>
      <p:sp>
        <p:nvSpPr>
          <p:cNvPr id="192" name="RB Desc 0-0"/>
          <p:cNvSpPr txBox="1"/>
          <p:nvPr/>
        </p:nvSpPr>
        <p:spPr>
          <a:xfrm>
            <a:off x="640080" y="2359152"/>
            <a:ext cx="13167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55637D"/>
                </a:solidFill>
                <a:latin typeface="Segoe UI"/>
              </a:rPr>
              <a:t>A named process up or down — alert on state change</a:t>
            </a:r>
          </a:p>
        </p:txBody>
      </p:sp>
      <p:sp>
        <p:nvSpPr>
          <p:cNvPr id="193" name="RB Cta 0-0"/>
          <p:cNvSpPr txBox="1"/>
          <p:nvPr/>
        </p:nvSpPr>
        <p:spPr>
          <a:xfrm>
            <a:off x="640080" y="2660904"/>
            <a:ext cx="131673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DA2837"/>
                </a:solidFill>
                <a:latin typeface="Segoe UI"/>
              </a:rPr>
              <a:t>Launch template  →</a:t>
            </a:r>
          </a:p>
        </p:txBody>
      </p:sp>
      <p:sp>
        <p:nvSpPr>
          <p:cNvPr id="194" name="RB Card 0-1"/>
          <p:cNvSpPr/>
          <p:nvPr/>
        </p:nvSpPr>
        <p:spPr>
          <a:xfrm>
            <a:off x="548640" y="2907792"/>
            <a:ext cx="1499616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5" name="RB Icon 0-1" descr="add-monit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990088"/>
            <a:ext cx="237744" cy="237744"/>
          </a:xfrm>
          <a:prstGeom prst="rect">
            <a:avLst/>
          </a:prstGeom>
          <a:effectLst/>
        </p:spPr>
      </p:pic>
      <p:sp>
        <p:nvSpPr>
          <p:cNvPr id="196" name="RB Title 0-1"/>
          <p:cNvSpPr txBox="1"/>
          <p:nvPr/>
        </p:nvSpPr>
        <p:spPr>
          <a:xfrm>
            <a:off x="640080" y="3236976"/>
            <a:ext cx="13167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0182B"/>
                </a:solidFill>
                <a:latin typeface="Segoe UI"/>
              </a:rPr>
              <a:t>Log Monitoring</a:t>
            </a:r>
          </a:p>
        </p:txBody>
      </p:sp>
      <p:sp>
        <p:nvSpPr>
          <p:cNvPr id="197" name="RB Desc 0-1"/>
          <p:cNvSpPr txBox="1"/>
          <p:nvPr/>
        </p:nvSpPr>
        <p:spPr>
          <a:xfrm>
            <a:off x="640080" y="3438144"/>
            <a:ext cx="13167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55637D"/>
                </a:solidFill>
                <a:latin typeface="Segoe UI"/>
              </a:rPr>
              <a:t>Keyword &amp; pattern alerts on any log file</a:t>
            </a:r>
          </a:p>
        </p:txBody>
      </p:sp>
      <p:sp>
        <p:nvSpPr>
          <p:cNvPr id="198" name="RB Cta 0-1"/>
          <p:cNvSpPr txBox="1"/>
          <p:nvPr/>
        </p:nvSpPr>
        <p:spPr>
          <a:xfrm>
            <a:off x="640080" y="3739896"/>
            <a:ext cx="131673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DA2837"/>
                </a:solidFill>
                <a:latin typeface="Segoe UI"/>
              </a:rPr>
              <a:t>Launch template  →</a:t>
            </a:r>
          </a:p>
        </p:txBody>
      </p:sp>
      <p:sp>
        <p:nvSpPr>
          <p:cNvPr id="199" name="RB Card 0-2"/>
          <p:cNvSpPr/>
          <p:nvPr/>
        </p:nvSpPr>
        <p:spPr>
          <a:xfrm>
            <a:off x="548640" y="3986784"/>
            <a:ext cx="1499616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0" name="RB Icon 0-2" descr="add-monit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069080"/>
            <a:ext cx="237744" cy="237744"/>
          </a:xfrm>
          <a:prstGeom prst="rect">
            <a:avLst/>
          </a:prstGeom>
          <a:effectLst/>
        </p:spPr>
      </p:pic>
      <p:sp>
        <p:nvSpPr>
          <p:cNvPr id="201" name="RB Title 0-2"/>
          <p:cNvSpPr txBox="1"/>
          <p:nvPr/>
        </p:nvSpPr>
        <p:spPr>
          <a:xfrm>
            <a:off x="640080" y="4315968"/>
            <a:ext cx="13167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0182B"/>
                </a:solidFill>
                <a:latin typeface="Segoe UI"/>
              </a:rPr>
              <a:t>CDM Monitoring</a:t>
            </a:r>
          </a:p>
        </p:txBody>
      </p:sp>
      <p:sp>
        <p:nvSpPr>
          <p:cNvPr id="202" name="RB Desc 0-2"/>
          <p:cNvSpPr txBox="1"/>
          <p:nvPr/>
        </p:nvSpPr>
        <p:spPr>
          <a:xfrm>
            <a:off x="640080" y="4517136"/>
            <a:ext cx="13167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55637D"/>
                </a:solidFill>
                <a:latin typeface="Segoe UI"/>
              </a:rPr>
              <a:t>CPU, disk &amp; memory thresholds per host</a:t>
            </a:r>
          </a:p>
        </p:txBody>
      </p:sp>
      <p:sp>
        <p:nvSpPr>
          <p:cNvPr id="203" name="RB Cta 0-2"/>
          <p:cNvSpPr txBox="1"/>
          <p:nvPr/>
        </p:nvSpPr>
        <p:spPr>
          <a:xfrm>
            <a:off x="640080" y="4818888"/>
            <a:ext cx="131673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DA2837"/>
                </a:solidFill>
                <a:latin typeface="Segoe UI"/>
              </a:rPr>
              <a:t>Launch template  →</a:t>
            </a:r>
          </a:p>
        </p:txBody>
      </p:sp>
      <p:sp>
        <p:nvSpPr>
          <p:cNvPr id="204" name="RB Card 0-3"/>
          <p:cNvSpPr/>
          <p:nvPr/>
        </p:nvSpPr>
        <p:spPr>
          <a:xfrm>
            <a:off x="548640" y="5065776"/>
            <a:ext cx="1499616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5" name="RB Icon 0-3" descr="register-as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148072"/>
            <a:ext cx="237744" cy="237744"/>
          </a:xfrm>
          <a:prstGeom prst="rect">
            <a:avLst/>
          </a:prstGeom>
          <a:effectLst/>
        </p:spPr>
      </p:pic>
      <p:sp>
        <p:nvSpPr>
          <p:cNvPr id="206" name="RB Title 0-3"/>
          <p:cNvSpPr txBox="1"/>
          <p:nvPr/>
        </p:nvSpPr>
        <p:spPr>
          <a:xfrm>
            <a:off x="640080" y="5394960"/>
            <a:ext cx="13167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0182B"/>
                </a:solidFill>
                <a:latin typeface="Segoe UI"/>
              </a:rPr>
              <a:t>Register Asset</a:t>
            </a:r>
          </a:p>
        </p:txBody>
      </p:sp>
      <p:sp>
        <p:nvSpPr>
          <p:cNvPr id="207" name="RB Desc 0-3"/>
          <p:cNvSpPr txBox="1"/>
          <p:nvPr/>
        </p:nvSpPr>
        <p:spPr>
          <a:xfrm>
            <a:off x="640080" y="5596128"/>
            <a:ext cx="13167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55637D"/>
                </a:solidFill>
                <a:latin typeface="Segoe UI"/>
              </a:rPr>
              <a:t>Ad-hoc registration into the catalog</a:t>
            </a:r>
          </a:p>
        </p:txBody>
      </p:sp>
      <p:sp>
        <p:nvSpPr>
          <p:cNvPr id="208" name="RB Cta 0-3"/>
          <p:cNvSpPr txBox="1"/>
          <p:nvPr/>
        </p:nvSpPr>
        <p:spPr>
          <a:xfrm>
            <a:off x="640080" y="5897880"/>
            <a:ext cx="131673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DA2837"/>
                </a:solidFill>
                <a:latin typeface="Segoe UI"/>
              </a:rPr>
              <a:t>Register now  →</a:t>
            </a:r>
          </a:p>
        </p:txBody>
      </p:sp>
      <p:sp>
        <p:nvSpPr>
          <p:cNvPr id="209" name="RB Date 1"/>
          <p:cNvSpPr txBox="1"/>
          <p:nvPr/>
        </p:nvSpPr>
        <p:spPr>
          <a:xfrm>
            <a:off x="2139696" y="1298448"/>
            <a:ext cx="149961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Segoe UI"/>
              </a:rPr>
              <a:t>Q4 2026</a:t>
            </a:r>
          </a:p>
        </p:txBody>
      </p:sp>
      <p:sp>
        <p:nvSpPr>
          <p:cNvPr id="210" name="RB Kicker 1"/>
          <p:cNvSpPr txBox="1"/>
          <p:nvPr/>
        </p:nvSpPr>
        <p:spPr>
          <a:xfrm>
            <a:off x="2139696" y="1508760"/>
            <a:ext cx="14996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1">
                <a:solidFill>
                  <a:srgbClr val="7A808A"/>
                </a:solidFill>
                <a:latin typeface="Segoe UI"/>
              </a:rPr>
              <a:t>LOGS &amp; AGENTS</a:t>
            </a:r>
          </a:p>
        </p:txBody>
      </p:sp>
      <p:sp>
        <p:nvSpPr>
          <p:cNvPr id="211" name="RB Accent 1"/>
          <p:cNvSpPr/>
          <p:nvPr/>
        </p:nvSpPr>
        <p:spPr>
          <a:xfrm>
            <a:off x="2139696" y="1700784"/>
            <a:ext cx="457200" cy="2560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B Card 1-0"/>
          <p:cNvSpPr/>
          <p:nvPr/>
        </p:nvSpPr>
        <p:spPr>
          <a:xfrm>
            <a:off x="2139696" y="1828800"/>
            <a:ext cx="1499616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3" name="RB Icon 1-0" descr="elk-log-onboar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1136" y="1911096"/>
            <a:ext cx="237744" cy="237744"/>
          </a:xfrm>
          <a:prstGeom prst="rect">
            <a:avLst/>
          </a:prstGeom>
          <a:effectLst/>
        </p:spPr>
      </p:pic>
      <p:sp>
        <p:nvSpPr>
          <p:cNvPr id="214" name="RB Title 1-0"/>
          <p:cNvSpPr txBox="1"/>
          <p:nvPr/>
        </p:nvSpPr>
        <p:spPr>
          <a:xfrm>
            <a:off x="2231136" y="2157984"/>
            <a:ext cx="13167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0182B"/>
                </a:solidFill>
                <a:latin typeface="Segoe UI"/>
              </a:rPr>
              <a:t>ELK Log Onboarding</a:t>
            </a:r>
          </a:p>
        </p:txBody>
      </p:sp>
      <p:sp>
        <p:nvSpPr>
          <p:cNvPr id="215" name="RB Desc 1-0"/>
          <p:cNvSpPr txBox="1"/>
          <p:nvPr/>
        </p:nvSpPr>
        <p:spPr>
          <a:xfrm>
            <a:off x="2231136" y="2359152"/>
            <a:ext cx="13167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55637D"/>
                </a:solidFill>
                <a:latin typeface="Segoe UI"/>
              </a:rPr>
              <a:t>Agents, Kafka, parsers, indices — one request</a:t>
            </a:r>
          </a:p>
        </p:txBody>
      </p:sp>
      <p:sp>
        <p:nvSpPr>
          <p:cNvPr id="216" name="RB Cta 1-0"/>
          <p:cNvSpPr txBox="1"/>
          <p:nvPr/>
        </p:nvSpPr>
        <p:spPr>
          <a:xfrm>
            <a:off x="2231136" y="2660904"/>
            <a:ext cx="131673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DA2837"/>
                </a:solidFill>
                <a:latin typeface="Segoe UI"/>
              </a:rPr>
              <a:t>Start onboarding  →</a:t>
            </a:r>
          </a:p>
        </p:txBody>
      </p:sp>
      <p:sp>
        <p:nvSpPr>
          <p:cNvPr id="217" name="RB Card 1-1"/>
          <p:cNvSpPr/>
          <p:nvPr/>
        </p:nvSpPr>
        <p:spPr>
          <a:xfrm>
            <a:off x="2139696" y="2907792"/>
            <a:ext cx="1499616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8" name="RB Icon 1-1" descr="install-ag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1136" y="2990088"/>
            <a:ext cx="237744" cy="237744"/>
          </a:xfrm>
          <a:prstGeom prst="rect">
            <a:avLst/>
          </a:prstGeom>
          <a:effectLst/>
        </p:spPr>
      </p:pic>
      <p:sp>
        <p:nvSpPr>
          <p:cNvPr id="219" name="RB Title 1-1"/>
          <p:cNvSpPr txBox="1"/>
          <p:nvPr/>
        </p:nvSpPr>
        <p:spPr>
          <a:xfrm>
            <a:off x="2231136" y="3236976"/>
            <a:ext cx="13167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0182B"/>
                </a:solidFill>
                <a:latin typeface="Segoe UI"/>
              </a:rPr>
              <a:t>Install Agent</a:t>
            </a:r>
          </a:p>
        </p:txBody>
      </p:sp>
      <p:sp>
        <p:nvSpPr>
          <p:cNvPr id="220" name="RB Desc 1-1"/>
          <p:cNvSpPr txBox="1"/>
          <p:nvPr/>
        </p:nvSpPr>
        <p:spPr>
          <a:xfrm>
            <a:off x="2231136" y="3438144"/>
            <a:ext cx="13167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55637D"/>
                </a:solidFill>
                <a:latin typeface="Segoe UI"/>
              </a:rPr>
              <a:t>The right agents per host — only what is missing</a:t>
            </a:r>
          </a:p>
        </p:txBody>
      </p:sp>
      <p:sp>
        <p:nvSpPr>
          <p:cNvPr id="221" name="RB Cta 1-1"/>
          <p:cNvSpPr txBox="1"/>
          <p:nvPr/>
        </p:nvSpPr>
        <p:spPr>
          <a:xfrm>
            <a:off x="2231136" y="3739896"/>
            <a:ext cx="131673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DA2837"/>
                </a:solidFill>
                <a:latin typeface="Segoe UI"/>
              </a:rPr>
              <a:t>Install agents  →</a:t>
            </a:r>
          </a:p>
        </p:txBody>
      </p:sp>
      <p:sp>
        <p:nvSpPr>
          <p:cNvPr id="222" name="RB Card 1-2"/>
          <p:cNvSpPr/>
          <p:nvPr/>
        </p:nvSpPr>
        <p:spPr>
          <a:xfrm>
            <a:off x="2139696" y="3986784"/>
            <a:ext cx="1499616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3" name="RB Icon 1-2" descr="request-log-acce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1136" y="4069080"/>
            <a:ext cx="237744" cy="237744"/>
          </a:xfrm>
          <a:prstGeom prst="rect">
            <a:avLst/>
          </a:prstGeom>
          <a:effectLst/>
        </p:spPr>
      </p:pic>
      <p:sp>
        <p:nvSpPr>
          <p:cNvPr id="224" name="RB Title 1-2"/>
          <p:cNvSpPr txBox="1"/>
          <p:nvPr/>
        </p:nvSpPr>
        <p:spPr>
          <a:xfrm>
            <a:off x="2231136" y="4315968"/>
            <a:ext cx="13167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0182B"/>
                </a:solidFill>
                <a:latin typeface="Segoe UI"/>
              </a:rPr>
              <a:t>Request Log Access</a:t>
            </a:r>
          </a:p>
        </p:txBody>
      </p:sp>
      <p:sp>
        <p:nvSpPr>
          <p:cNvPr id="225" name="RB Desc 1-2"/>
          <p:cNvSpPr txBox="1"/>
          <p:nvPr/>
        </p:nvSpPr>
        <p:spPr>
          <a:xfrm>
            <a:off x="2231136" y="4517136"/>
            <a:ext cx="13167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55637D"/>
                </a:solidFill>
                <a:latin typeface="Segoe UI"/>
              </a:rPr>
              <a:t>Read-only ELK index access, on request</a:t>
            </a:r>
          </a:p>
        </p:txBody>
      </p:sp>
      <p:sp>
        <p:nvSpPr>
          <p:cNvPr id="226" name="RB Cta 1-2"/>
          <p:cNvSpPr txBox="1"/>
          <p:nvPr/>
        </p:nvSpPr>
        <p:spPr>
          <a:xfrm>
            <a:off x="2231136" y="4818888"/>
            <a:ext cx="131673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DA2837"/>
                </a:solidFill>
                <a:latin typeface="Segoe UI"/>
              </a:rPr>
              <a:t>Request access  →</a:t>
            </a:r>
          </a:p>
        </p:txBody>
      </p:sp>
      <p:sp>
        <p:nvSpPr>
          <p:cNvPr id="227" name="RB Date 2"/>
          <p:cNvSpPr txBox="1"/>
          <p:nvPr/>
        </p:nvSpPr>
        <p:spPr>
          <a:xfrm>
            <a:off x="3730752" y="1298448"/>
            <a:ext cx="149961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Segoe UI"/>
              </a:rPr>
              <a:t>Q1 2027</a:t>
            </a:r>
          </a:p>
        </p:txBody>
      </p:sp>
      <p:sp>
        <p:nvSpPr>
          <p:cNvPr id="228" name="RB Kicker 2"/>
          <p:cNvSpPr txBox="1"/>
          <p:nvPr/>
        </p:nvSpPr>
        <p:spPr>
          <a:xfrm>
            <a:off x="3730752" y="1508760"/>
            <a:ext cx="14996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1">
                <a:solidFill>
                  <a:srgbClr val="7A808A"/>
                </a:solidFill>
                <a:latin typeface="Segoe UI"/>
              </a:rPr>
              <a:t>EXPANSION · ENDPOINTS</a:t>
            </a:r>
          </a:p>
        </p:txBody>
      </p:sp>
      <p:sp>
        <p:nvSpPr>
          <p:cNvPr id="229" name="RB Accent 2"/>
          <p:cNvSpPr/>
          <p:nvPr/>
        </p:nvSpPr>
        <p:spPr>
          <a:xfrm>
            <a:off x="3730752" y="1700784"/>
            <a:ext cx="457200" cy="2560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B Card 2-0"/>
          <p:cNvSpPr/>
          <p:nvPr/>
        </p:nvSpPr>
        <p:spPr>
          <a:xfrm>
            <a:off x="3730752" y="1828800"/>
            <a:ext cx="1499616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1" name="RB Icon 2-0" descr="synthetic-alertin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22192" y="1911096"/>
            <a:ext cx="237744" cy="237744"/>
          </a:xfrm>
          <a:prstGeom prst="rect">
            <a:avLst/>
          </a:prstGeom>
          <a:effectLst/>
        </p:spPr>
      </p:pic>
      <p:sp>
        <p:nvSpPr>
          <p:cNvPr id="232" name="RB Title 2-0"/>
          <p:cNvSpPr txBox="1"/>
          <p:nvPr/>
        </p:nvSpPr>
        <p:spPr>
          <a:xfrm>
            <a:off x="3822192" y="2157984"/>
            <a:ext cx="13167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0182B"/>
                </a:solidFill>
                <a:latin typeface="Segoe UI"/>
              </a:rPr>
              <a:t>URL Monitoring</a:t>
            </a:r>
          </a:p>
        </p:txBody>
      </p:sp>
      <p:sp>
        <p:nvSpPr>
          <p:cNvPr id="233" name="RB Desc 2-0"/>
          <p:cNvSpPr txBox="1"/>
          <p:nvPr/>
        </p:nvSpPr>
        <p:spPr>
          <a:xfrm>
            <a:off x="3822192" y="2359152"/>
            <a:ext cx="13167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55637D"/>
                </a:solidFill>
                <a:latin typeface="Segoe UI"/>
              </a:rPr>
              <a:t>Availability &amp; response-time checks per URL</a:t>
            </a:r>
          </a:p>
        </p:txBody>
      </p:sp>
      <p:sp>
        <p:nvSpPr>
          <p:cNvPr id="234" name="RB Cta 2-0"/>
          <p:cNvSpPr txBox="1"/>
          <p:nvPr/>
        </p:nvSpPr>
        <p:spPr>
          <a:xfrm>
            <a:off x="3822192" y="2660904"/>
            <a:ext cx="131673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DA2837"/>
                </a:solidFill>
                <a:latin typeface="Segoe UI"/>
              </a:rPr>
              <a:t>Add a check  →</a:t>
            </a:r>
          </a:p>
        </p:txBody>
      </p:sp>
      <p:sp>
        <p:nvSpPr>
          <p:cNvPr id="235" name="RB Card 2-1"/>
          <p:cNvSpPr/>
          <p:nvPr/>
        </p:nvSpPr>
        <p:spPr>
          <a:xfrm>
            <a:off x="3730752" y="2907792"/>
            <a:ext cx="1499616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6" name="RB Icon 2-1" descr="synthetic-alertin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22192" y="2990088"/>
            <a:ext cx="237744" cy="237744"/>
          </a:xfrm>
          <a:prstGeom prst="rect">
            <a:avLst/>
          </a:prstGeom>
          <a:effectLst/>
        </p:spPr>
      </p:pic>
      <p:sp>
        <p:nvSpPr>
          <p:cNvPr id="237" name="RB Title 2-1"/>
          <p:cNvSpPr txBox="1"/>
          <p:nvPr/>
        </p:nvSpPr>
        <p:spPr>
          <a:xfrm>
            <a:off x="3822192" y="3236976"/>
            <a:ext cx="13167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0182B"/>
                </a:solidFill>
                <a:latin typeface="Segoe UI"/>
              </a:rPr>
              <a:t>Cert Monitoring</a:t>
            </a:r>
          </a:p>
        </p:txBody>
      </p:sp>
      <p:sp>
        <p:nvSpPr>
          <p:cNvPr id="238" name="RB Desc 2-1"/>
          <p:cNvSpPr txBox="1"/>
          <p:nvPr/>
        </p:nvSpPr>
        <p:spPr>
          <a:xfrm>
            <a:off x="3822192" y="3438144"/>
            <a:ext cx="13167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55637D"/>
                </a:solidFill>
                <a:latin typeface="Segoe UI"/>
              </a:rPr>
              <a:t>TLS certificate expiry — alerted before it bites</a:t>
            </a:r>
          </a:p>
        </p:txBody>
      </p:sp>
      <p:sp>
        <p:nvSpPr>
          <p:cNvPr id="239" name="RB Cta 2-1"/>
          <p:cNvSpPr txBox="1"/>
          <p:nvPr/>
        </p:nvSpPr>
        <p:spPr>
          <a:xfrm>
            <a:off x="3822192" y="3739896"/>
            <a:ext cx="131673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DA2837"/>
                </a:solidFill>
                <a:latin typeface="Segoe UI"/>
              </a:rPr>
              <a:t>Watch certs  →</a:t>
            </a:r>
          </a:p>
        </p:txBody>
      </p:sp>
      <p:sp>
        <p:nvSpPr>
          <p:cNvPr id="240" name="RB Card 2-2"/>
          <p:cNvSpPr/>
          <p:nvPr/>
        </p:nvSpPr>
        <p:spPr>
          <a:xfrm>
            <a:off x="3730752" y="3986784"/>
            <a:ext cx="1499616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1" name="RB Icon 2-2" descr="synthetic-alertin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22192" y="4069080"/>
            <a:ext cx="237744" cy="237744"/>
          </a:xfrm>
          <a:prstGeom prst="rect">
            <a:avLst/>
          </a:prstGeom>
          <a:effectLst/>
        </p:spPr>
      </p:pic>
      <p:sp>
        <p:nvSpPr>
          <p:cNvPr id="242" name="RB Title 2-2"/>
          <p:cNvSpPr txBox="1"/>
          <p:nvPr/>
        </p:nvSpPr>
        <p:spPr>
          <a:xfrm>
            <a:off x="3822192" y="4315968"/>
            <a:ext cx="13167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0182B"/>
                </a:solidFill>
                <a:latin typeface="Segoe UI"/>
              </a:rPr>
              <a:t>Public-Facing Monitoring</a:t>
            </a:r>
          </a:p>
        </p:txBody>
      </p:sp>
      <p:sp>
        <p:nvSpPr>
          <p:cNvPr id="243" name="RB Desc 2-2"/>
          <p:cNvSpPr txBox="1"/>
          <p:nvPr/>
        </p:nvSpPr>
        <p:spPr>
          <a:xfrm>
            <a:off x="3822192" y="4517136"/>
            <a:ext cx="13167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55637D"/>
                </a:solidFill>
                <a:latin typeface="Segoe UI"/>
              </a:rPr>
              <a:t>Outside-in checks on internet-facing services</a:t>
            </a:r>
          </a:p>
        </p:txBody>
      </p:sp>
      <p:sp>
        <p:nvSpPr>
          <p:cNvPr id="244" name="RB Cta 2-2"/>
          <p:cNvSpPr txBox="1"/>
          <p:nvPr/>
        </p:nvSpPr>
        <p:spPr>
          <a:xfrm>
            <a:off x="3822192" y="4818888"/>
            <a:ext cx="131673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DA2837"/>
                </a:solidFill>
                <a:latin typeface="Segoe UI"/>
              </a:rPr>
              <a:t>Add a check  →</a:t>
            </a:r>
          </a:p>
        </p:txBody>
      </p:sp>
      <p:sp>
        <p:nvSpPr>
          <p:cNvPr id="245" name="RB Card 2-3"/>
          <p:cNvSpPr/>
          <p:nvPr/>
        </p:nvSpPr>
        <p:spPr>
          <a:xfrm>
            <a:off x="3730752" y="5065776"/>
            <a:ext cx="1499616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6" name="RB Icon 2-3" descr="alert-suppressio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22192" y="5148072"/>
            <a:ext cx="237744" cy="237744"/>
          </a:xfrm>
          <a:prstGeom prst="rect">
            <a:avLst/>
          </a:prstGeom>
          <a:effectLst/>
        </p:spPr>
      </p:pic>
      <p:sp>
        <p:nvSpPr>
          <p:cNvPr id="247" name="RB Title 2-3"/>
          <p:cNvSpPr txBox="1"/>
          <p:nvPr/>
        </p:nvSpPr>
        <p:spPr>
          <a:xfrm>
            <a:off x="3822192" y="5394960"/>
            <a:ext cx="13167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0182B"/>
                </a:solidFill>
                <a:latin typeface="Segoe UI"/>
              </a:rPr>
              <a:t>File Integrity Monitoring</a:t>
            </a:r>
          </a:p>
        </p:txBody>
      </p:sp>
      <p:sp>
        <p:nvSpPr>
          <p:cNvPr id="248" name="RB Desc 2-3"/>
          <p:cNvSpPr txBox="1"/>
          <p:nvPr/>
        </p:nvSpPr>
        <p:spPr>
          <a:xfrm>
            <a:off x="3822192" y="5596128"/>
            <a:ext cx="13167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55637D"/>
                </a:solidFill>
                <a:latin typeface="Segoe UI"/>
              </a:rPr>
              <a:t>Alert on unauthorised file changes</a:t>
            </a:r>
          </a:p>
        </p:txBody>
      </p:sp>
      <p:sp>
        <p:nvSpPr>
          <p:cNvPr id="249" name="RB Cta 2-3"/>
          <p:cNvSpPr txBox="1"/>
          <p:nvPr/>
        </p:nvSpPr>
        <p:spPr>
          <a:xfrm>
            <a:off x="3822192" y="5897880"/>
            <a:ext cx="131673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DA2837"/>
                </a:solidFill>
                <a:latin typeface="Segoe UI"/>
              </a:rPr>
              <a:t>Enable FIM  →</a:t>
            </a:r>
          </a:p>
        </p:txBody>
      </p:sp>
      <p:sp>
        <p:nvSpPr>
          <p:cNvPr id="250" name="RB Date 3"/>
          <p:cNvSpPr txBox="1"/>
          <p:nvPr/>
        </p:nvSpPr>
        <p:spPr>
          <a:xfrm>
            <a:off x="5321808" y="1298448"/>
            <a:ext cx="149961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Segoe UI"/>
              </a:rPr>
              <a:t>Q2 2027</a:t>
            </a:r>
          </a:p>
        </p:txBody>
      </p:sp>
      <p:sp>
        <p:nvSpPr>
          <p:cNvPr id="251" name="RB Kicker 3"/>
          <p:cNvSpPr txBox="1"/>
          <p:nvPr/>
        </p:nvSpPr>
        <p:spPr>
          <a:xfrm>
            <a:off x="5321808" y="1508760"/>
            <a:ext cx="14996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1">
                <a:solidFill>
                  <a:srgbClr val="7A808A"/>
                </a:solidFill>
                <a:latin typeface="Segoe UI"/>
              </a:rPr>
              <a:t>PLATFORMS</a:t>
            </a:r>
          </a:p>
        </p:txBody>
      </p:sp>
      <p:sp>
        <p:nvSpPr>
          <p:cNvPr id="252" name="RB Accent 3"/>
          <p:cNvSpPr/>
          <p:nvPr/>
        </p:nvSpPr>
        <p:spPr>
          <a:xfrm>
            <a:off x="5321808" y="1700784"/>
            <a:ext cx="457200" cy="2560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B Card 3-0"/>
          <p:cNvSpPr/>
          <p:nvPr/>
        </p:nvSpPr>
        <p:spPr>
          <a:xfrm>
            <a:off x="5321808" y="1828800"/>
            <a:ext cx="1499616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4" name="RB Icon 3-0" descr="add-monit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1911096"/>
            <a:ext cx="237744" cy="237744"/>
          </a:xfrm>
          <a:prstGeom prst="rect">
            <a:avLst/>
          </a:prstGeom>
          <a:effectLst/>
        </p:spPr>
      </p:pic>
      <p:sp>
        <p:nvSpPr>
          <p:cNvPr id="255" name="RB Title 3-0"/>
          <p:cNvSpPr txBox="1"/>
          <p:nvPr/>
        </p:nvSpPr>
        <p:spPr>
          <a:xfrm>
            <a:off x="5413248" y="2157984"/>
            <a:ext cx="13167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0182B"/>
                </a:solidFill>
                <a:latin typeface="Segoe UI"/>
              </a:rPr>
              <a:t>Database Monitoring</a:t>
            </a:r>
          </a:p>
        </p:txBody>
      </p:sp>
      <p:sp>
        <p:nvSpPr>
          <p:cNvPr id="256" name="RB Desc 3-0"/>
          <p:cNvSpPr txBox="1"/>
          <p:nvPr/>
        </p:nvSpPr>
        <p:spPr>
          <a:xfrm>
            <a:off x="5413248" y="2359152"/>
            <a:ext cx="13167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55637D"/>
                </a:solidFill>
                <a:latin typeface="Segoe UI"/>
              </a:rPr>
              <a:t>Health &amp; performance — Oracle, MSSQL, PostgreSQL</a:t>
            </a:r>
          </a:p>
        </p:txBody>
      </p:sp>
      <p:sp>
        <p:nvSpPr>
          <p:cNvPr id="257" name="RB Cta 3-0"/>
          <p:cNvSpPr txBox="1"/>
          <p:nvPr/>
        </p:nvSpPr>
        <p:spPr>
          <a:xfrm>
            <a:off x="5413248" y="2660904"/>
            <a:ext cx="131673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DA2837"/>
                </a:solidFill>
                <a:latin typeface="Segoe UI"/>
              </a:rPr>
              <a:t>Add monitoring  →</a:t>
            </a:r>
          </a:p>
        </p:txBody>
      </p:sp>
      <p:sp>
        <p:nvSpPr>
          <p:cNvPr id="258" name="RB Card 3-1"/>
          <p:cNvSpPr/>
          <p:nvPr/>
        </p:nvSpPr>
        <p:spPr>
          <a:xfrm>
            <a:off x="5321808" y="2907792"/>
            <a:ext cx="1499616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9" name="RB Icon 3-1" descr="add-monit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2990088"/>
            <a:ext cx="237744" cy="237744"/>
          </a:xfrm>
          <a:prstGeom prst="rect">
            <a:avLst/>
          </a:prstGeom>
          <a:effectLst/>
        </p:spPr>
      </p:pic>
      <p:sp>
        <p:nvSpPr>
          <p:cNvPr id="260" name="RB Title 3-1"/>
          <p:cNvSpPr txBox="1"/>
          <p:nvPr/>
        </p:nvSpPr>
        <p:spPr>
          <a:xfrm>
            <a:off x="5413248" y="3236976"/>
            <a:ext cx="13167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0182B"/>
                </a:solidFill>
                <a:latin typeface="Segoe UI"/>
              </a:rPr>
              <a:t>Hyper-V · ESXi · IBM</a:t>
            </a:r>
          </a:p>
        </p:txBody>
      </p:sp>
      <p:sp>
        <p:nvSpPr>
          <p:cNvPr id="261" name="RB Desc 3-1"/>
          <p:cNvSpPr txBox="1"/>
          <p:nvPr/>
        </p:nvSpPr>
        <p:spPr>
          <a:xfrm>
            <a:off x="5413248" y="3438144"/>
            <a:ext cx="13167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55637D"/>
                </a:solidFill>
                <a:latin typeface="Segoe UI"/>
              </a:rPr>
              <a:t>Virtualisation &amp; IBM estate monitoring</a:t>
            </a:r>
          </a:p>
        </p:txBody>
      </p:sp>
      <p:sp>
        <p:nvSpPr>
          <p:cNvPr id="262" name="RB Cta 3-1"/>
          <p:cNvSpPr txBox="1"/>
          <p:nvPr/>
        </p:nvSpPr>
        <p:spPr>
          <a:xfrm>
            <a:off x="5413248" y="3739896"/>
            <a:ext cx="131673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DA2837"/>
                </a:solidFill>
                <a:latin typeface="Segoe UI"/>
              </a:rPr>
              <a:t>Add monitoring  →</a:t>
            </a:r>
          </a:p>
        </p:txBody>
      </p:sp>
      <p:sp>
        <p:nvSpPr>
          <p:cNvPr id="263" name="RB Card 3-2"/>
          <p:cNvSpPr/>
          <p:nvPr/>
        </p:nvSpPr>
        <p:spPr>
          <a:xfrm>
            <a:off x="5321808" y="3986784"/>
            <a:ext cx="1499616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4" name="RB Icon 3-2" descr="add-monit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4069080"/>
            <a:ext cx="237744" cy="237744"/>
          </a:xfrm>
          <a:prstGeom prst="rect">
            <a:avLst/>
          </a:prstGeom>
          <a:effectLst/>
        </p:spPr>
      </p:pic>
      <p:sp>
        <p:nvSpPr>
          <p:cNvPr id="265" name="RB Title 3-2"/>
          <p:cNvSpPr txBox="1"/>
          <p:nvPr/>
        </p:nvSpPr>
        <p:spPr>
          <a:xfrm>
            <a:off x="5413248" y="4315968"/>
            <a:ext cx="13167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0182B"/>
                </a:solidFill>
                <a:latin typeface="Segoe UI"/>
              </a:rPr>
              <a:t>Send Quick SMS</a:t>
            </a:r>
          </a:p>
        </p:txBody>
      </p:sp>
      <p:sp>
        <p:nvSpPr>
          <p:cNvPr id="266" name="RB Desc 3-2"/>
          <p:cNvSpPr txBox="1"/>
          <p:nvPr/>
        </p:nvSpPr>
        <p:spPr>
          <a:xfrm>
            <a:off x="5413248" y="4517136"/>
            <a:ext cx="13167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55637D"/>
                </a:solidFill>
                <a:latin typeface="Segoe UI"/>
              </a:rPr>
              <a:t>On-demand SMS notify for critical events</a:t>
            </a:r>
          </a:p>
        </p:txBody>
      </p:sp>
      <p:sp>
        <p:nvSpPr>
          <p:cNvPr id="267" name="RB Cta 3-2"/>
          <p:cNvSpPr txBox="1"/>
          <p:nvPr/>
        </p:nvSpPr>
        <p:spPr>
          <a:xfrm>
            <a:off x="5413248" y="4818888"/>
            <a:ext cx="131673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DA2837"/>
                </a:solidFill>
                <a:latin typeface="Segoe UI"/>
              </a:rPr>
              <a:t>Send SMS  →</a:t>
            </a:r>
          </a:p>
        </p:txBody>
      </p:sp>
      <p:sp>
        <p:nvSpPr>
          <p:cNvPr id="268" name="RB Date 4"/>
          <p:cNvSpPr txBox="1"/>
          <p:nvPr/>
        </p:nvSpPr>
        <p:spPr>
          <a:xfrm>
            <a:off x="6912864" y="1298448"/>
            <a:ext cx="149961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Segoe UI"/>
              </a:rPr>
              <a:t>Q3 2027</a:t>
            </a:r>
          </a:p>
        </p:txBody>
      </p:sp>
      <p:sp>
        <p:nvSpPr>
          <p:cNvPr id="269" name="RB Kicker 4"/>
          <p:cNvSpPr txBox="1"/>
          <p:nvPr/>
        </p:nvSpPr>
        <p:spPr>
          <a:xfrm>
            <a:off x="6912864" y="1508760"/>
            <a:ext cx="14996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1">
                <a:solidFill>
                  <a:srgbClr val="7A808A"/>
                </a:solidFill>
                <a:latin typeface="Segoe UI"/>
              </a:rPr>
              <a:t>VISIBILITY</a:t>
            </a:r>
          </a:p>
        </p:txBody>
      </p:sp>
      <p:sp>
        <p:nvSpPr>
          <p:cNvPr id="270" name="RB Accent 4"/>
          <p:cNvSpPr/>
          <p:nvPr/>
        </p:nvSpPr>
        <p:spPr>
          <a:xfrm>
            <a:off x="6912864" y="1700784"/>
            <a:ext cx="457200" cy="2560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B Card 4-0"/>
          <p:cNvSpPr/>
          <p:nvPr/>
        </p:nvSpPr>
        <p:spPr>
          <a:xfrm>
            <a:off x="6912864" y="1828800"/>
            <a:ext cx="1499616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2" name="RB Icon 4-0" descr="repor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4304" y="1911096"/>
            <a:ext cx="237744" cy="237744"/>
          </a:xfrm>
          <a:prstGeom prst="rect">
            <a:avLst/>
          </a:prstGeom>
          <a:effectLst/>
        </p:spPr>
      </p:pic>
      <p:sp>
        <p:nvSpPr>
          <p:cNvPr id="273" name="RB Title 4-0"/>
          <p:cNvSpPr txBox="1"/>
          <p:nvPr/>
        </p:nvSpPr>
        <p:spPr>
          <a:xfrm>
            <a:off x="7004304" y="2157984"/>
            <a:ext cx="13167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0182B"/>
                </a:solidFill>
                <a:latin typeface="Segoe UI"/>
              </a:rPr>
              <a:t>Reports</a:t>
            </a:r>
          </a:p>
        </p:txBody>
      </p:sp>
      <p:sp>
        <p:nvSpPr>
          <p:cNvPr id="274" name="RB Desc 4-0"/>
          <p:cNvSpPr txBox="1"/>
          <p:nvPr/>
        </p:nvSpPr>
        <p:spPr>
          <a:xfrm>
            <a:off x="7004304" y="2359152"/>
            <a:ext cx="13167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55637D"/>
                </a:solidFill>
                <a:latin typeface="Segoe UI"/>
              </a:rPr>
              <a:t>Daily reconciliation — gaps, unmonitored, drift</a:t>
            </a:r>
          </a:p>
        </p:txBody>
      </p:sp>
      <p:sp>
        <p:nvSpPr>
          <p:cNvPr id="275" name="RB Cta 4-0"/>
          <p:cNvSpPr txBox="1"/>
          <p:nvPr/>
        </p:nvSpPr>
        <p:spPr>
          <a:xfrm>
            <a:off x="7004304" y="2660904"/>
            <a:ext cx="131673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DA2837"/>
                </a:solidFill>
                <a:latin typeface="Segoe UI"/>
              </a:rPr>
              <a:t>View reports  →</a:t>
            </a:r>
          </a:p>
        </p:txBody>
      </p:sp>
      <p:sp>
        <p:nvSpPr>
          <p:cNvPr id="276" name="RB Card 4-1"/>
          <p:cNvSpPr/>
          <p:nvPr/>
        </p:nvSpPr>
        <p:spPr>
          <a:xfrm>
            <a:off x="6912864" y="2907792"/>
            <a:ext cx="1499616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7" name="RB Icon 4-1" descr="dashboard-inventor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04304" y="2990088"/>
            <a:ext cx="237744" cy="237744"/>
          </a:xfrm>
          <a:prstGeom prst="rect">
            <a:avLst/>
          </a:prstGeom>
          <a:effectLst/>
        </p:spPr>
      </p:pic>
      <p:sp>
        <p:nvSpPr>
          <p:cNvPr id="278" name="RB Title 4-1"/>
          <p:cNvSpPr txBox="1"/>
          <p:nvPr/>
        </p:nvSpPr>
        <p:spPr>
          <a:xfrm>
            <a:off x="7004304" y="3236976"/>
            <a:ext cx="13167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0182B"/>
                </a:solidFill>
                <a:latin typeface="Segoe UI"/>
              </a:rPr>
              <a:t>Dashboard Inventory</a:t>
            </a:r>
          </a:p>
        </p:txBody>
      </p:sp>
      <p:sp>
        <p:nvSpPr>
          <p:cNvPr id="279" name="RB Desc 4-1"/>
          <p:cNvSpPr txBox="1"/>
          <p:nvPr/>
        </p:nvSpPr>
        <p:spPr>
          <a:xfrm>
            <a:off x="7004304" y="3438144"/>
            <a:ext cx="13167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55637D"/>
                </a:solidFill>
                <a:latin typeface="Segoe UI"/>
              </a:rPr>
              <a:t>Every dashboard described and linked</a:t>
            </a:r>
          </a:p>
        </p:txBody>
      </p:sp>
      <p:sp>
        <p:nvSpPr>
          <p:cNvPr id="280" name="RB Cta 4-1"/>
          <p:cNvSpPr txBox="1"/>
          <p:nvPr/>
        </p:nvSpPr>
        <p:spPr>
          <a:xfrm>
            <a:off x="7004304" y="3739896"/>
            <a:ext cx="131673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DA2837"/>
                </a:solidFill>
                <a:latin typeface="Segoe UI"/>
              </a:rPr>
              <a:t>Browse dashboards  →</a:t>
            </a:r>
          </a:p>
        </p:txBody>
      </p:sp>
      <p:sp>
        <p:nvSpPr>
          <p:cNvPr id="281" name="RB Card 4-2"/>
          <p:cNvSpPr/>
          <p:nvPr/>
        </p:nvSpPr>
        <p:spPr>
          <a:xfrm>
            <a:off x="6912864" y="3986784"/>
            <a:ext cx="1499616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2" name="RB Icon 4-2" descr="data-dictionar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04304" y="4069080"/>
            <a:ext cx="237744" cy="237744"/>
          </a:xfrm>
          <a:prstGeom prst="rect">
            <a:avLst/>
          </a:prstGeom>
          <a:effectLst/>
        </p:spPr>
      </p:pic>
      <p:sp>
        <p:nvSpPr>
          <p:cNvPr id="283" name="RB Title 4-2"/>
          <p:cNvSpPr txBox="1"/>
          <p:nvPr/>
        </p:nvSpPr>
        <p:spPr>
          <a:xfrm>
            <a:off x="7004304" y="4315968"/>
            <a:ext cx="13167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0182B"/>
                </a:solidFill>
                <a:latin typeface="Segoe UI"/>
              </a:rPr>
              <a:t>Data Dictionary</a:t>
            </a:r>
          </a:p>
        </p:txBody>
      </p:sp>
      <p:sp>
        <p:nvSpPr>
          <p:cNvPr id="284" name="RB Desc 4-2"/>
          <p:cNvSpPr txBox="1"/>
          <p:nvPr/>
        </p:nvSpPr>
        <p:spPr>
          <a:xfrm>
            <a:off x="7004304" y="4517136"/>
            <a:ext cx="13167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55637D"/>
                </a:solidFill>
                <a:latin typeface="Segoe UI"/>
              </a:rPr>
              <a:t>Every ELK index and its function</a:t>
            </a:r>
          </a:p>
        </p:txBody>
      </p:sp>
      <p:sp>
        <p:nvSpPr>
          <p:cNvPr id="285" name="RB Cta 4-2"/>
          <p:cNvSpPr txBox="1"/>
          <p:nvPr/>
        </p:nvSpPr>
        <p:spPr>
          <a:xfrm>
            <a:off x="7004304" y="4818888"/>
            <a:ext cx="131673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DA2837"/>
                </a:solidFill>
                <a:latin typeface="Segoe UI"/>
              </a:rPr>
              <a:t>Browse dictionary  →</a:t>
            </a:r>
          </a:p>
        </p:txBody>
      </p:sp>
      <p:sp>
        <p:nvSpPr>
          <p:cNvPr id="286" name="RB Date 5"/>
          <p:cNvSpPr txBox="1"/>
          <p:nvPr/>
        </p:nvSpPr>
        <p:spPr>
          <a:xfrm>
            <a:off x="8503920" y="1298448"/>
            <a:ext cx="149961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Segoe UI"/>
              </a:rPr>
              <a:t>Q4 2027</a:t>
            </a:r>
          </a:p>
        </p:txBody>
      </p:sp>
      <p:sp>
        <p:nvSpPr>
          <p:cNvPr id="287" name="RB Kicker 5"/>
          <p:cNvSpPr txBox="1"/>
          <p:nvPr/>
        </p:nvSpPr>
        <p:spPr>
          <a:xfrm>
            <a:off x="8503920" y="1508760"/>
            <a:ext cx="14996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1">
                <a:solidFill>
                  <a:srgbClr val="7A808A"/>
                </a:solidFill>
                <a:latin typeface="Segoe UI"/>
              </a:rPr>
              <a:t>ASSURANCE</a:t>
            </a:r>
          </a:p>
        </p:txBody>
      </p:sp>
      <p:sp>
        <p:nvSpPr>
          <p:cNvPr id="288" name="RB Accent 5"/>
          <p:cNvSpPr/>
          <p:nvPr/>
        </p:nvSpPr>
        <p:spPr>
          <a:xfrm>
            <a:off x="8503920" y="1700784"/>
            <a:ext cx="457200" cy="2560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B Card 5-0"/>
          <p:cNvSpPr/>
          <p:nvPr/>
        </p:nvSpPr>
        <p:spPr>
          <a:xfrm>
            <a:off x="8503920" y="1828800"/>
            <a:ext cx="1499616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0" name="RB Icon 5-0" descr="observability-scor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95360" y="1911096"/>
            <a:ext cx="237744" cy="237744"/>
          </a:xfrm>
          <a:prstGeom prst="rect">
            <a:avLst/>
          </a:prstGeom>
          <a:effectLst/>
        </p:spPr>
      </p:pic>
      <p:sp>
        <p:nvSpPr>
          <p:cNvPr id="291" name="RB Title 5-0"/>
          <p:cNvSpPr txBox="1"/>
          <p:nvPr/>
        </p:nvSpPr>
        <p:spPr>
          <a:xfrm>
            <a:off x="8595360" y="2157984"/>
            <a:ext cx="13167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0182B"/>
                </a:solidFill>
                <a:latin typeface="Segoe UI"/>
              </a:rPr>
              <a:t>Observability Score</a:t>
            </a:r>
          </a:p>
        </p:txBody>
      </p:sp>
      <p:sp>
        <p:nvSpPr>
          <p:cNvPr id="292" name="RB Desc 5-0"/>
          <p:cNvSpPr txBox="1"/>
          <p:nvPr/>
        </p:nvSpPr>
        <p:spPr>
          <a:xfrm>
            <a:off x="8595360" y="2359152"/>
            <a:ext cx="13167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55637D"/>
                </a:solidFill>
                <a:latin typeface="Segoe UI"/>
              </a:rPr>
              <a:t>Scorecard &amp; certification per asset</a:t>
            </a:r>
          </a:p>
        </p:txBody>
      </p:sp>
      <p:sp>
        <p:nvSpPr>
          <p:cNvPr id="293" name="RB Cta 5-0"/>
          <p:cNvSpPr txBox="1"/>
          <p:nvPr/>
        </p:nvSpPr>
        <p:spPr>
          <a:xfrm>
            <a:off x="8595360" y="2660904"/>
            <a:ext cx="131673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DA2837"/>
                </a:solidFill>
                <a:latin typeface="Segoe UI"/>
              </a:rPr>
              <a:t>View scorecard  →</a:t>
            </a:r>
          </a:p>
        </p:txBody>
      </p:sp>
      <p:sp>
        <p:nvSpPr>
          <p:cNvPr id="294" name="RB Card 5-1"/>
          <p:cNvSpPr/>
          <p:nvPr/>
        </p:nvSpPr>
        <p:spPr>
          <a:xfrm>
            <a:off x="8503920" y="2907792"/>
            <a:ext cx="1499616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5" name="RB Icon 5-1" descr="synthetic-alertin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95360" y="2990088"/>
            <a:ext cx="237744" cy="237744"/>
          </a:xfrm>
          <a:prstGeom prst="rect">
            <a:avLst/>
          </a:prstGeom>
          <a:effectLst/>
        </p:spPr>
      </p:pic>
      <p:sp>
        <p:nvSpPr>
          <p:cNvPr id="296" name="RB Title 5-1"/>
          <p:cNvSpPr txBox="1"/>
          <p:nvPr/>
        </p:nvSpPr>
        <p:spPr>
          <a:xfrm>
            <a:off x="8595360" y="3236976"/>
            <a:ext cx="13167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0182B"/>
                </a:solidFill>
                <a:latin typeface="Segoe UI"/>
              </a:rPr>
              <a:t>Synthetic Alerting</a:t>
            </a:r>
          </a:p>
        </p:txBody>
      </p:sp>
      <p:sp>
        <p:nvSpPr>
          <p:cNvPr id="297" name="RB Desc 5-1"/>
          <p:cNvSpPr txBox="1"/>
          <p:nvPr/>
        </p:nvSpPr>
        <p:spPr>
          <a:xfrm>
            <a:off x="8595360" y="3438144"/>
            <a:ext cx="13167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55637D"/>
                </a:solidFill>
                <a:latin typeface="Segoe UI"/>
              </a:rPr>
              <a:t>End-to-end fire drills — [DRILL] ticket out</a:t>
            </a:r>
          </a:p>
        </p:txBody>
      </p:sp>
      <p:sp>
        <p:nvSpPr>
          <p:cNvPr id="298" name="RB Cta 5-1"/>
          <p:cNvSpPr txBox="1"/>
          <p:nvPr/>
        </p:nvSpPr>
        <p:spPr>
          <a:xfrm>
            <a:off x="8595360" y="3739896"/>
            <a:ext cx="131673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DA2837"/>
                </a:solidFill>
                <a:latin typeface="Segoe UI"/>
              </a:rPr>
              <a:t>Run a drill  →</a:t>
            </a:r>
          </a:p>
        </p:txBody>
      </p:sp>
      <p:sp>
        <p:nvSpPr>
          <p:cNvPr id="299" name="RB Card 5-2"/>
          <p:cNvSpPr/>
          <p:nvPr/>
        </p:nvSpPr>
        <p:spPr>
          <a:xfrm>
            <a:off x="8503920" y="3986784"/>
            <a:ext cx="1499616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0" name="RB Icon 5-2" descr="alert-suppressio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95360" y="4069080"/>
            <a:ext cx="237744" cy="237744"/>
          </a:xfrm>
          <a:prstGeom prst="rect">
            <a:avLst/>
          </a:prstGeom>
          <a:effectLst/>
        </p:spPr>
      </p:pic>
      <p:sp>
        <p:nvSpPr>
          <p:cNvPr id="301" name="RB Title 5-2"/>
          <p:cNvSpPr txBox="1"/>
          <p:nvPr/>
        </p:nvSpPr>
        <p:spPr>
          <a:xfrm>
            <a:off x="8595360" y="4315968"/>
            <a:ext cx="13167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0182B"/>
                </a:solidFill>
                <a:latin typeface="Segoe UI"/>
              </a:rPr>
              <a:t>Alert Suppression</a:t>
            </a:r>
          </a:p>
        </p:txBody>
      </p:sp>
      <p:sp>
        <p:nvSpPr>
          <p:cNvPr id="302" name="RB Desc 5-2"/>
          <p:cNvSpPr txBox="1"/>
          <p:nvPr/>
        </p:nvSpPr>
        <p:spPr>
          <a:xfrm>
            <a:off x="8595360" y="4517136"/>
            <a:ext cx="13167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55637D"/>
                </a:solidFill>
                <a:latin typeface="Segoe UI"/>
              </a:rPr>
              <a:t>Governed change windows, auto-expiring</a:t>
            </a:r>
          </a:p>
        </p:txBody>
      </p:sp>
      <p:sp>
        <p:nvSpPr>
          <p:cNvPr id="303" name="RB Cta 5-2"/>
          <p:cNvSpPr txBox="1"/>
          <p:nvPr/>
        </p:nvSpPr>
        <p:spPr>
          <a:xfrm>
            <a:off x="8595360" y="4818888"/>
            <a:ext cx="131673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DA2837"/>
                </a:solidFill>
                <a:latin typeface="Segoe UI"/>
              </a:rPr>
              <a:t>Schedule window  →</a:t>
            </a:r>
          </a:p>
        </p:txBody>
      </p:sp>
      <p:sp>
        <p:nvSpPr>
          <p:cNvPr id="304" name="RB Date 6"/>
          <p:cNvSpPr txBox="1"/>
          <p:nvPr/>
        </p:nvSpPr>
        <p:spPr>
          <a:xfrm>
            <a:off x="10094976" y="1298448"/>
            <a:ext cx="149961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Segoe UI"/>
              </a:rPr>
              <a:t>2028</a:t>
            </a:r>
          </a:p>
        </p:txBody>
      </p:sp>
      <p:sp>
        <p:nvSpPr>
          <p:cNvPr id="305" name="RB Kicker 6"/>
          <p:cNvSpPr txBox="1"/>
          <p:nvPr/>
        </p:nvSpPr>
        <p:spPr>
          <a:xfrm>
            <a:off x="10094976" y="1508760"/>
            <a:ext cx="14996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1">
                <a:solidFill>
                  <a:srgbClr val="7A808A"/>
                </a:solidFill>
                <a:latin typeface="Segoe UI"/>
              </a:rPr>
              <a:t>INTELLIGENCE</a:t>
            </a:r>
          </a:p>
        </p:txBody>
      </p:sp>
      <p:sp>
        <p:nvSpPr>
          <p:cNvPr id="306" name="RB Accent 6"/>
          <p:cNvSpPr/>
          <p:nvPr/>
        </p:nvSpPr>
        <p:spPr>
          <a:xfrm>
            <a:off x="10094976" y="1700784"/>
            <a:ext cx="457200" cy="2560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B Card 6-0"/>
          <p:cNvSpPr/>
          <p:nvPr/>
        </p:nvSpPr>
        <p:spPr>
          <a:xfrm>
            <a:off x="10094976" y="1828800"/>
            <a:ext cx="1499616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8" name="RB Icon 6-0" descr="observability-brai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86416" y="1911096"/>
            <a:ext cx="237744" cy="237744"/>
          </a:xfrm>
          <a:prstGeom prst="rect">
            <a:avLst/>
          </a:prstGeom>
          <a:effectLst/>
        </p:spPr>
      </p:pic>
      <p:sp>
        <p:nvSpPr>
          <p:cNvPr id="309" name="RB Title 6-0"/>
          <p:cNvSpPr txBox="1"/>
          <p:nvPr/>
        </p:nvSpPr>
        <p:spPr>
          <a:xfrm>
            <a:off x="10186416" y="2157984"/>
            <a:ext cx="13167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0182B"/>
                </a:solidFill>
                <a:latin typeface="Segoe UI"/>
              </a:rPr>
              <a:t>Observability Brain</a:t>
            </a:r>
          </a:p>
        </p:txBody>
      </p:sp>
      <p:sp>
        <p:nvSpPr>
          <p:cNvPr id="310" name="RB Desc 6-0"/>
          <p:cNvSpPr txBox="1"/>
          <p:nvPr/>
        </p:nvSpPr>
        <p:spPr>
          <a:xfrm>
            <a:off x="10186416" y="2359152"/>
            <a:ext cx="13167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55637D"/>
                </a:solidFill>
                <a:latin typeface="Segoe UI"/>
              </a:rPr>
              <a:t>The oracle — grounded answers over the second brain</a:t>
            </a:r>
          </a:p>
        </p:txBody>
      </p:sp>
      <p:sp>
        <p:nvSpPr>
          <p:cNvPr id="311" name="RB Cta 6-0"/>
          <p:cNvSpPr txBox="1"/>
          <p:nvPr/>
        </p:nvSpPr>
        <p:spPr>
          <a:xfrm>
            <a:off x="10186416" y="2660904"/>
            <a:ext cx="131673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DA2837"/>
                </a:solidFill>
                <a:latin typeface="Segoe UI"/>
              </a:rPr>
              <a:t>Ask the Brain  →</a:t>
            </a:r>
          </a:p>
        </p:txBody>
      </p:sp>
      <p:sp>
        <p:nvSpPr>
          <p:cNvPr id="312" name="RB Pill 0-0"/>
          <p:cNvSpPr/>
          <p:nvPr/>
        </p:nvSpPr>
        <p:spPr>
          <a:xfrm>
            <a:off x="1618488" y="1892808"/>
            <a:ext cx="365760" cy="155448"/>
          </a:xfrm>
          <a:prstGeom prst="roundRect">
            <a:avLst>
              <a:gd name="adj" fmla="val 50000"/>
            </a:avLst>
          </a:prstGeom>
          <a:solidFill>
            <a:srgbClr val="E0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650" b="1">
                <a:solidFill>
                  <a:srgbClr val="157A48"/>
                </a:solidFill>
                <a:latin typeface="Segoe UI"/>
              </a:rPr>
              <a:t>LIVE</a:t>
            </a:r>
          </a:p>
        </p:txBody>
      </p:sp>
      <p:sp>
        <p:nvSpPr>
          <p:cNvPr id="313" name="RB Pill 0-1"/>
          <p:cNvSpPr/>
          <p:nvPr/>
        </p:nvSpPr>
        <p:spPr>
          <a:xfrm>
            <a:off x="1271016" y="2971800"/>
            <a:ext cx="713232" cy="155448"/>
          </a:xfrm>
          <a:prstGeom prst="roundRect">
            <a:avLst>
              <a:gd name="adj" fmla="val 50000"/>
            </a:avLst>
          </a:prstGeom>
          <a:solidFill>
            <a:srgbClr val="FB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650" b="1">
                <a:solidFill>
                  <a:srgbClr val="A86A08"/>
                </a:solidFill>
                <a:latin typeface="Segoe UI"/>
              </a:rPr>
              <a:t>IN PROGRESS</a:t>
            </a:r>
          </a:p>
        </p:txBody>
      </p:sp>
      <p:sp>
        <p:nvSpPr>
          <p:cNvPr id="314" name="RB Pill 0-2"/>
          <p:cNvSpPr/>
          <p:nvPr/>
        </p:nvSpPr>
        <p:spPr>
          <a:xfrm>
            <a:off x="1271016" y="4050792"/>
            <a:ext cx="713232" cy="155448"/>
          </a:xfrm>
          <a:prstGeom prst="roundRect">
            <a:avLst>
              <a:gd name="adj" fmla="val 50000"/>
            </a:avLst>
          </a:prstGeom>
          <a:solidFill>
            <a:srgbClr val="FB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650" b="1">
                <a:solidFill>
                  <a:srgbClr val="A86A08"/>
                </a:solidFill>
                <a:latin typeface="Segoe UI"/>
              </a:rPr>
              <a:t>IN PROGRESS</a:t>
            </a:r>
          </a:p>
        </p:txBody>
      </p:sp>
      <p:sp>
        <p:nvSpPr>
          <p:cNvPr id="315" name="RB Pill 0-3"/>
          <p:cNvSpPr/>
          <p:nvPr/>
        </p:nvSpPr>
        <p:spPr>
          <a:xfrm>
            <a:off x="1271016" y="5129784"/>
            <a:ext cx="713232" cy="155448"/>
          </a:xfrm>
          <a:prstGeom prst="roundRect">
            <a:avLst>
              <a:gd name="adj" fmla="val 50000"/>
            </a:avLst>
          </a:prstGeom>
          <a:solidFill>
            <a:srgbClr val="FB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650" b="1">
                <a:solidFill>
                  <a:srgbClr val="A86A08"/>
                </a:solidFill>
                <a:latin typeface="Segoe UI"/>
              </a:rPr>
              <a:t>IN PROGRESS</a:t>
            </a:r>
          </a:p>
        </p:txBody>
      </p:sp>
      <p:sp>
        <p:nvSpPr>
          <p:cNvPr id="316" name="RB Pill 1-0"/>
          <p:cNvSpPr/>
          <p:nvPr/>
        </p:nvSpPr>
        <p:spPr>
          <a:xfrm>
            <a:off x="2862072" y="1892808"/>
            <a:ext cx="713232" cy="155448"/>
          </a:xfrm>
          <a:prstGeom prst="roundRect">
            <a:avLst>
              <a:gd name="adj" fmla="val 50000"/>
            </a:avLst>
          </a:prstGeom>
          <a:solidFill>
            <a:srgbClr val="FB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650" b="1">
                <a:solidFill>
                  <a:srgbClr val="A86A08"/>
                </a:solidFill>
                <a:latin typeface="Segoe UI"/>
              </a:rPr>
              <a:t>IN PROGRESS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822960"/>
            <a:ext cx="822960" cy="4114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9D2DD"/>
                </a:solidFill>
                <a:latin typeface="Segoe U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What we need from this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23160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2E74B5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4231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Endorse the direction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807208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C9D2DD"/>
                </a:solidFill>
                <a:latin typeface="Segoe UI"/>
              </a:rPr>
              <a:t>The Portal as the single front door for observability, and self-service as the default way of working.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2E74B5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661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Hold teams to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950208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C9D2DD"/>
                </a:solidFill>
                <a:latin typeface="Segoe UI"/>
              </a:rPr>
              <a:t>New monitoring requests go through the Portal as slices come live — not around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09160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2E74B5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7091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Protect the focus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093208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C9D2DD"/>
                </a:solidFill>
                <a:latin typeface="Segoe UI"/>
              </a:rPr>
              <a:t>The platform team finishes the current milestone (30 September 2026) and onboards the next tool — rather than being absorbed back into the queue the Portal is retiring.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9788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C9D2DD"/>
                </a:solidFill>
                <a:latin typeface="Segoe UI"/>
              </a:rPr>
              <a:t>The cost of the old way is so familiar it has become invisible. The Portal makes it visible — and then removes 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3E4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C9D2DD"/>
                </a:solidFill>
                <a:latin typeface="Segoe UI"/>
              </a:rPr>
              <a:t>Observability Portal — Executive Briefing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C9D2DD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822960"/>
            <a:ext cx="822960" cy="4114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9D2DD"/>
                </a:solidFill>
                <a:latin typeface="Segoe UI"/>
              </a:rPr>
              <a:t>Q&amp;A ·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The four questions we ask ourselves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2E74B5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What has been done?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468879"/>
            <a:ext cx="969264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C9D2DD"/>
                </a:solidFill>
                <a:latin typeface="Segoe UI"/>
              </a:rPr>
              <a:t>The first slice — DX UIM alerting — runs end to end and is in hardening: guided request, PR approval, automated activation, notification, git record. The full 20-service catalogue is designed and demoable in one design language; architecture, data model, and delivery plan are written down.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72384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2E74B5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7238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When is production — and what will it offer?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438144"/>
            <a:ext cx="969264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C9D2DD"/>
                </a:solidFill>
                <a:latin typeface="Segoe UI"/>
              </a:rPr>
              <a:t>Hardening completes 30 Sep 2026; the Foundation tranche goes live early Q4 2026 (remaining gates: TLS, PROD credentials, change approval). Day one: self-service Process, Log &amp; CDM monitoring for Open Systems plus asset registration — approved by PR, activated automatically, recorded in git.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41648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2E74B5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When does it wrap up?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07408"/>
            <a:ext cx="969264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C9D2DD"/>
                </a:solidFill>
                <a:latin typeface="Segoe UI"/>
              </a:rPr>
              <a:t>The service catalogue completes through 2027 — expansion in H1, visibility in Q3, assurance in Q4 — and the Brain lands in 2028. The programme wraps; the Portal continues as a product: a new service is a new wizard and a new translator on the same pattern, not a new project.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05332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C9D2DD"/>
                </a:solidFill>
                <a:latin typeface="Segoe UI"/>
              </a:rPr>
              <a:t>First we automate the work, then we prove it works — then the platform starts answering and proposing itself.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3E4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C9D2DD"/>
                </a:solidFill>
                <a:latin typeface="Segoe UI"/>
              </a:rPr>
              <a:t>Observability Portal — Executive Briefing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C9D2DD"/>
                </a:solidFill>
                <a:latin typeface="Segoe UI"/>
              </a:rPr>
              <a:t>7</a:t>
            </a:r>
          </a:p>
        </p:txBody>
      </p:sp>
      <p:sp>
        <p:nvSpPr>
          <p:cNvPr id="900" name="TextBox 10 Q4"/>
          <p:cNvSpPr txBox="1"/>
          <p:nvPr/>
        </p:nvSpPr>
        <p:spPr>
          <a:xfrm>
            <a:off x="548640" y="5010912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2E74B5"/>
                </a:solidFill>
                <a:latin typeface="Segoe UI"/>
              </a:rPr>
              <a:t>4</a:t>
            </a:r>
          </a:p>
        </p:txBody>
      </p:sp>
      <p:sp>
        <p:nvSpPr>
          <p:cNvPr id="901" name="TextBox 11 Q4"/>
          <p:cNvSpPr txBox="1"/>
          <p:nvPr/>
        </p:nvSpPr>
        <p:spPr>
          <a:xfrm>
            <a:off x="1371600" y="501091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What comes toward the end?</a:t>
            </a:r>
          </a:p>
        </p:txBody>
      </p:sp>
      <p:sp>
        <p:nvSpPr>
          <p:cNvPr id="902" name="TextBox 12 Q4"/>
          <p:cNvSpPr txBox="1"/>
          <p:nvPr/>
        </p:nvSpPr>
        <p:spPr>
          <a:xfrm>
            <a:off x="1371600" y="5376672"/>
            <a:ext cx="969264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C9D2DD"/>
                </a:solidFill>
                <a:latin typeface="Segoe UI"/>
              </a:rPr>
              <a:t>The features only a recorded estate makes possible: daily reconciliation Reports, the Observability Score with certification, Synthetic fire-drills, governed Suppression — then the Brain: grounded answers, PR summaries for approvers, AI-drafted changes under the same approval gate.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