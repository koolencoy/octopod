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An Observability Transformation</a:t>
            </a:r>
            <a:r>
              <a:rPr sz="1100" b="0">
                <a:solidFill>
                  <a:srgbClr val="7A808A"/>
                </a:solidFill>
                <a:latin typeface="Segoe UI"/>
              </a:rPr>
              <a:t> — an evolution of how observability is run: full user self-service, practised as platform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The Portal is a product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part of every engineer’s toolset, built on open-source Backstage: engineers enable themselves across the platform tools behind it. Users see services, never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And it is the channel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the elimination of </a:t>
            </a:r>
            <a:r>
              <a:rPr sz="1000" b="1">
                <a:solidFill>
                  <a:srgbClr val="1B2A41"/>
                </a:solidFill>
                <a:latin typeface="Segoe UI"/>
              </a:rPr>
              <a:t>institutional blind spots.</a:t>
            </a:r>
            <a:r>
              <a:rPr sz="1000" b="0">
                <a:solidFill>
                  <a:srgbClr val="7A808A"/>
                </a:solidFill>
                <a:latin typeface="Segoe UI"/>
              </a:rPr>
              <a:t> Ownership, process, and status cease to be tribal knowledge held by individuals; they become published capabilities of one platform. </a:t>
            </a:r>
            <a:r>
              <a:rPr sz="1000" b="1">
                <a:solidFill>
                  <a:srgbClr val="1B2A41"/>
                </a:solidFill>
                <a:latin typeface="Segoe UI"/>
              </a:rPr>
              <a:t>Automation does the work; open governance keeps it visible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a single front door for every enquiry and request: open book, self-service, always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Remove every barrier to entry: any engineer switches observability on in minutes, correctly, without knowing the tools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coverage provable: continuously verify that what should be observed is observed — and works — before an incident asks.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45059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knowledge self-serve: every answer about the estate available instantly, grounded in the source of truth and cited.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Ask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2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14800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6" name="Chevron 35"/>
          <p:cNvSpPr/>
          <p:nvPr/>
        </p:nvSpPr>
        <p:spPr>
          <a:xfrm>
            <a:off x="548640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Assisted Request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self-service, done in minutes</a:t>
            </a:r>
          </a:p>
        </p:txBody>
      </p:sp>
      <p:sp>
        <p:nvSpPr>
          <p:cNvPr id="37" name="Chevron 36"/>
          <p:cNvSpPr/>
          <p:nvPr/>
        </p:nvSpPr>
        <p:spPr>
          <a:xfrm>
            <a:off x="2752344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Maker–Checker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approval via pull request</a:t>
            </a:r>
          </a:p>
        </p:txBody>
      </p:sp>
      <p:sp>
        <p:nvSpPr>
          <p:cNvPr id="38" name="Chevron 37"/>
          <p:cNvSpPr/>
          <p:nvPr/>
        </p:nvSpPr>
        <p:spPr>
          <a:xfrm>
            <a:off x="4956048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1B2A41"/>
                </a:solidFill>
                <a:latin typeface="Segoe UI"/>
              </a:rPr>
              <a:t>Git — the record</a:t>
            </a:r>
          </a:p>
          <a:p>
            <a:pPr algn="ctr"/>
            <a:r>
              <a:rPr sz="800">
                <a:solidFill>
                  <a:srgbClr val="2E74B5"/>
                </a:solidFill>
                <a:latin typeface="Segoe UI"/>
              </a:rPr>
              <a:t>the single source of truth</a:t>
            </a:r>
          </a:p>
        </p:txBody>
      </p:sp>
      <p:sp>
        <p:nvSpPr>
          <p:cNvPr id="39" name="Chevron 38"/>
          <p:cNvSpPr/>
          <p:nvPr/>
        </p:nvSpPr>
        <p:spPr>
          <a:xfrm>
            <a:off x="7159752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no manual changes</a:t>
            </a:r>
          </a:p>
        </p:txBody>
      </p:sp>
      <p:sp>
        <p:nvSpPr>
          <p:cNvPr id="40" name="Chevron 39"/>
          <p:cNvSpPr/>
          <p:nvPr/>
        </p:nvSpPr>
        <p:spPr>
          <a:xfrm>
            <a:off x="9363456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Drift detection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continuous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5721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guided,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 </a:t>
            </a:r>
            <a:r>
              <a:rPr sz="1100" b="1">
                <a:solidFill>
                  <a:srgbClr val="1B2A41"/>
                </a:solidFill>
                <a:latin typeface="Segoe UI"/>
              </a:rPr>
              <a:t>Drift is impossible by construction — not fought by discipline.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9612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0585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The tools kept modernising — the practice stood still</a:t>
            </a:r>
            <a:r>
              <a:rPr sz="1150" b="0">
                <a:solidFill>
                  <a:srgbClr val="7A808A"/>
                </a:solidFill>
                <a:latin typeface="Segoe UI"/>
              </a:rPr>
              <a:t> — a decade invested in platforms, with no innovation in how observability itself is done: siloed automation, no continuity, while the estate it watches exploded.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 sprawl of tools, no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Complex platforms grown side by side, with no singular product to orchestrate them — enabling yourself depends on finding the right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No knowable way to “do observability”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documentation exists — Confluence pages grown stale, bloated, and burdensome. Nobody trusts them; everybody falls back to 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Operations struck and 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Massive volume, the same stale problems arriving daily. With the explosion of microservices and AI, operational fatigue is the common illness.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VALUE ARISES NATURALLY — A NATURAL EFFECT OF THE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An evolution, not a fix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engineers freed from toil back to engineering; a self-service culture; knowledge that compounds instead of decays.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The next frontier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once decided, the second brain unlocks AI-guided operations: proactive, predictive observability, and a platform-engineering pattern the wider bank can reuse.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Guided request form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 step-by-step wizard captures the need and produces one standard, tool-neutral request document.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Auto-filed to git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portal files the request in git automatically — its own branch, ready for review. No human touches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22128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 · THE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755648"/>
            <a:ext cx="19385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Approve &amp; merge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approver merges the change — the merge IS the approval, and git keeps the permanent record: who, what, when.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615184"/>
            <a:ext cx="19385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triggers automation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moment a change lands, git signals the automation — no scheduler, no queue, no hand-off.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419856"/>
            <a:ext cx="193852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Every tool’s configuration in its own repository, under one shared convention.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 ·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5" y="1755648"/>
            <a:ext cx="202996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Reads the approved change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Automation reads exactly what was approved — one change, one file, or a full re-sync to repair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2688336"/>
            <a:ext cx="202996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standard request is translated into each tool’s own language and applied — safe to re-run, retried on failure, credentials vaulted.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5" y="3547872"/>
            <a:ext cx="2029967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Automation can read the record — it can never rewrite it.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85623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68" y="1700784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47802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2322576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logs &amp;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30998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2944368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network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72160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566160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events → tickets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187952"/>
            <a:ext cx="9326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Requester notified — every time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success reported live; failure reported loudly and flagged critical, so the record and reality can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08576"/>
            <a:ext cx="9326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check reads the live configuration back from every tool and compares it with the record. Anything changed directly on a tool surfaces as drift: the owner is notified, the Reports service shows the difference, and the fix stays governed — a safe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578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20640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Documentation lives beside the configuration and is rendered straight from it — every asset registered with its owner, dashboards, and docs attached.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— the portal writes the record, automation reads it  ·  every action is safe to repeat  ·  nothing is ever deleted implicitly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213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888736"/>
            <a:ext cx="10378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Ping / call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963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9655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1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Confluence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051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Jira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446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7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Manual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6883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3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Slow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Observability is the supporting cast — and the punching bag when incidents hit: essential to everyone, invested in by no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tools modernised into a bigger stack of boxes — complexity grew with the organisation, but no continuity of automation grew with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human IS the workflow: every request, change, and answer routes through an engineer by hand (Confluence page → Jira ticket → manual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dependency is now dangerous: even SME engineers make mistakes — fatigue turns expertise into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No human can keep up with the scaling rule — volume grows with the estate; the team does not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0416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05872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10607040" cy="20116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192256" y="1636776"/>
            <a:ext cx="256032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Twenty services, one design language — foundation and the log stack are demoable today; the roadmap is activation order. Why this order: harden the live slice → land the log stack together → expansion rides the proven pattern (new wizard, new translator, same governance) → visibility needs reconciliation across the grown estate → assurance needs assets worth scoring → the Brain reads everything recorded before it.</a:t>
            </a:r>
            <a:r>
              <a:rPr sz="850" b="0">
                <a:solidFill>
                  <a:srgbClr val="40444B"/>
                </a:solidFill>
                <a:latin typeface="Segoe U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  <p:sp>
        <p:nvSpPr>
          <p:cNvPr id="186" name="RB Date 0"/>
          <p:cNvSpPr txBox="1"/>
          <p:nvPr/>
        </p:nvSpPr>
        <p:spPr>
          <a:xfrm>
            <a:off x="548640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2026</a:t>
            </a:r>
          </a:p>
        </p:txBody>
      </p:sp>
      <p:sp>
        <p:nvSpPr>
          <p:cNvPr id="187" name="RB Kicker 0"/>
          <p:cNvSpPr txBox="1"/>
          <p:nvPr/>
        </p:nvSpPr>
        <p:spPr>
          <a:xfrm>
            <a:off x="548640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FOUNDATION</a:t>
            </a:r>
          </a:p>
        </p:txBody>
      </p:sp>
      <p:sp>
        <p:nvSpPr>
          <p:cNvPr id="188" name="RB Accent 0"/>
          <p:cNvSpPr/>
          <p:nvPr/>
        </p:nvSpPr>
        <p:spPr>
          <a:xfrm>
            <a:off x="5486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B Card 0-0"/>
          <p:cNvSpPr/>
          <p:nvPr/>
        </p:nvSpPr>
        <p:spPr>
          <a:xfrm>
            <a:off x="548640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RB Icon 0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1096"/>
            <a:ext cx="237744" cy="237744"/>
          </a:xfrm>
          <a:prstGeom prst="rect">
            <a:avLst/>
          </a:prstGeom>
          <a:effectLst/>
        </p:spPr>
      </p:pic>
      <p:sp>
        <p:nvSpPr>
          <p:cNvPr id="191" name="RB Title 0-0"/>
          <p:cNvSpPr txBox="1"/>
          <p:nvPr/>
        </p:nvSpPr>
        <p:spPr>
          <a:xfrm>
            <a:off x="640080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Process Monitoring</a:t>
            </a:r>
          </a:p>
        </p:txBody>
      </p:sp>
      <p:sp>
        <p:nvSpPr>
          <p:cNvPr id="192" name="RB Desc 0-0"/>
          <p:cNvSpPr txBox="1"/>
          <p:nvPr/>
        </p:nvSpPr>
        <p:spPr>
          <a:xfrm>
            <a:off x="640080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 named process up or down — alert on state change</a:t>
            </a:r>
          </a:p>
        </p:txBody>
      </p:sp>
      <p:sp>
        <p:nvSpPr>
          <p:cNvPr id="193" name="RB Cta 0-0"/>
          <p:cNvSpPr txBox="1"/>
          <p:nvPr/>
        </p:nvSpPr>
        <p:spPr>
          <a:xfrm>
            <a:off x="640080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4" name="RB Card 0-1"/>
          <p:cNvSpPr/>
          <p:nvPr/>
        </p:nvSpPr>
        <p:spPr>
          <a:xfrm>
            <a:off x="548640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RB Icon 0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37744" cy="237744"/>
          </a:xfrm>
          <a:prstGeom prst="rect">
            <a:avLst/>
          </a:prstGeom>
          <a:effectLst/>
        </p:spPr>
      </p:pic>
      <p:sp>
        <p:nvSpPr>
          <p:cNvPr id="196" name="RB Title 0-1"/>
          <p:cNvSpPr txBox="1"/>
          <p:nvPr/>
        </p:nvSpPr>
        <p:spPr>
          <a:xfrm>
            <a:off x="640080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Log Monitoring</a:t>
            </a:r>
          </a:p>
        </p:txBody>
      </p:sp>
      <p:sp>
        <p:nvSpPr>
          <p:cNvPr id="197" name="RB Desc 0-1"/>
          <p:cNvSpPr txBox="1"/>
          <p:nvPr/>
        </p:nvSpPr>
        <p:spPr>
          <a:xfrm>
            <a:off x="640080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Keyword &amp; pattern alerts on any log file</a:t>
            </a:r>
          </a:p>
        </p:txBody>
      </p:sp>
      <p:sp>
        <p:nvSpPr>
          <p:cNvPr id="198" name="RB Cta 0-1"/>
          <p:cNvSpPr txBox="1"/>
          <p:nvPr/>
        </p:nvSpPr>
        <p:spPr>
          <a:xfrm>
            <a:off x="640080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9" name="RB Card 0-2"/>
          <p:cNvSpPr/>
          <p:nvPr/>
        </p:nvSpPr>
        <p:spPr>
          <a:xfrm>
            <a:off x="548640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RB Icon 0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237744" cy="237744"/>
          </a:xfrm>
          <a:prstGeom prst="rect">
            <a:avLst/>
          </a:prstGeom>
          <a:effectLst/>
        </p:spPr>
      </p:pic>
      <p:sp>
        <p:nvSpPr>
          <p:cNvPr id="201" name="RB Title 0-2"/>
          <p:cNvSpPr txBox="1"/>
          <p:nvPr/>
        </p:nvSpPr>
        <p:spPr>
          <a:xfrm>
            <a:off x="640080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CDM Monitoring</a:t>
            </a:r>
          </a:p>
        </p:txBody>
      </p:sp>
      <p:sp>
        <p:nvSpPr>
          <p:cNvPr id="202" name="RB Desc 0-2"/>
          <p:cNvSpPr txBox="1"/>
          <p:nvPr/>
        </p:nvSpPr>
        <p:spPr>
          <a:xfrm>
            <a:off x="640080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CPU, disk &amp; memory thresholds per host</a:t>
            </a:r>
          </a:p>
        </p:txBody>
      </p:sp>
      <p:sp>
        <p:nvSpPr>
          <p:cNvPr id="203" name="RB Cta 0-2"/>
          <p:cNvSpPr txBox="1"/>
          <p:nvPr/>
        </p:nvSpPr>
        <p:spPr>
          <a:xfrm>
            <a:off x="640080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204" name="RB Card 0-3"/>
          <p:cNvSpPr/>
          <p:nvPr/>
        </p:nvSpPr>
        <p:spPr>
          <a:xfrm>
            <a:off x="548640" y="5065776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5" name="RB Icon 0-3" descr="register-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48072"/>
            <a:ext cx="237744" cy="237744"/>
          </a:xfrm>
          <a:prstGeom prst="rect">
            <a:avLst/>
          </a:prstGeom>
          <a:effectLst/>
        </p:spPr>
      </p:pic>
      <p:sp>
        <p:nvSpPr>
          <p:cNvPr id="206" name="RB Title 0-3"/>
          <p:cNvSpPr txBox="1"/>
          <p:nvPr/>
        </p:nvSpPr>
        <p:spPr>
          <a:xfrm>
            <a:off x="640080" y="5394960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Register Asset</a:t>
            </a:r>
          </a:p>
        </p:txBody>
      </p:sp>
      <p:sp>
        <p:nvSpPr>
          <p:cNvPr id="207" name="RB Desc 0-3"/>
          <p:cNvSpPr txBox="1"/>
          <p:nvPr/>
        </p:nvSpPr>
        <p:spPr>
          <a:xfrm>
            <a:off x="640080" y="5596128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Ad-hoc registration into the catalog</a:t>
            </a:r>
          </a:p>
        </p:txBody>
      </p:sp>
      <p:sp>
        <p:nvSpPr>
          <p:cNvPr id="208" name="RB Cta 0-3"/>
          <p:cNvSpPr txBox="1"/>
          <p:nvPr/>
        </p:nvSpPr>
        <p:spPr>
          <a:xfrm>
            <a:off x="640080" y="5897880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Register now  →</a:t>
            </a:r>
          </a:p>
        </p:txBody>
      </p:sp>
      <p:sp>
        <p:nvSpPr>
          <p:cNvPr id="209" name="RB Date 1"/>
          <p:cNvSpPr txBox="1"/>
          <p:nvPr/>
        </p:nvSpPr>
        <p:spPr>
          <a:xfrm>
            <a:off x="2139696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2026</a:t>
            </a:r>
          </a:p>
        </p:txBody>
      </p:sp>
      <p:sp>
        <p:nvSpPr>
          <p:cNvPr id="210" name="RB Kicker 1"/>
          <p:cNvSpPr txBox="1"/>
          <p:nvPr/>
        </p:nvSpPr>
        <p:spPr>
          <a:xfrm>
            <a:off x="2139696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LOGS &amp; AGENTS</a:t>
            </a:r>
          </a:p>
        </p:txBody>
      </p:sp>
      <p:sp>
        <p:nvSpPr>
          <p:cNvPr id="211" name="RB Accent 1"/>
          <p:cNvSpPr/>
          <p:nvPr/>
        </p:nvSpPr>
        <p:spPr>
          <a:xfrm>
            <a:off x="2139696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B Card 1-0"/>
          <p:cNvSpPr/>
          <p:nvPr/>
        </p:nvSpPr>
        <p:spPr>
          <a:xfrm>
            <a:off x="2139696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RB Icon 1-0" descr="elk-log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1911096"/>
            <a:ext cx="237744" cy="237744"/>
          </a:xfrm>
          <a:prstGeom prst="rect">
            <a:avLst/>
          </a:prstGeom>
          <a:effectLst/>
        </p:spPr>
      </p:pic>
      <p:sp>
        <p:nvSpPr>
          <p:cNvPr id="214" name="RB Title 1-0"/>
          <p:cNvSpPr txBox="1"/>
          <p:nvPr/>
        </p:nvSpPr>
        <p:spPr>
          <a:xfrm>
            <a:off x="2231136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ELK Log Onboarding</a:t>
            </a:r>
          </a:p>
        </p:txBody>
      </p:sp>
      <p:sp>
        <p:nvSpPr>
          <p:cNvPr id="215" name="RB Desc 1-0"/>
          <p:cNvSpPr txBox="1"/>
          <p:nvPr/>
        </p:nvSpPr>
        <p:spPr>
          <a:xfrm>
            <a:off x="2231136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Agents, Kafka, parsers, indices — one request</a:t>
            </a:r>
          </a:p>
        </p:txBody>
      </p:sp>
      <p:sp>
        <p:nvSpPr>
          <p:cNvPr id="216" name="RB Cta 1-0"/>
          <p:cNvSpPr txBox="1"/>
          <p:nvPr/>
        </p:nvSpPr>
        <p:spPr>
          <a:xfrm>
            <a:off x="2231136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Start onboarding  →</a:t>
            </a:r>
          </a:p>
        </p:txBody>
      </p:sp>
      <p:sp>
        <p:nvSpPr>
          <p:cNvPr id="217" name="RB Card 1-1"/>
          <p:cNvSpPr/>
          <p:nvPr/>
        </p:nvSpPr>
        <p:spPr>
          <a:xfrm>
            <a:off x="2139696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RB Icon 1-1" descr="install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136" y="2990088"/>
            <a:ext cx="237744" cy="237744"/>
          </a:xfrm>
          <a:prstGeom prst="rect">
            <a:avLst/>
          </a:prstGeom>
          <a:effectLst/>
        </p:spPr>
      </p:pic>
      <p:sp>
        <p:nvSpPr>
          <p:cNvPr id="219" name="RB Title 1-1"/>
          <p:cNvSpPr txBox="1"/>
          <p:nvPr/>
        </p:nvSpPr>
        <p:spPr>
          <a:xfrm>
            <a:off x="2231136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Install Agent</a:t>
            </a:r>
          </a:p>
        </p:txBody>
      </p:sp>
      <p:sp>
        <p:nvSpPr>
          <p:cNvPr id="220" name="RB Desc 1-1"/>
          <p:cNvSpPr txBox="1"/>
          <p:nvPr/>
        </p:nvSpPr>
        <p:spPr>
          <a:xfrm>
            <a:off x="2231136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The right agents per host — only what is missing</a:t>
            </a:r>
          </a:p>
        </p:txBody>
      </p:sp>
      <p:sp>
        <p:nvSpPr>
          <p:cNvPr id="221" name="RB Cta 1-1"/>
          <p:cNvSpPr txBox="1"/>
          <p:nvPr/>
        </p:nvSpPr>
        <p:spPr>
          <a:xfrm>
            <a:off x="2231136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Install agents  →</a:t>
            </a:r>
          </a:p>
        </p:txBody>
      </p:sp>
      <p:sp>
        <p:nvSpPr>
          <p:cNvPr id="222" name="RB Card 1-2"/>
          <p:cNvSpPr/>
          <p:nvPr/>
        </p:nvSpPr>
        <p:spPr>
          <a:xfrm>
            <a:off x="2139696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RB Icon 1-2" descr="request-log-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136" y="4069080"/>
            <a:ext cx="237744" cy="237744"/>
          </a:xfrm>
          <a:prstGeom prst="rect">
            <a:avLst/>
          </a:prstGeom>
          <a:effectLst/>
        </p:spPr>
      </p:pic>
      <p:sp>
        <p:nvSpPr>
          <p:cNvPr id="224" name="RB Title 1-2"/>
          <p:cNvSpPr txBox="1"/>
          <p:nvPr/>
        </p:nvSpPr>
        <p:spPr>
          <a:xfrm>
            <a:off x="2231136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Request Log Access</a:t>
            </a:r>
          </a:p>
        </p:txBody>
      </p:sp>
      <p:sp>
        <p:nvSpPr>
          <p:cNvPr id="225" name="RB Desc 1-2"/>
          <p:cNvSpPr txBox="1"/>
          <p:nvPr/>
        </p:nvSpPr>
        <p:spPr>
          <a:xfrm>
            <a:off x="2231136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Read-only ELK index access, on request</a:t>
            </a:r>
          </a:p>
        </p:txBody>
      </p:sp>
      <p:sp>
        <p:nvSpPr>
          <p:cNvPr id="226" name="RB Cta 1-2"/>
          <p:cNvSpPr txBox="1"/>
          <p:nvPr/>
        </p:nvSpPr>
        <p:spPr>
          <a:xfrm>
            <a:off x="2231136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Request access  →</a:t>
            </a:r>
          </a:p>
        </p:txBody>
      </p:sp>
      <p:sp>
        <p:nvSpPr>
          <p:cNvPr id="227" name="RB Date 2"/>
          <p:cNvSpPr txBox="1"/>
          <p:nvPr/>
        </p:nvSpPr>
        <p:spPr>
          <a:xfrm>
            <a:off x="3730752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Q1 2027</a:t>
            </a:r>
          </a:p>
        </p:txBody>
      </p:sp>
      <p:sp>
        <p:nvSpPr>
          <p:cNvPr id="228" name="RB Kicker 2"/>
          <p:cNvSpPr txBox="1"/>
          <p:nvPr/>
        </p:nvSpPr>
        <p:spPr>
          <a:xfrm>
            <a:off x="3730752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EXPANSION · ENDPOINTS</a:t>
            </a:r>
          </a:p>
        </p:txBody>
      </p:sp>
      <p:sp>
        <p:nvSpPr>
          <p:cNvPr id="229" name="RB Accent 2"/>
          <p:cNvSpPr/>
          <p:nvPr/>
        </p:nvSpPr>
        <p:spPr>
          <a:xfrm>
            <a:off x="3730752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B Card 2-0"/>
          <p:cNvSpPr/>
          <p:nvPr/>
        </p:nvSpPr>
        <p:spPr>
          <a:xfrm>
            <a:off x="3730752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1" name="RB Icon 2-0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1911096"/>
            <a:ext cx="237744" cy="237744"/>
          </a:xfrm>
          <a:prstGeom prst="rect">
            <a:avLst/>
          </a:prstGeom>
          <a:effectLst/>
        </p:spPr>
      </p:pic>
      <p:sp>
        <p:nvSpPr>
          <p:cNvPr id="232" name="RB Title 2-0"/>
          <p:cNvSpPr txBox="1"/>
          <p:nvPr/>
        </p:nvSpPr>
        <p:spPr>
          <a:xfrm>
            <a:off x="3822192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URL Monitoring</a:t>
            </a:r>
          </a:p>
        </p:txBody>
      </p:sp>
      <p:sp>
        <p:nvSpPr>
          <p:cNvPr id="233" name="RB Desc 2-0"/>
          <p:cNvSpPr txBox="1"/>
          <p:nvPr/>
        </p:nvSpPr>
        <p:spPr>
          <a:xfrm>
            <a:off x="3822192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Availability &amp; response-time checks per URL</a:t>
            </a:r>
          </a:p>
        </p:txBody>
      </p:sp>
      <p:sp>
        <p:nvSpPr>
          <p:cNvPr id="234" name="RB Cta 2-0"/>
          <p:cNvSpPr txBox="1"/>
          <p:nvPr/>
        </p:nvSpPr>
        <p:spPr>
          <a:xfrm>
            <a:off x="3822192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35" name="RB Card 2-1"/>
          <p:cNvSpPr/>
          <p:nvPr/>
        </p:nvSpPr>
        <p:spPr>
          <a:xfrm>
            <a:off x="3730752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RB Icon 2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2990088"/>
            <a:ext cx="237744" cy="237744"/>
          </a:xfrm>
          <a:prstGeom prst="rect">
            <a:avLst/>
          </a:prstGeom>
          <a:effectLst/>
        </p:spPr>
      </p:pic>
      <p:sp>
        <p:nvSpPr>
          <p:cNvPr id="237" name="RB Title 2-1"/>
          <p:cNvSpPr txBox="1"/>
          <p:nvPr/>
        </p:nvSpPr>
        <p:spPr>
          <a:xfrm>
            <a:off x="3822192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Cert Monitoring</a:t>
            </a:r>
          </a:p>
        </p:txBody>
      </p:sp>
      <p:sp>
        <p:nvSpPr>
          <p:cNvPr id="238" name="RB Desc 2-1"/>
          <p:cNvSpPr txBox="1"/>
          <p:nvPr/>
        </p:nvSpPr>
        <p:spPr>
          <a:xfrm>
            <a:off x="3822192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TLS certificate expiry — alerted before it bites</a:t>
            </a:r>
          </a:p>
        </p:txBody>
      </p:sp>
      <p:sp>
        <p:nvSpPr>
          <p:cNvPr id="239" name="RB Cta 2-1"/>
          <p:cNvSpPr txBox="1"/>
          <p:nvPr/>
        </p:nvSpPr>
        <p:spPr>
          <a:xfrm>
            <a:off x="3822192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Watch certs  →</a:t>
            </a:r>
          </a:p>
        </p:txBody>
      </p:sp>
      <p:sp>
        <p:nvSpPr>
          <p:cNvPr id="240" name="RB Card 2-2"/>
          <p:cNvSpPr/>
          <p:nvPr/>
        </p:nvSpPr>
        <p:spPr>
          <a:xfrm>
            <a:off x="3730752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1" name="RB Icon 2-2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4069080"/>
            <a:ext cx="237744" cy="237744"/>
          </a:xfrm>
          <a:prstGeom prst="rect">
            <a:avLst/>
          </a:prstGeom>
          <a:effectLst/>
        </p:spPr>
      </p:pic>
      <p:sp>
        <p:nvSpPr>
          <p:cNvPr id="242" name="RB Title 2-2"/>
          <p:cNvSpPr txBox="1"/>
          <p:nvPr/>
        </p:nvSpPr>
        <p:spPr>
          <a:xfrm>
            <a:off x="3822192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Public-Facing Monitoring</a:t>
            </a:r>
          </a:p>
        </p:txBody>
      </p:sp>
      <p:sp>
        <p:nvSpPr>
          <p:cNvPr id="243" name="RB Desc 2-2"/>
          <p:cNvSpPr txBox="1"/>
          <p:nvPr/>
        </p:nvSpPr>
        <p:spPr>
          <a:xfrm>
            <a:off x="3822192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Outside-in checks on internet-facing services</a:t>
            </a:r>
          </a:p>
        </p:txBody>
      </p:sp>
      <p:sp>
        <p:nvSpPr>
          <p:cNvPr id="244" name="RB Cta 2-2"/>
          <p:cNvSpPr txBox="1"/>
          <p:nvPr/>
        </p:nvSpPr>
        <p:spPr>
          <a:xfrm>
            <a:off x="3822192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45" name="RB Card 2-3"/>
          <p:cNvSpPr/>
          <p:nvPr/>
        </p:nvSpPr>
        <p:spPr>
          <a:xfrm>
            <a:off x="3730752" y="5065776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6" name="RB Icon 2-3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192" y="5148072"/>
            <a:ext cx="237744" cy="237744"/>
          </a:xfrm>
          <a:prstGeom prst="rect">
            <a:avLst/>
          </a:prstGeom>
          <a:effectLst/>
        </p:spPr>
      </p:pic>
      <p:sp>
        <p:nvSpPr>
          <p:cNvPr id="247" name="RB Title 2-3"/>
          <p:cNvSpPr txBox="1"/>
          <p:nvPr/>
        </p:nvSpPr>
        <p:spPr>
          <a:xfrm>
            <a:off x="3822192" y="5394960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File Integrity Monitoring</a:t>
            </a:r>
          </a:p>
        </p:txBody>
      </p:sp>
      <p:sp>
        <p:nvSpPr>
          <p:cNvPr id="248" name="RB Desc 2-3"/>
          <p:cNvSpPr txBox="1"/>
          <p:nvPr/>
        </p:nvSpPr>
        <p:spPr>
          <a:xfrm>
            <a:off x="3822192" y="5596128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Alert on unauthorised file changes</a:t>
            </a:r>
          </a:p>
        </p:txBody>
      </p:sp>
      <p:sp>
        <p:nvSpPr>
          <p:cNvPr id="249" name="RB Cta 2-3"/>
          <p:cNvSpPr txBox="1"/>
          <p:nvPr/>
        </p:nvSpPr>
        <p:spPr>
          <a:xfrm>
            <a:off x="3822192" y="5897880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Enable FIM  →</a:t>
            </a:r>
          </a:p>
        </p:txBody>
      </p:sp>
      <p:sp>
        <p:nvSpPr>
          <p:cNvPr id="250" name="RB Date 3"/>
          <p:cNvSpPr txBox="1"/>
          <p:nvPr/>
        </p:nvSpPr>
        <p:spPr>
          <a:xfrm>
            <a:off x="5321808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Q2 2027</a:t>
            </a:r>
          </a:p>
        </p:txBody>
      </p:sp>
      <p:sp>
        <p:nvSpPr>
          <p:cNvPr id="251" name="RB Kicker 3"/>
          <p:cNvSpPr txBox="1"/>
          <p:nvPr/>
        </p:nvSpPr>
        <p:spPr>
          <a:xfrm>
            <a:off x="5321808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PLATFORMS</a:t>
            </a:r>
          </a:p>
        </p:txBody>
      </p:sp>
      <p:sp>
        <p:nvSpPr>
          <p:cNvPr id="252" name="RB Accent 3"/>
          <p:cNvSpPr/>
          <p:nvPr/>
        </p:nvSpPr>
        <p:spPr>
          <a:xfrm>
            <a:off x="5321808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B Card 3-0"/>
          <p:cNvSpPr/>
          <p:nvPr/>
        </p:nvSpPr>
        <p:spPr>
          <a:xfrm>
            <a:off x="5321808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4" name="RB Icon 3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11096"/>
            <a:ext cx="237744" cy="237744"/>
          </a:xfrm>
          <a:prstGeom prst="rect">
            <a:avLst/>
          </a:prstGeom>
          <a:effectLst/>
        </p:spPr>
      </p:pic>
      <p:sp>
        <p:nvSpPr>
          <p:cNvPr id="255" name="RB Title 3-0"/>
          <p:cNvSpPr txBox="1"/>
          <p:nvPr/>
        </p:nvSpPr>
        <p:spPr>
          <a:xfrm>
            <a:off x="5413248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Database Monitoring</a:t>
            </a:r>
          </a:p>
        </p:txBody>
      </p:sp>
      <p:sp>
        <p:nvSpPr>
          <p:cNvPr id="256" name="RB Desc 3-0"/>
          <p:cNvSpPr txBox="1"/>
          <p:nvPr/>
        </p:nvSpPr>
        <p:spPr>
          <a:xfrm>
            <a:off x="5413248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Health &amp; performance — Oracle, MSSQL, PostgreSQL</a:t>
            </a:r>
          </a:p>
        </p:txBody>
      </p:sp>
      <p:sp>
        <p:nvSpPr>
          <p:cNvPr id="257" name="RB Cta 3-0"/>
          <p:cNvSpPr txBox="1"/>
          <p:nvPr/>
        </p:nvSpPr>
        <p:spPr>
          <a:xfrm>
            <a:off x="5413248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58" name="RB Card 3-1"/>
          <p:cNvSpPr/>
          <p:nvPr/>
        </p:nvSpPr>
        <p:spPr>
          <a:xfrm>
            <a:off x="5321808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9" name="RB Icon 3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990088"/>
            <a:ext cx="237744" cy="237744"/>
          </a:xfrm>
          <a:prstGeom prst="rect">
            <a:avLst/>
          </a:prstGeom>
          <a:effectLst/>
        </p:spPr>
      </p:pic>
      <p:sp>
        <p:nvSpPr>
          <p:cNvPr id="260" name="RB Title 3-1"/>
          <p:cNvSpPr txBox="1"/>
          <p:nvPr/>
        </p:nvSpPr>
        <p:spPr>
          <a:xfrm>
            <a:off x="5413248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Hyper-V · ESXi · IBM</a:t>
            </a:r>
          </a:p>
        </p:txBody>
      </p:sp>
      <p:sp>
        <p:nvSpPr>
          <p:cNvPr id="261" name="RB Desc 3-1"/>
          <p:cNvSpPr txBox="1"/>
          <p:nvPr/>
        </p:nvSpPr>
        <p:spPr>
          <a:xfrm>
            <a:off x="5413248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Virtualisation &amp; IBM estate monitoring</a:t>
            </a:r>
          </a:p>
        </p:txBody>
      </p:sp>
      <p:sp>
        <p:nvSpPr>
          <p:cNvPr id="262" name="RB Cta 3-1"/>
          <p:cNvSpPr txBox="1"/>
          <p:nvPr/>
        </p:nvSpPr>
        <p:spPr>
          <a:xfrm>
            <a:off x="5413248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63" name="RB Card 3-2"/>
          <p:cNvSpPr/>
          <p:nvPr/>
        </p:nvSpPr>
        <p:spPr>
          <a:xfrm>
            <a:off x="5321808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4" name="RB Icon 3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4069080"/>
            <a:ext cx="237744" cy="237744"/>
          </a:xfrm>
          <a:prstGeom prst="rect">
            <a:avLst/>
          </a:prstGeom>
          <a:effectLst/>
        </p:spPr>
      </p:pic>
      <p:sp>
        <p:nvSpPr>
          <p:cNvPr id="265" name="RB Title 3-2"/>
          <p:cNvSpPr txBox="1"/>
          <p:nvPr/>
        </p:nvSpPr>
        <p:spPr>
          <a:xfrm>
            <a:off x="5413248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Send Quick SMS</a:t>
            </a:r>
          </a:p>
        </p:txBody>
      </p:sp>
      <p:sp>
        <p:nvSpPr>
          <p:cNvPr id="266" name="RB Desc 3-2"/>
          <p:cNvSpPr txBox="1"/>
          <p:nvPr/>
        </p:nvSpPr>
        <p:spPr>
          <a:xfrm>
            <a:off x="5413248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On-demand SMS notify for critical events</a:t>
            </a:r>
          </a:p>
        </p:txBody>
      </p:sp>
      <p:sp>
        <p:nvSpPr>
          <p:cNvPr id="267" name="RB Cta 3-2"/>
          <p:cNvSpPr txBox="1"/>
          <p:nvPr/>
        </p:nvSpPr>
        <p:spPr>
          <a:xfrm>
            <a:off x="5413248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Send SMS  →</a:t>
            </a:r>
          </a:p>
        </p:txBody>
      </p:sp>
      <p:sp>
        <p:nvSpPr>
          <p:cNvPr id="268" name="RB Date 4"/>
          <p:cNvSpPr txBox="1"/>
          <p:nvPr/>
        </p:nvSpPr>
        <p:spPr>
          <a:xfrm>
            <a:off x="6912864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2027</a:t>
            </a:r>
          </a:p>
        </p:txBody>
      </p:sp>
      <p:sp>
        <p:nvSpPr>
          <p:cNvPr id="269" name="RB Kicker 4"/>
          <p:cNvSpPr txBox="1"/>
          <p:nvPr/>
        </p:nvSpPr>
        <p:spPr>
          <a:xfrm>
            <a:off x="6912864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VISIBILITY</a:t>
            </a:r>
          </a:p>
        </p:txBody>
      </p:sp>
      <p:sp>
        <p:nvSpPr>
          <p:cNvPr id="270" name="RB Accent 4"/>
          <p:cNvSpPr/>
          <p:nvPr/>
        </p:nvSpPr>
        <p:spPr>
          <a:xfrm>
            <a:off x="6912864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B Card 4-0"/>
          <p:cNvSpPr/>
          <p:nvPr/>
        </p:nvSpPr>
        <p:spPr>
          <a:xfrm>
            <a:off x="6912864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2" name="RB Icon 4-0" descr="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04" y="1911096"/>
            <a:ext cx="237744" cy="237744"/>
          </a:xfrm>
          <a:prstGeom prst="rect">
            <a:avLst/>
          </a:prstGeom>
          <a:effectLst/>
        </p:spPr>
      </p:pic>
      <p:sp>
        <p:nvSpPr>
          <p:cNvPr id="273" name="RB Title 4-0"/>
          <p:cNvSpPr txBox="1"/>
          <p:nvPr/>
        </p:nvSpPr>
        <p:spPr>
          <a:xfrm>
            <a:off x="7004304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Reports</a:t>
            </a:r>
          </a:p>
        </p:txBody>
      </p:sp>
      <p:sp>
        <p:nvSpPr>
          <p:cNvPr id="274" name="RB Desc 4-0"/>
          <p:cNvSpPr txBox="1"/>
          <p:nvPr/>
        </p:nvSpPr>
        <p:spPr>
          <a:xfrm>
            <a:off x="7004304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Daily reconciliation — gaps, unmonitored, drift</a:t>
            </a:r>
          </a:p>
        </p:txBody>
      </p:sp>
      <p:sp>
        <p:nvSpPr>
          <p:cNvPr id="275" name="RB Cta 4-0"/>
          <p:cNvSpPr txBox="1"/>
          <p:nvPr/>
        </p:nvSpPr>
        <p:spPr>
          <a:xfrm>
            <a:off x="7004304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View reports  →</a:t>
            </a:r>
          </a:p>
        </p:txBody>
      </p:sp>
      <p:sp>
        <p:nvSpPr>
          <p:cNvPr id="276" name="RB Card 4-1"/>
          <p:cNvSpPr/>
          <p:nvPr/>
        </p:nvSpPr>
        <p:spPr>
          <a:xfrm>
            <a:off x="6912864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7" name="RB Icon 4-1" descr="dashboard-inven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2990088"/>
            <a:ext cx="237744" cy="237744"/>
          </a:xfrm>
          <a:prstGeom prst="rect">
            <a:avLst/>
          </a:prstGeom>
          <a:effectLst/>
        </p:spPr>
      </p:pic>
      <p:sp>
        <p:nvSpPr>
          <p:cNvPr id="278" name="RB Title 4-1"/>
          <p:cNvSpPr txBox="1"/>
          <p:nvPr/>
        </p:nvSpPr>
        <p:spPr>
          <a:xfrm>
            <a:off x="7004304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Dashboard Inventory</a:t>
            </a:r>
          </a:p>
        </p:txBody>
      </p:sp>
      <p:sp>
        <p:nvSpPr>
          <p:cNvPr id="279" name="RB Desc 4-1"/>
          <p:cNvSpPr txBox="1"/>
          <p:nvPr/>
        </p:nvSpPr>
        <p:spPr>
          <a:xfrm>
            <a:off x="7004304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Every dashboard described and linked</a:t>
            </a:r>
          </a:p>
        </p:txBody>
      </p:sp>
      <p:sp>
        <p:nvSpPr>
          <p:cNvPr id="280" name="RB Cta 4-1"/>
          <p:cNvSpPr txBox="1"/>
          <p:nvPr/>
        </p:nvSpPr>
        <p:spPr>
          <a:xfrm>
            <a:off x="7004304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Browse dashboards  →</a:t>
            </a:r>
          </a:p>
        </p:txBody>
      </p:sp>
      <p:sp>
        <p:nvSpPr>
          <p:cNvPr id="281" name="RB Card 4-2"/>
          <p:cNvSpPr/>
          <p:nvPr/>
        </p:nvSpPr>
        <p:spPr>
          <a:xfrm>
            <a:off x="6912864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2" name="RB Icon 4-2" descr="data-diction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304" y="4069080"/>
            <a:ext cx="237744" cy="237744"/>
          </a:xfrm>
          <a:prstGeom prst="rect">
            <a:avLst/>
          </a:prstGeom>
          <a:effectLst/>
        </p:spPr>
      </p:pic>
      <p:sp>
        <p:nvSpPr>
          <p:cNvPr id="283" name="RB Title 4-2"/>
          <p:cNvSpPr txBox="1"/>
          <p:nvPr/>
        </p:nvSpPr>
        <p:spPr>
          <a:xfrm>
            <a:off x="7004304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Data Dictionary</a:t>
            </a:r>
          </a:p>
        </p:txBody>
      </p:sp>
      <p:sp>
        <p:nvSpPr>
          <p:cNvPr id="284" name="RB Desc 4-2"/>
          <p:cNvSpPr txBox="1"/>
          <p:nvPr/>
        </p:nvSpPr>
        <p:spPr>
          <a:xfrm>
            <a:off x="7004304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Every ELK index and its function</a:t>
            </a:r>
          </a:p>
        </p:txBody>
      </p:sp>
      <p:sp>
        <p:nvSpPr>
          <p:cNvPr id="285" name="RB Cta 4-2"/>
          <p:cNvSpPr txBox="1"/>
          <p:nvPr/>
        </p:nvSpPr>
        <p:spPr>
          <a:xfrm>
            <a:off x="7004304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Browse dictionary  →</a:t>
            </a:r>
          </a:p>
        </p:txBody>
      </p:sp>
      <p:sp>
        <p:nvSpPr>
          <p:cNvPr id="286" name="RB Date 5"/>
          <p:cNvSpPr txBox="1"/>
          <p:nvPr/>
        </p:nvSpPr>
        <p:spPr>
          <a:xfrm>
            <a:off x="8503920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2027</a:t>
            </a:r>
          </a:p>
        </p:txBody>
      </p:sp>
      <p:sp>
        <p:nvSpPr>
          <p:cNvPr id="287" name="RB Kicker 5"/>
          <p:cNvSpPr txBox="1"/>
          <p:nvPr/>
        </p:nvSpPr>
        <p:spPr>
          <a:xfrm>
            <a:off x="8503920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ASSURANCE</a:t>
            </a:r>
          </a:p>
        </p:txBody>
      </p:sp>
      <p:sp>
        <p:nvSpPr>
          <p:cNvPr id="288" name="RB Accent 5"/>
          <p:cNvSpPr/>
          <p:nvPr/>
        </p:nvSpPr>
        <p:spPr>
          <a:xfrm>
            <a:off x="850392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B Card 5-0"/>
          <p:cNvSpPr/>
          <p:nvPr/>
        </p:nvSpPr>
        <p:spPr>
          <a:xfrm>
            <a:off x="8503920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0" name="RB Icon 5-0" descr="observability-s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0" y="1911096"/>
            <a:ext cx="237744" cy="237744"/>
          </a:xfrm>
          <a:prstGeom prst="rect">
            <a:avLst/>
          </a:prstGeom>
          <a:effectLst/>
        </p:spPr>
      </p:pic>
      <p:sp>
        <p:nvSpPr>
          <p:cNvPr id="291" name="RB Title 5-0"/>
          <p:cNvSpPr txBox="1"/>
          <p:nvPr/>
        </p:nvSpPr>
        <p:spPr>
          <a:xfrm>
            <a:off x="8595360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Observability Score</a:t>
            </a:r>
          </a:p>
        </p:txBody>
      </p:sp>
      <p:sp>
        <p:nvSpPr>
          <p:cNvPr id="292" name="RB Desc 5-0"/>
          <p:cNvSpPr txBox="1"/>
          <p:nvPr/>
        </p:nvSpPr>
        <p:spPr>
          <a:xfrm>
            <a:off x="8595360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Scorecard &amp; certification per asset</a:t>
            </a:r>
          </a:p>
        </p:txBody>
      </p:sp>
      <p:sp>
        <p:nvSpPr>
          <p:cNvPr id="293" name="RB Cta 5-0"/>
          <p:cNvSpPr txBox="1"/>
          <p:nvPr/>
        </p:nvSpPr>
        <p:spPr>
          <a:xfrm>
            <a:off x="8595360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View scorecard  →</a:t>
            </a:r>
          </a:p>
        </p:txBody>
      </p:sp>
      <p:sp>
        <p:nvSpPr>
          <p:cNvPr id="294" name="RB Card 5-1"/>
          <p:cNvSpPr/>
          <p:nvPr/>
        </p:nvSpPr>
        <p:spPr>
          <a:xfrm>
            <a:off x="8503920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5" name="RB Icon 5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0" y="2990088"/>
            <a:ext cx="237744" cy="237744"/>
          </a:xfrm>
          <a:prstGeom prst="rect">
            <a:avLst/>
          </a:prstGeom>
          <a:effectLst/>
        </p:spPr>
      </p:pic>
      <p:sp>
        <p:nvSpPr>
          <p:cNvPr id="296" name="RB Title 5-1"/>
          <p:cNvSpPr txBox="1"/>
          <p:nvPr/>
        </p:nvSpPr>
        <p:spPr>
          <a:xfrm>
            <a:off x="8595360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Synthetic Alerting</a:t>
            </a:r>
          </a:p>
        </p:txBody>
      </p:sp>
      <p:sp>
        <p:nvSpPr>
          <p:cNvPr id="297" name="RB Desc 5-1"/>
          <p:cNvSpPr txBox="1"/>
          <p:nvPr/>
        </p:nvSpPr>
        <p:spPr>
          <a:xfrm>
            <a:off x="8595360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End-to-end fire drills — [DRILL] ticket out</a:t>
            </a:r>
          </a:p>
        </p:txBody>
      </p:sp>
      <p:sp>
        <p:nvSpPr>
          <p:cNvPr id="298" name="RB Cta 5-1"/>
          <p:cNvSpPr txBox="1"/>
          <p:nvPr/>
        </p:nvSpPr>
        <p:spPr>
          <a:xfrm>
            <a:off x="8595360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Run a drill  →</a:t>
            </a:r>
          </a:p>
        </p:txBody>
      </p:sp>
      <p:sp>
        <p:nvSpPr>
          <p:cNvPr id="299" name="RB Card 5-2"/>
          <p:cNvSpPr/>
          <p:nvPr/>
        </p:nvSpPr>
        <p:spPr>
          <a:xfrm>
            <a:off x="8503920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0" name="RB Icon 5-2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0" y="4069080"/>
            <a:ext cx="237744" cy="237744"/>
          </a:xfrm>
          <a:prstGeom prst="rect">
            <a:avLst/>
          </a:prstGeom>
          <a:effectLst/>
        </p:spPr>
      </p:pic>
      <p:sp>
        <p:nvSpPr>
          <p:cNvPr id="301" name="RB Title 5-2"/>
          <p:cNvSpPr txBox="1"/>
          <p:nvPr/>
        </p:nvSpPr>
        <p:spPr>
          <a:xfrm>
            <a:off x="8595360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Alert Suppression</a:t>
            </a:r>
          </a:p>
        </p:txBody>
      </p:sp>
      <p:sp>
        <p:nvSpPr>
          <p:cNvPr id="302" name="RB Desc 5-2"/>
          <p:cNvSpPr txBox="1"/>
          <p:nvPr/>
        </p:nvSpPr>
        <p:spPr>
          <a:xfrm>
            <a:off x="8595360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Governed change windows, auto-expiring</a:t>
            </a:r>
          </a:p>
        </p:txBody>
      </p:sp>
      <p:sp>
        <p:nvSpPr>
          <p:cNvPr id="303" name="RB Cta 5-2"/>
          <p:cNvSpPr txBox="1"/>
          <p:nvPr/>
        </p:nvSpPr>
        <p:spPr>
          <a:xfrm>
            <a:off x="8595360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Schedule window  →</a:t>
            </a:r>
          </a:p>
        </p:txBody>
      </p:sp>
      <p:sp>
        <p:nvSpPr>
          <p:cNvPr id="304" name="RB Date 6"/>
          <p:cNvSpPr txBox="1"/>
          <p:nvPr/>
        </p:nvSpPr>
        <p:spPr>
          <a:xfrm>
            <a:off x="10094976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2028</a:t>
            </a:r>
          </a:p>
        </p:txBody>
      </p:sp>
      <p:sp>
        <p:nvSpPr>
          <p:cNvPr id="305" name="RB Kicker 6"/>
          <p:cNvSpPr txBox="1"/>
          <p:nvPr/>
        </p:nvSpPr>
        <p:spPr>
          <a:xfrm>
            <a:off x="10094976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INTELLIGENCE</a:t>
            </a:r>
          </a:p>
        </p:txBody>
      </p:sp>
      <p:sp>
        <p:nvSpPr>
          <p:cNvPr id="306" name="RB Accent 6"/>
          <p:cNvSpPr/>
          <p:nvPr/>
        </p:nvSpPr>
        <p:spPr>
          <a:xfrm>
            <a:off x="10094976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B Card 6-0"/>
          <p:cNvSpPr/>
          <p:nvPr/>
        </p:nvSpPr>
        <p:spPr>
          <a:xfrm>
            <a:off x="10094976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8" name="RB Icon 6-0" descr="observability-br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6416" y="1911096"/>
            <a:ext cx="237744" cy="237744"/>
          </a:xfrm>
          <a:prstGeom prst="rect">
            <a:avLst/>
          </a:prstGeom>
          <a:effectLst/>
        </p:spPr>
      </p:pic>
      <p:sp>
        <p:nvSpPr>
          <p:cNvPr id="309" name="RB Title 6-0"/>
          <p:cNvSpPr txBox="1"/>
          <p:nvPr/>
        </p:nvSpPr>
        <p:spPr>
          <a:xfrm>
            <a:off x="10186416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Observability Brain</a:t>
            </a:r>
          </a:p>
        </p:txBody>
      </p:sp>
      <p:sp>
        <p:nvSpPr>
          <p:cNvPr id="310" name="RB Desc 6-0"/>
          <p:cNvSpPr txBox="1"/>
          <p:nvPr/>
        </p:nvSpPr>
        <p:spPr>
          <a:xfrm>
            <a:off x="10186416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The oracle — grounded answers over the second brain</a:t>
            </a:r>
          </a:p>
        </p:txBody>
      </p:sp>
      <p:sp>
        <p:nvSpPr>
          <p:cNvPr id="311" name="RB Cta 6-0"/>
          <p:cNvSpPr txBox="1"/>
          <p:nvPr/>
        </p:nvSpPr>
        <p:spPr>
          <a:xfrm>
            <a:off x="10186416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Ask the Brain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Q&amp;A ·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four questions we ask ourselves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What has been done?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79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first slice — DX UIM alerting — runs end to end and is in hardening: guided request, PR approval, automated activation, notification, git record. The full 20-service catalogue is designed and demoable in one design language; architecture, data model, and delivery plan are written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7238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72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When is production — and what will it offer?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38144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Hardening completes 30 Sep 2026; the Foundation tranche goes live early Q4 2026 (remaining gates: TLS, PROD credentials, change approval). Day one: self-service Process, Log &amp; CDM monitoring for Open Systems plus asset registration — approved by PR, activated automatically, recorded in git.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When does it wrap up?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07408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service catalogue completes through 2027 — expansion in H1, visibility in Q3, assurance in Q4 — and the Brain lands in 2028. The programme wraps; the Portal continues as a product: a new service is a new wizard and a new translator on the same pattern, not a new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53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First we automate the work, then we prove it works — then the platform starts answering and proposing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7</a:t>
            </a:r>
          </a:p>
        </p:txBody>
      </p:sp>
      <p:sp>
        <p:nvSpPr>
          <p:cNvPr id="900" name="TextBox 10 Q4"/>
          <p:cNvSpPr txBox="1"/>
          <p:nvPr/>
        </p:nvSpPr>
        <p:spPr>
          <a:xfrm>
            <a:off x="548640" y="501091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4</a:t>
            </a:r>
          </a:p>
        </p:txBody>
      </p:sp>
      <p:sp>
        <p:nvSpPr>
          <p:cNvPr id="901" name="TextBox 11 Q4"/>
          <p:cNvSpPr txBox="1"/>
          <p:nvPr/>
        </p:nvSpPr>
        <p:spPr>
          <a:xfrm>
            <a:off x="1371600" y="5010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What comes toward the end?</a:t>
            </a:r>
          </a:p>
        </p:txBody>
      </p:sp>
      <p:sp>
        <p:nvSpPr>
          <p:cNvPr id="902" name="TextBox 12 Q4"/>
          <p:cNvSpPr txBox="1"/>
          <p:nvPr/>
        </p:nvSpPr>
        <p:spPr>
          <a:xfrm>
            <a:off x="1371600" y="5376672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features only a recorded estate makes possible: daily reconciliation Reports, the Observability Score with certification, Synthetic fire-drills, governed Suppression — then the Brain: grounded answers, PR summaries for approvers, AI-drafted changes under the same approval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