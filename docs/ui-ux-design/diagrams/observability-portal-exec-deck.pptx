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openxmlformats.org/officeDocument/2006/relationships/image" Target="../media/image5.png"/><Relationship Id="rId7" Type="http://schemas.openxmlformats.org/officeDocument/2006/relationships/image" Target="../media/image6.png"/><Relationship Id="rId8" Type="http://schemas.openxmlformats.org/officeDocument/2006/relationships/image" Target="../media/image7.png"/><Relationship Id="rId9" Type="http://schemas.openxmlformats.org/officeDocument/2006/relationships/image" Target="../media/image8.png"/><Relationship Id="rId10" Type="http://schemas.openxmlformats.org/officeDocument/2006/relationships/image" Target="../media/image9.png"/><Relationship Id="rId11" Type="http://schemas.openxmlformats.org/officeDocument/2006/relationships/image" Target="../media/image10.png"/><Relationship Id="rId12" Type="http://schemas.openxmlformats.org/officeDocument/2006/relationships/image" Target="../media/image11.png"/><Relationship Id="rId13" Type="http://schemas.openxmlformats.org/officeDocument/2006/relationships/image" Target="../media/image1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1">
                <a:solidFill>
                  <a:srgbClr val="7A808A"/>
                </a:solidFill>
                <a:latin typeface="Segoe UI"/>
              </a:rPr>
              <a:t>EXECUTIVE BRIEFING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110642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600" b="1">
                <a:solidFill>
                  <a:srgbClr val="1B2A41"/>
                </a:solidFill>
                <a:latin typeface="Segoe UI"/>
              </a:rPr>
              <a:t>The Observability Portal — What it is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61872"/>
            <a:ext cx="914400" cy="32004"/>
          </a:xfrm>
          <a:prstGeom prst="rect">
            <a:avLst/>
          </a:prstGeom>
          <a:solidFill>
            <a:srgbClr val="2E74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335024"/>
            <a:ext cx="1106424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1">
                <a:solidFill>
                  <a:srgbClr val="2E74B5"/>
                </a:solidFill>
                <a:latin typeface="Segoe UI"/>
              </a:rPr>
              <a:t>An Observability Transformation</a:t>
            </a:r>
            <a:r>
              <a:rPr sz="1100" b="0">
                <a:solidFill>
                  <a:srgbClr val="7A808A"/>
                </a:solidFill>
                <a:latin typeface="Segoe UI"/>
              </a:rPr>
              <a:t> — an evolution of how observability is run: full user self-service, practised as platform engineering.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591056"/>
            <a:ext cx="1106424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050" b="1">
                <a:solidFill>
                  <a:srgbClr val="1B2A41"/>
                </a:solidFill>
                <a:latin typeface="Segoe UI"/>
              </a:rPr>
              <a:t>The Portal is a product</a:t>
            </a:r>
            <a:r>
              <a:rPr sz="1000" b="0">
                <a:solidFill>
                  <a:srgbClr val="7A808A"/>
                </a:solidFill>
                <a:latin typeface="Segoe UI"/>
              </a:rPr>
              <a:t> — part of every engineer’s toolset, built on open-source Backstage: engineers enable themselves across the platform tools behind it. Users see services, never tools.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847088"/>
            <a:ext cx="11064240" cy="4754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050" b="1">
                <a:solidFill>
                  <a:srgbClr val="2E74B5"/>
                </a:solidFill>
                <a:latin typeface="Segoe UI"/>
              </a:rPr>
              <a:t>And it is the channel</a:t>
            </a:r>
            <a:r>
              <a:rPr sz="1000" b="0">
                <a:solidFill>
                  <a:srgbClr val="7A808A"/>
                </a:solidFill>
                <a:latin typeface="Segoe UI"/>
              </a:rPr>
              <a:t> — the elimination of </a:t>
            </a:r>
            <a:r>
              <a:rPr sz="1000" b="1">
                <a:solidFill>
                  <a:srgbClr val="1B2A41"/>
                </a:solidFill>
                <a:latin typeface="Segoe UI"/>
              </a:rPr>
              <a:t>institutional blind spots.</a:t>
            </a:r>
            <a:r>
              <a:rPr sz="1000" b="0">
                <a:solidFill>
                  <a:srgbClr val="7A808A"/>
                </a:solidFill>
                <a:latin typeface="Segoe UI"/>
              </a:rPr>
              <a:t> Ownership, process, and status cease to be tribal knowledge held by individuals; they become published capabilities of one platform. </a:t>
            </a:r>
            <a:r>
              <a:rPr sz="1000" b="1">
                <a:solidFill>
                  <a:srgbClr val="1B2A41"/>
                </a:solidFill>
                <a:latin typeface="Segoe UI"/>
              </a:rPr>
              <a:t>Automation does the work; open governance keeps it visible</a:t>
            </a:r>
            <a:r>
              <a:rPr sz="1000" b="0">
                <a:solidFill>
                  <a:srgbClr val="7A808A"/>
                </a:solidFill>
                <a:latin typeface="Segoe UI"/>
              </a:rPr>
              <a:t> — a single front door for every enquiry and request: open book, self-service, always on.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2450592"/>
            <a:ext cx="3520440" cy="25603"/>
          </a:xfrm>
          <a:prstGeom prst="rect">
            <a:avLst/>
          </a:prstGeom>
          <a:solidFill>
            <a:srgbClr val="1B2A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48640" y="2560320"/>
            <a:ext cx="352044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1B2A41"/>
                </a:solidFill>
                <a:latin typeface="Segoe UI"/>
              </a:rPr>
              <a:t>Enable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2816352"/>
            <a:ext cx="352044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850" b="0" i="1">
                <a:solidFill>
                  <a:srgbClr val="7A808A"/>
                </a:solidFill>
                <a:latin typeface="Segoe UI"/>
              </a:rPr>
              <a:t>Remove every barrier to entry: any engineer switches observability on in minutes, correctly, without knowing the tools behind it.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8640" y="3246120"/>
            <a:ext cx="73152" cy="73152"/>
          </a:xfrm>
          <a:prstGeom prst="rect">
            <a:avLst/>
          </a:prstGeom>
          <a:solidFill>
            <a:srgbClr val="2E74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49808" y="3200400"/>
            <a:ext cx="331927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950" b="1">
                <a:solidFill>
                  <a:srgbClr val="1B2A41"/>
                </a:solidFill>
                <a:latin typeface="Segoe UI"/>
              </a:rPr>
              <a:t>Add Monitoring</a:t>
            </a:r>
            <a:r>
              <a:rPr sz="900" b="0">
                <a:solidFill>
                  <a:srgbClr val="40444B"/>
                </a:solidFill>
                <a:latin typeface="Segoe UI"/>
              </a:rPr>
              <a:t> — alerts, auto-routed to the right platform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48640" y="3538727"/>
            <a:ext cx="73152" cy="73152"/>
          </a:xfrm>
          <a:prstGeom prst="rect">
            <a:avLst/>
          </a:prstGeom>
          <a:solidFill>
            <a:srgbClr val="2E74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49808" y="3493008"/>
            <a:ext cx="331927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950" b="1">
                <a:solidFill>
                  <a:srgbClr val="1B2A41"/>
                </a:solidFill>
                <a:latin typeface="Segoe UI"/>
              </a:rPr>
              <a:t>ELK Log Onboarding</a:t>
            </a:r>
            <a:r>
              <a:rPr sz="900" b="0">
                <a:solidFill>
                  <a:srgbClr val="40444B"/>
                </a:solidFill>
                <a:latin typeface="Segoe UI"/>
              </a:rPr>
              <a:t> — agents, topic, parsers, indices — one request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48640" y="3831335"/>
            <a:ext cx="73152" cy="73152"/>
          </a:xfrm>
          <a:prstGeom prst="rect">
            <a:avLst/>
          </a:prstGeom>
          <a:solidFill>
            <a:srgbClr val="2E74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49808" y="3785615"/>
            <a:ext cx="331927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950" b="1">
                <a:solidFill>
                  <a:srgbClr val="1B2A41"/>
                </a:solidFill>
                <a:latin typeface="Segoe UI"/>
              </a:rPr>
              <a:t>Access &amp; Asset Registry</a:t>
            </a:r>
            <a:r>
              <a:rPr sz="900" b="0">
                <a:solidFill>
                  <a:srgbClr val="40444B"/>
                </a:solidFill>
                <a:latin typeface="Segoe UI"/>
              </a:rPr>
              <a:t> — permissions and registration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379976" y="2450592"/>
            <a:ext cx="3520440" cy="25603"/>
          </a:xfrm>
          <a:prstGeom prst="rect">
            <a:avLst/>
          </a:prstGeom>
          <a:solidFill>
            <a:srgbClr val="1B2A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379976" y="2560320"/>
            <a:ext cx="352044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1B2A41"/>
                </a:solidFill>
                <a:latin typeface="Segoe UI"/>
              </a:rPr>
              <a:t>Assure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379976" y="2816352"/>
            <a:ext cx="352044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850" b="0" i="1">
                <a:solidFill>
                  <a:srgbClr val="7A808A"/>
                </a:solidFill>
                <a:latin typeface="Segoe UI"/>
              </a:rPr>
              <a:t>Make coverage provable: continuously verify that what should be observed is observed — and works — before an incident asks.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379976" y="3246120"/>
            <a:ext cx="73152" cy="73152"/>
          </a:xfrm>
          <a:prstGeom prst="rect">
            <a:avLst/>
          </a:prstGeom>
          <a:solidFill>
            <a:srgbClr val="2E74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581144" y="3200400"/>
            <a:ext cx="331927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950" b="1">
                <a:solidFill>
                  <a:srgbClr val="1B2A41"/>
                </a:solidFill>
                <a:latin typeface="Segoe UI"/>
              </a:rPr>
              <a:t>Observability Score</a:t>
            </a:r>
            <a:r>
              <a:rPr sz="900" b="0">
                <a:solidFill>
                  <a:srgbClr val="40444B"/>
                </a:solidFill>
                <a:latin typeface="Segoe UI"/>
              </a:rPr>
              <a:t> — scorecard &amp; certification per asset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379976" y="3538727"/>
            <a:ext cx="73152" cy="73152"/>
          </a:xfrm>
          <a:prstGeom prst="rect">
            <a:avLst/>
          </a:prstGeom>
          <a:solidFill>
            <a:srgbClr val="2E74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581144" y="3493008"/>
            <a:ext cx="331927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950" b="1">
                <a:solidFill>
                  <a:srgbClr val="1B2A41"/>
                </a:solidFill>
                <a:latin typeface="Segoe UI"/>
              </a:rPr>
              <a:t>Synthetic Alerting</a:t>
            </a:r>
            <a:r>
              <a:rPr sz="900" b="0">
                <a:solidFill>
                  <a:srgbClr val="40444B"/>
                </a:solidFill>
                <a:latin typeface="Segoe UI"/>
              </a:rPr>
              <a:t> — fire-drill an alert end to end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379976" y="3831335"/>
            <a:ext cx="73152" cy="73152"/>
          </a:xfrm>
          <a:prstGeom prst="rect">
            <a:avLst/>
          </a:prstGeom>
          <a:solidFill>
            <a:srgbClr val="2E74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581144" y="3785615"/>
            <a:ext cx="331927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950" b="1">
                <a:solidFill>
                  <a:srgbClr val="1B2A41"/>
                </a:solidFill>
                <a:latin typeface="Segoe UI"/>
              </a:rPr>
              <a:t>Reconciliation Reports</a:t>
            </a:r>
            <a:r>
              <a:rPr sz="900" b="0">
                <a:solidFill>
                  <a:srgbClr val="40444B"/>
                </a:solidFill>
                <a:latin typeface="Segoe UI"/>
              </a:rPr>
              <a:t> — expected vs reality, daily</a:t>
            </a:r>
          </a:p>
        </p:txBody>
      </p:sp>
      <p:sp>
        <p:nvSpPr>
          <p:cNvPr id="26" name="Rectangle 25"/>
          <p:cNvSpPr/>
          <p:nvPr/>
        </p:nvSpPr>
        <p:spPr>
          <a:xfrm>
            <a:off x="8211312" y="2450592"/>
            <a:ext cx="3520440" cy="25603"/>
          </a:xfrm>
          <a:prstGeom prst="rect">
            <a:avLst/>
          </a:prstGeom>
          <a:solidFill>
            <a:srgbClr val="2E74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211312" y="2560320"/>
            <a:ext cx="352044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1B2A41"/>
                </a:solidFill>
                <a:latin typeface="Segoe UI"/>
              </a:rPr>
              <a:t>Observability Brain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211312" y="2816352"/>
            <a:ext cx="352044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850" b="0" i="1">
                <a:solidFill>
                  <a:srgbClr val="7A808A"/>
                </a:solidFill>
                <a:latin typeface="Segoe UI"/>
              </a:rPr>
              <a:t>Make knowledge self-serve: every answer about the estate available instantly, grounded in the source of truth and cited.</a:t>
            </a:r>
          </a:p>
        </p:txBody>
      </p:sp>
      <p:sp>
        <p:nvSpPr>
          <p:cNvPr id="29" name="Rectangle 28"/>
          <p:cNvSpPr/>
          <p:nvPr/>
        </p:nvSpPr>
        <p:spPr>
          <a:xfrm>
            <a:off x="8211312" y="3246120"/>
            <a:ext cx="73152" cy="73152"/>
          </a:xfrm>
          <a:prstGeom prst="rect">
            <a:avLst/>
          </a:prstGeom>
          <a:solidFill>
            <a:srgbClr val="2E74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412480" y="3200400"/>
            <a:ext cx="331927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950" b="1">
                <a:solidFill>
                  <a:srgbClr val="1B2A41"/>
                </a:solidFill>
                <a:latin typeface="Segoe UI"/>
              </a:rPr>
              <a:t>Search</a:t>
            </a:r>
            <a:r>
              <a:rPr sz="900" b="0">
                <a:solidFill>
                  <a:srgbClr val="40444B"/>
                </a:solidFill>
                <a:latin typeface="Segoe UI"/>
              </a:rPr>
              <a:t> — configs, runbooks, specs</a:t>
            </a:r>
          </a:p>
        </p:txBody>
      </p:sp>
      <p:sp>
        <p:nvSpPr>
          <p:cNvPr id="31" name="Rectangle 30"/>
          <p:cNvSpPr/>
          <p:nvPr/>
        </p:nvSpPr>
        <p:spPr>
          <a:xfrm>
            <a:off x="8211312" y="3538727"/>
            <a:ext cx="73152" cy="73152"/>
          </a:xfrm>
          <a:prstGeom prst="rect">
            <a:avLst/>
          </a:prstGeom>
          <a:solidFill>
            <a:srgbClr val="2E74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412480" y="3493008"/>
            <a:ext cx="331927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950" b="1">
                <a:solidFill>
                  <a:srgbClr val="1B2A41"/>
                </a:solidFill>
                <a:latin typeface="Segoe UI"/>
              </a:rPr>
              <a:t>Ask</a:t>
            </a:r>
            <a:r>
              <a:rPr sz="900" b="0">
                <a:solidFill>
                  <a:srgbClr val="40444B"/>
                </a:solidFill>
                <a:latin typeface="Segoe UI"/>
              </a:rPr>
              <a:t> — answers cite their sources</a:t>
            </a:r>
          </a:p>
        </p:txBody>
      </p:sp>
      <p:sp>
        <p:nvSpPr>
          <p:cNvPr id="33" name="Rectangle 32"/>
          <p:cNvSpPr/>
          <p:nvPr/>
        </p:nvSpPr>
        <p:spPr>
          <a:xfrm>
            <a:off x="8211312" y="3831335"/>
            <a:ext cx="73152" cy="73152"/>
          </a:xfrm>
          <a:prstGeom prst="rect">
            <a:avLst/>
          </a:prstGeom>
          <a:solidFill>
            <a:srgbClr val="2E74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8412480" y="3785615"/>
            <a:ext cx="331927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950" b="1">
                <a:solidFill>
                  <a:srgbClr val="1B2A41"/>
                </a:solidFill>
                <a:latin typeface="Segoe UI"/>
              </a:rPr>
              <a:t>Act</a:t>
            </a:r>
            <a:r>
              <a:rPr sz="900" b="0">
                <a:solidFill>
                  <a:srgbClr val="40444B"/>
                </a:solidFill>
                <a:latin typeface="Segoe UI"/>
              </a:rPr>
              <a:t> — links into governed services, never around them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48640" y="4114800"/>
            <a:ext cx="1106424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50" b="1">
                <a:solidFill>
                  <a:srgbClr val="7A808A"/>
                </a:solidFill>
                <a:latin typeface="Segoe UI"/>
              </a:rPr>
              <a:t>EVERY CHANGE — HUMAN OR AI — TAKES ONE PATH</a:t>
            </a:r>
          </a:p>
        </p:txBody>
      </p:sp>
      <p:sp>
        <p:nvSpPr>
          <p:cNvPr id="36" name="Chevron 35"/>
          <p:cNvSpPr/>
          <p:nvPr/>
        </p:nvSpPr>
        <p:spPr>
          <a:xfrm>
            <a:off x="548640" y="4389120"/>
            <a:ext cx="2377440" cy="658368"/>
          </a:xfrm>
          <a:prstGeom prst="chevron">
            <a:avLst>
              <a:gd name="adj" fmla="val 50000"/>
            </a:avLst>
          </a:prstGeom>
          <a:solidFill>
            <a:srgbClr val="1B2A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128016" tIns="18288" bIns="18288"/>
          <a:lstStyle/>
          <a:p>
            <a:pPr algn="ctr"/>
            <a:r>
              <a:rPr sz="1000" b="1">
                <a:solidFill>
                  <a:srgbClr val="FFFFFF"/>
                </a:solidFill>
                <a:latin typeface="Segoe UI"/>
              </a:rPr>
              <a:t>Assisted Request</a:t>
            </a:r>
          </a:p>
          <a:p>
            <a:pPr algn="ctr"/>
            <a:r>
              <a:rPr sz="800">
                <a:solidFill>
                  <a:srgbClr val="C9D2DD"/>
                </a:solidFill>
                <a:latin typeface="Segoe UI"/>
              </a:rPr>
              <a:t>self-service, done in minutes</a:t>
            </a:r>
          </a:p>
        </p:txBody>
      </p:sp>
      <p:sp>
        <p:nvSpPr>
          <p:cNvPr id="37" name="Chevron 36"/>
          <p:cNvSpPr/>
          <p:nvPr/>
        </p:nvSpPr>
        <p:spPr>
          <a:xfrm>
            <a:off x="2752344" y="4389120"/>
            <a:ext cx="2377440" cy="658368"/>
          </a:xfrm>
          <a:prstGeom prst="chevron">
            <a:avLst>
              <a:gd name="adj" fmla="val 50000"/>
            </a:avLst>
          </a:prstGeom>
          <a:solidFill>
            <a:srgbClr val="1B2A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128016" tIns="18288" bIns="18288"/>
          <a:lstStyle/>
          <a:p>
            <a:pPr algn="ctr"/>
            <a:r>
              <a:rPr sz="1000" b="1">
                <a:solidFill>
                  <a:srgbClr val="FFFFFF"/>
                </a:solidFill>
                <a:latin typeface="Segoe UI"/>
              </a:rPr>
              <a:t>Maker–Checker</a:t>
            </a:r>
          </a:p>
          <a:p>
            <a:pPr algn="ctr"/>
            <a:r>
              <a:rPr sz="800">
                <a:solidFill>
                  <a:srgbClr val="C9D2DD"/>
                </a:solidFill>
                <a:latin typeface="Segoe UI"/>
              </a:rPr>
              <a:t>approval via pull request</a:t>
            </a:r>
          </a:p>
        </p:txBody>
      </p:sp>
      <p:sp>
        <p:nvSpPr>
          <p:cNvPr id="38" name="Chevron 37"/>
          <p:cNvSpPr/>
          <p:nvPr/>
        </p:nvSpPr>
        <p:spPr>
          <a:xfrm>
            <a:off x="4956048" y="4389120"/>
            <a:ext cx="2377440" cy="658368"/>
          </a:xfrm>
          <a:prstGeom prst="chevron">
            <a:avLst>
              <a:gd name="adj" fmla="val 50000"/>
            </a:avLst>
          </a:prstGeom>
          <a:solidFill>
            <a:srgbClr val="FFFFFF"/>
          </a:solidFill>
          <a:ln w="22225">
            <a:solidFill>
              <a:srgbClr val="2E74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128016" tIns="18288" bIns="18288"/>
          <a:lstStyle/>
          <a:p>
            <a:pPr algn="ctr"/>
            <a:r>
              <a:rPr sz="1000" b="1">
                <a:solidFill>
                  <a:srgbClr val="1B2A41"/>
                </a:solidFill>
                <a:latin typeface="Segoe UI"/>
              </a:rPr>
              <a:t>Git — the record</a:t>
            </a:r>
          </a:p>
          <a:p>
            <a:pPr algn="ctr"/>
            <a:r>
              <a:rPr sz="800">
                <a:solidFill>
                  <a:srgbClr val="2E74B5"/>
                </a:solidFill>
                <a:latin typeface="Segoe UI"/>
              </a:rPr>
              <a:t>the single source of truth</a:t>
            </a:r>
          </a:p>
        </p:txBody>
      </p:sp>
      <p:sp>
        <p:nvSpPr>
          <p:cNvPr id="39" name="Chevron 38"/>
          <p:cNvSpPr/>
          <p:nvPr/>
        </p:nvSpPr>
        <p:spPr>
          <a:xfrm>
            <a:off x="7159752" y="4389120"/>
            <a:ext cx="2377440" cy="658368"/>
          </a:xfrm>
          <a:prstGeom prst="chevron">
            <a:avLst>
              <a:gd name="adj" fmla="val 50000"/>
            </a:avLst>
          </a:prstGeom>
          <a:solidFill>
            <a:srgbClr val="2E74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128016" tIns="18288" bIns="18288"/>
          <a:lstStyle/>
          <a:p>
            <a:pPr algn="ctr"/>
            <a:r>
              <a:rPr sz="1000" b="1">
                <a:solidFill>
                  <a:srgbClr val="FFFFFF"/>
                </a:solidFill>
                <a:latin typeface="Segoe UI"/>
              </a:rPr>
              <a:t>Automation applies</a:t>
            </a:r>
          </a:p>
          <a:p>
            <a:pPr algn="ctr"/>
            <a:r>
              <a:rPr sz="800">
                <a:solidFill>
                  <a:srgbClr val="C9D2DD"/>
                </a:solidFill>
                <a:latin typeface="Segoe UI"/>
              </a:rPr>
              <a:t>no manual changes</a:t>
            </a:r>
          </a:p>
        </p:txBody>
      </p:sp>
      <p:sp>
        <p:nvSpPr>
          <p:cNvPr id="40" name="Chevron 39"/>
          <p:cNvSpPr/>
          <p:nvPr/>
        </p:nvSpPr>
        <p:spPr>
          <a:xfrm>
            <a:off x="9363456" y="4389120"/>
            <a:ext cx="2377440" cy="658368"/>
          </a:xfrm>
          <a:prstGeom prst="chevron">
            <a:avLst>
              <a:gd name="adj" fmla="val 50000"/>
            </a:avLst>
          </a:prstGeom>
          <a:solidFill>
            <a:srgbClr val="2E74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128016" tIns="18288" bIns="18288"/>
          <a:lstStyle/>
          <a:p>
            <a:pPr algn="ctr"/>
            <a:r>
              <a:rPr sz="1000" b="1">
                <a:solidFill>
                  <a:srgbClr val="FFFFFF"/>
                </a:solidFill>
                <a:latin typeface="Segoe UI"/>
              </a:rPr>
              <a:t>Drift detection</a:t>
            </a:r>
          </a:p>
          <a:p>
            <a:pPr algn="ctr"/>
            <a:r>
              <a:rPr sz="800">
                <a:solidFill>
                  <a:srgbClr val="C9D2DD"/>
                </a:solidFill>
                <a:latin typeface="Segoe UI"/>
              </a:rPr>
              <a:t>continuous verification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48640" y="5157216"/>
            <a:ext cx="1106424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1">
                <a:solidFill>
                  <a:srgbClr val="2E74B5"/>
                </a:solidFill>
                <a:latin typeface="Segoe UI"/>
              </a:rPr>
              <a:t>AI guided, humans approve, git records</a:t>
            </a:r>
            <a:r>
              <a:rPr sz="1100" b="0">
                <a:solidFill>
                  <a:srgbClr val="40444B"/>
                </a:solidFill>
                <a:latin typeface="Segoe UI"/>
              </a:rPr>
              <a:t>  —  no one, and nothing, writes to a platform directly. </a:t>
            </a:r>
            <a:r>
              <a:rPr sz="1100" b="1">
                <a:solidFill>
                  <a:srgbClr val="1B2A41"/>
                </a:solidFill>
                <a:latin typeface="Segoe UI"/>
              </a:rPr>
              <a:t>Drift is impossible by construction — not fought by discipline.</a:t>
            </a:r>
          </a:p>
        </p:txBody>
      </p:sp>
      <p:sp>
        <p:nvSpPr>
          <p:cNvPr id="42" name="Rectangle 41"/>
          <p:cNvSpPr/>
          <p:nvPr/>
        </p:nvSpPr>
        <p:spPr>
          <a:xfrm>
            <a:off x="548640" y="5596128"/>
            <a:ext cx="11091672" cy="10972"/>
          </a:xfrm>
          <a:prstGeom prst="rect">
            <a:avLst/>
          </a:prstGeom>
          <a:solidFill>
            <a:srgbClr val="D8DC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548640" y="5705856"/>
            <a:ext cx="1106424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500"/>
              </a:spcAft>
            </a:pPr>
            <a:r>
              <a:rPr sz="1050" b="1">
                <a:solidFill>
                  <a:srgbClr val="1B2A41"/>
                </a:solidFill>
                <a:latin typeface="Segoe UI"/>
              </a:rPr>
              <a:t>Grounded in two systems of record:  </a:t>
            </a:r>
            <a:r>
              <a:rPr sz="1050" b="1">
                <a:solidFill>
                  <a:srgbClr val="1B2A41"/>
                </a:solidFill>
                <a:latin typeface="Segoe UI"/>
              </a:rPr>
              <a:t>CMDB</a:t>
            </a:r>
            <a:r>
              <a:rPr sz="1050" b="0">
                <a:solidFill>
                  <a:srgbClr val="40444B"/>
                </a:solidFill>
                <a:latin typeface="Segoe UI"/>
              </a:rPr>
              <a:t> (what exists)  ·  </a:t>
            </a:r>
            <a:r>
              <a:rPr sz="1050" b="1">
                <a:solidFill>
                  <a:srgbClr val="1B2A41"/>
                </a:solidFill>
                <a:latin typeface="Segoe UI"/>
              </a:rPr>
              <a:t>Git — the second brain</a:t>
            </a:r>
            <a:r>
              <a:rPr sz="1050" b="0">
                <a:solidFill>
                  <a:srgbClr val="40444B"/>
                </a:solidFill>
                <a:latin typeface="Segoe UI"/>
              </a:rPr>
              <a:t> (what is configured, and why)</a:t>
            </a:r>
          </a:p>
          <a:p>
            <a:pPr algn="l">
              <a:spcAft>
                <a:spcPts val="500"/>
              </a:spcAft>
            </a:pPr>
            <a:r>
              <a:rPr sz="1050" b="1">
                <a:solidFill>
                  <a:srgbClr val="1B2A41"/>
                </a:solidFill>
                <a:latin typeface="Segoe UI"/>
              </a:rPr>
              <a:t>Runs the tools we already own — invisible to requesters:  </a:t>
            </a:r>
            <a:r>
              <a:rPr sz="1050" b="0">
                <a:solidFill>
                  <a:srgbClr val="40444B"/>
                </a:solidFill>
                <a:latin typeface="Segoe UI"/>
              </a:rPr>
              <a:t>ELK + Kafka  ·  DX UIM  ·  SolarWinds  ·  Grafana / Kibana  ·  Moogsoft → HPSM</a:t>
            </a:r>
          </a:p>
        </p:txBody>
      </p:sp>
      <p:sp>
        <p:nvSpPr>
          <p:cNvPr id="44" name="Rectangle 43"/>
          <p:cNvSpPr/>
          <p:nvPr/>
        </p:nvSpPr>
        <p:spPr>
          <a:xfrm>
            <a:off x="548640" y="6455664"/>
            <a:ext cx="11091672" cy="10972"/>
          </a:xfrm>
          <a:prstGeom prst="rect">
            <a:avLst/>
          </a:prstGeom>
          <a:solidFill>
            <a:srgbClr val="D8DC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548640" y="651052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850" b="0">
                <a:solidFill>
                  <a:srgbClr val="7A808A"/>
                </a:solidFill>
                <a:latin typeface="Segoe UI"/>
              </a:rPr>
              <a:t>Observability Portal — Executive Briefing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0972800" y="6510528"/>
            <a:ext cx="66751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850" b="0">
                <a:solidFill>
                  <a:srgbClr val="7A808A"/>
                </a:solidFill>
                <a:latin typeface="Segoe UI"/>
              </a:rP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1">
                <a:solidFill>
                  <a:srgbClr val="7A808A"/>
                </a:solidFill>
                <a:latin typeface="Segoe UI"/>
              </a:rPr>
              <a:t>WHY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110642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600" b="1">
                <a:solidFill>
                  <a:srgbClr val="1B2A41"/>
                </a:solidFill>
                <a:latin typeface="Segoe UI"/>
              </a:rPr>
              <a:t>Why do we need it?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61872"/>
            <a:ext cx="914400" cy="32004"/>
          </a:xfrm>
          <a:prstGeom prst="rect">
            <a:avLst/>
          </a:prstGeom>
          <a:solidFill>
            <a:srgbClr val="2E74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371600"/>
            <a:ext cx="110642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1">
                <a:solidFill>
                  <a:srgbClr val="1B2A41"/>
                </a:solidFill>
                <a:latin typeface="Segoe UI"/>
              </a:rPr>
              <a:t>The tools kept modernising — the practice stood still</a:t>
            </a:r>
            <a:r>
              <a:rPr sz="1150" b="0">
                <a:solidFill>
                  <a:srgbClr val="7A808A"/>
                </a:solidFill>
                <a:latin typeface="Segoe UI"/>
              </a:rPr>
              <a:t> — a decade invested in platforms, with no innovation in how observability itself is done: siloed automation, no continuity, while the estate it watches exploded.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810512"/>
            <a:ext cx="3520440" cy="25603"/>
          </a:xfrm>
          <a:prstGeom prst="rect">
            <a:avLst/>
          </a:prstGeom>
          <a:solidFill>
            <a:srgbClr val="2E74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1938528"/>
            <a:ext cx="35204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1B2A41"/>
                </a:solidFill>
                <a:latin typeface="Segoe UI"/>
              </a:rPr>
              <a:t>A sprawl of tools, no product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2231136"/>
            <a:ext cx="352044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>
                <a:solidFill>
                  <a:srgbClr val="40444B"/>
                </a:solidFill>
                <a:latin typeface="Segoe UI"/>
              </a:rPr>
              <a:t>Complex platforms grown side by side, with no singular product to orchestrate them — enabling yourself depends on finding the right engineer.</a:t>
            </a:r>
          </a:p>
        </p:txBody>
      </p:sp>
      <p:sp>
        <p:nvSpPr>
          <p:cNvPr id="9" name="Rectangle 8"/>
          <p:cNvSpPr/>
          <p:nvPr/>
        </p:nvSpPr>
        <p:spPr>
          <a:xfrm>
            <a:off x="4379976" y="1810512"/>
            <a:ext cx="3520440" cy="25603"/>
          </a:xfrm>
          <a:prstGeom prst="rect">
            <a:avLst/>
          </a:prstGeom>
          <a:solidFill>
            <a:srgbClr val="2E74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379976" y="1938528"/>
            <a:ext cx="35204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1B2A41"/>
                </a:solidFill>
                <a:latin typeface="Segoe UI"/>
              </a:rPr>
              <a:t>No knowable way to “do observability”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379976" y="2231136"/>
            <a:ext cx="352044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>
                <a:solidFill>
                  <a:srgbClr val="40444B"/>
                </a:solidFill>
                <a:latin typeface="Segoe UI"/>
              </a:rPr>
              <a:t>The documentation exists — Confluence pages grown stale, bloated, and burdensome. Nobody trusts them; everybody falls back to asking.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211312" y="1810512"/>
            <a:ext cx="3520440" cy="25603"/>
          </a:xfrm>
          <a:prstGeom prst="rect">
            <a:avLst/>
          </a:prstGeom>
          <a:solidFill>
            <a:srgbClr val="2E74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11312" y="1938528"/>
            <a:ext cx="35204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1B2A41"/>
                </a:solidFill>
                <a:latin typeface="Segoe UI"/>
              </a:rPr>
              <a:t>Operations struck and stuck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11312" y="2231136"/>
            <a:ext cx="352044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>
                <a:solidFill>
                  <a:srgbClr val="40444B"/>
                </a:solidFill>
                <a:latin typeface="Segoe UI"/>
              </a:rPr>
              <a:t>Massive volume, the same stale problems arriving daily. With the explosion of microservices and AI, operational fatigue is the common illness.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640" y="3035808"/>
            <a:ext cx="1106424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050" b="0" i="1">
                <a:solidFill>
                  <a:srgbClr val="3E4C63"/>
                </a:solidFill>
                <a:latin typeface="Segoe UI"/>
              </a:rPr>
              <a:t>Manual work has a scaling law: errors accumulate into operational drift — more volume, more drift, same small team.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48640" y="3419856"/>
            <a:ext cx="11091672" cy="10972"/>
          </a:xfrm>
          <a:prstGeom prst="rect">
            <a:avLst/>
          </a:prstGeom>
          <a:solidFill>
            <a:srgbClr val="D8DC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48640" y="3529584"/>
            <a:ext cx="1106424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50" b="1">
                <a:solidFill>
                  <a:srgbClr val="7A808A"/>
                </a:solidFill>
                <a:latin typeface="Segoe UI"/>
              </a:rPr>
              <a:t>THE OPERATING-MODEL SHIFT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40" y="3803904"/>
            <a:ext cx="42062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050" b="0">
                <a:solidFill>
                  <a:srgbClr val="7A808A"/>
                </a:solidFill>
                <a:latin typeface="Segoe UI"/>
              </a:rPr>
              <a:t>Requests wait on individual engineers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800600" y="3803904"/>
            <a:ext cx="2743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2E74B5"/>
                </a:solidFill>
                <a:latin typeface="Segoe UI"/>
              </a:rPr>
              <a:t>→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120640" y="3803904"/>
            <a:ext cx="64922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050" b="1">
                <a:solidFill>
                  <a:srgbClr val="1B2A41"/>
                </a:solidFill>
                <a:latin typeface="Segoe UI"/>
              </a:rPr>
              <a:t>Governed self-service — fulfilled within minutes of approval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48640" y="4187952"/>
            <a:ext cx="42062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050" b="0">
                <a:solidFill>
                  <a:srgbClr val="7A808A"/>
                </a:solidFill>
                <a:latin typeface="Segoe UI"/>
              </a:rPr>
              <a:t>Documentation maintained by hand, trusted by no one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800600" y="4187952"/>
            <a:ext cx="2743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2E74B5"/>
                </a:solidFill>
                <a:latin typeface="Segoe UI"/>
              </a:rPr>
              <a:t>→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120640" y="4187952"/>
            <a:ext cx="64922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050" b="1">
                <a:solidFill>
                  <a:srgbClr val="1B2A41"/>
                </a:solidFill>
                <a:latin typeface="Segoe UI"/>
              </a:rPr>
              <a:t>One source of truth, generated from the config that runs the tools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48640" y="4572000"/>
            <a:ext cx="42062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050" b="0">
                <a:solidFill>
                  <a:srgbClr val="7A808A"/>
                </a:solidFill>
                <a:latin typeface="Segoe UI"/>
              </a:rPr>
              <a:t>Approvals informal; audit reconstructed from memory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800600" y="4572000"/>
            <a:ext cx="2743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2E74B5"/>
                </a:solidFill>
                <a:latin typeface="Segoe UI"/>
              </a:rPr>
              <a:t>→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120640" y="4572000"/>
            <a:ext cx="64922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050" b="1">
                <a:solidFill>
                  <a:srgbClr val="1B2A41"/>
                </a:solidFill>
                <a:latin typeface="Segoe UI"/>
              </a:rPr>
              <a:t>Approval, record, and activation built into every change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48640" y="5047488"/>
            <a:ext cx="11091672" cy="10972"/>
          </a:xfrm>
          <a:prstGeom prst="rect">
            <a:avLst/>
          </a:prstGeom>
          <a:solidFill>
            <a:srgbClr val="D8DC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48640" y="5157216"/>
            <a:ext cx="566928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50" b="1">
                <a:solidFill>
                  <a:srgbClr val="7A808A"/>
                </a:solidFill>
                <a:latin typeface="Segoe UI"/>
              </a:rPr>
              <a:t>VALUE ARISES NATURALLY — A NATURAL EFFECT OF THE DESIGN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48640" y="5431536"/>
            <a:ext cx="566928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050" b="1">
                <a:solidFill>
                  <a:srgbClr val="1B2A41"/>
                </a:solidFill>
                <a:latin typeface="Segoe UI"/>
              </a:rPr>
              <a:t>An evolution, not a fix</a:t>
            </a:r>
            <a:r>
              <a:rPr sz="1000" b="0">
                <a:solidFill>
                  <a:srgbClr val="40444B"/>
                </a:solidFill>
                <a:latin typeface="Segoe UI"/>
              </a:rPr>
              <a:t> — engineers freed from toil back to engineering; a self-service culture; knowledge that compounds instead of decays.</a:t>
            </a:r>
          </a:p>
          <a:p>
            <a:pPr algn="l">
              <a:spcAft>
                <a:spcPts val="300"/>
              </a:spcAft>
            </a:pPr>
            <a:r>
              <a:rPr sz="1050" b="1">
                <a:solidFill>
                  <a:srgbClr val="2E74B5"/>
                </a:solidFill>
                <a:latin typeface="Segoe UI"/>
              </a:rPr>
              <a:t>The next frontier</a:t>
            </a:r>
            <a:r>
              <a:rPr sz="1000" b="0">
                <a:solidFill>
                  <a:srgbClr val="40444B"/>
                </a:solidFill>
                <a:latin typeface="Segoe UI"/>
              </a:rPr>
              <a:t> — once decided, the second brain unlocks AI-guided operations: proactive, predictive observability, and a platform-engineering pattern the wider bank can reuse.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492240" y="5157216"/>
            <a:ext cx="512064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50" b="1">
                <a:solidFill>
                  <a:srgbClr val="7A808A"/>
                </a:solidFill>
                <a:latin typeface="Segoe UI"/>
              </a:rPr>
              <a:t>WHY NOW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492240" y="5431536"/>
            <a:ext cx="51206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050" b="1">
                <a:solidFill>
                  <a:srgbClr val="1B2A41"/>
                </a:solidFill>
                <a:latin typeface="Segoe UI"/>
              </a:rPr>
              <a:t>Already working</a:t>
            </a:r>
            <a:r>
              <a:rPr sz="1000" b="0">
                <a:solidFill>
                  <a:srgbClr val="40444B"/>
                </a:solidFill>
                <a:latin typeface="Segoe UI"/>
              </a:rPr>
              <a:t> — first slice runs end to end today.  </a:t>
            </a:r>
            <a:r>
              <a:rPr sz="1050" b="1">
                <a:solidFill>
                  <a:srgbClr val="1B2A41"/>
                </a:solidFill>
                <a:latin typeface="Segoe UI"/>
              </a:rPr>
              <a:t>Nothing new to buy</a:t>
            </a:r>
            <a:r>
              <a:rPr sz="1000" b="0">
                <a:solidFill>
                  <a:srgbClr val="40444B"/>
                </a:solidFill>
                <a:latin typeface="Segoe UI"/>
              </a:rPr>
              <a:t> — Backstage + tools we own.  </a:t>
            </a:r>
            <a:r>
              <a:rPr sz="1050" b="1">
                <a:solidFill>
                  <a:srgbClr val="1B2A41"/>
                </a:solidFill>
                <a:latin typeface="Segoe UI"/>
              </a:rPr>
              <a:t>AI-ready</a:t>
            </a:r>
            <a:r>
              <a:rPr sz="1000" b="0">
                <a:solidFill>
                  <a:srgbClr val="40444B"/>
                </a:solidFill>
                <a:latin typeface="Segoe UI"/>
              </a:rPr>
              <a:t> — a plain-text estate makes AI safe by construction.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48640" y="6455664"/>
            <a:ext cx="11091672" cy="10972"/>
          </a:xfrm>
          <a:prstGeom prst="rect">
            <a:avLst/>
          </a:prstGeom>
          <a:solidFill>
            <a:srgbClr val="D8DC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548640" y="651052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850" b="0">
                <a:solidFill>
                  <a:srgbClr val="7A808A"/>
                </a:solidFill>
                <a:latin typeface="Segoe UI"/>
              </a:rPr>
              <a:t>Observability Portal — Executive Briefing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972800" y="6510528"/>
            <a:ext cx="66751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850" b="0">
                <a:solidFill>
                  <a:srgbClr val="7A808A"/>
                </a:solidFill>
                <a:latin typeface="Segoe UI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1">
                <a:solidFill>
                  <a:srgbClr val="7A808A"/>
                </a:solidFill>
                <a:latin typeface="Segoe UI"/>
              </a:rPr>
              <a:t>HOW — THE PIPELINE IN FULL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85216"/>
            <a:ext cx="1106424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200" b="1">
                <a:solidFill>
                  <a:srgbClr val="1B2A41"/>
                </a:solidFill>
                <a:latin typeface="Segoe UI"/>
              </a:rPr>
              <a:t>How it works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115568"/>
            <a:ext cx="914400" cy="32004"/>
          </a:xfrm>
          <a:prstGeom prst="rect">
            <a:avLst/>
          </a:prstGeom>
          <a:solidFill>
            <a:srgbClr val="2E74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48640" y="2331720"/>
            <a:ext cx="868680" cy="822960"/>
          </a:xfrm>
          <a:prstGeom prst="rect">
            <a:avLst/>
          </a:prstGeom>
          <a:solidFill>
            <a:srgbClr val="1B2A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21792" y="2487168"/>
            <a:ext cx="722376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1">
                <a:solidFill>
                  <a:srgbClr val="FFFFFF"/>
                </a:solidFill>
                <a:latin typeface="Segoe UI"/>
              </a:rPr>
              <a:t>Users</a:t>
            </a:r>
          </a:p>
          <a:p>
            <a:pPr algn="l">
              <a:spcAft>
                <a:spcPts val="0"/>
              </a:spcAft>
            </a:pPr>
            <a:r>
              <a:rPr sz="750" b="0">
                <a:solidFill>
                  <a:srgbClr val="C9D2DD"/>
                </a:solidFill>
                <a:latin typeface="Segoe UI"/>
              </a:rPr>
              <a:t>any team</a:t>
            </a:r>
          </a:p>
        </p:txBody>
      </p:sp>
      <p:sp>
        <p:nvSpPr>
          <p:cNvPr id="7" name="Right Arrow 6"/>
          <p:cNvSpPr/>
          <p:nvPr/>
        </p:nvSpPr>
        <p:spPr>
          <a:xfrm>
            <a:off x="1444752" y="2651760"/>
            <a:ext cx="219456" cy="182880"/>
          </a:xfrm>
          <a:prstGeom prst="rightArrow">
            <a:avLst/>
          </a:prstGeom>
          <a:solidFill>
            <a:srgbClr val="2E74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700784" y="1371600"/>
            <a:ext cx="2651760" cy="2743200"/>
          </a:xfrm>
          <a:prstGeom prst="rect">
            <a:avLst/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1810512" y="1444752"/>
            <a:ext cx="237744" cy="237744"/>
          </a:xfrm>
          <a:prstGeom prst="roundRect">
            <a:avLst>
              <a:gd name="adj" fmla="val 25000"/>
            </a:avLst>
          </a:prstGeom>
          <a:solidFill>
            <a:srgbClr val="36BAA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800" b="1">
                <a:solidFill>
                  <a:srgbClr val="FFFFFF"/>
                </a:solidFill>
                <a:latin typeface="Segoe UI"/>
              </a:rPr>
              <a:t>B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121408" y="1463040"/>
            <a:ext cx="2139696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850" b="1">
                <a:solidFill>
                  <a:srgbClr val="7A808A"/>
                </a:solidFill>
                <a:latin typeface="Segoe UI"/>
              </a:rPr>
              <a:t>BACKSTAGE · YELLOW PAGES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810512" y="1719072"/>
            <a:ext cx="2432304" cy="749808"/>
          </a:xfrm>
          <a:prstGeom prst="rect">
            <a:avLst/>
          </a:prstGeom>
          <a:solidFill>
            <a:srgbClr val="FFFFFF"/>
          </a:solidFill>
          <a:ln w="9525">
            <a:solidFill>
              <a:srgbClr val="D8DC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920240" y="1755648"/>
            <a:ext cx="2212848" cy="6766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950" b="1">
                <a:solidFill>
                  <a:srgbClr val="2E74B5"/>
                </a:solidFill>
                <a:latin typeface="Segoe UI"/>
              </a:rPr>
              <a:t>1 · </a:t>
            </a:r>
            <a:r>
              <a:rPr sz="950" b="1">
                <a:solidFill>
                  <a:srgbClr val="1B2A41"/>
                </a:solidFill>
                <a:latin typeface="Segoe UI"/>
              </a:rPr>
              <a:t>Guided request form</a:t>
            </a:r>
          </a:p>
          <a:p>
            <a:pPr algn="l">
              <a:spcAft>
                <a:spcPts val="200"/>
              </a:spcAft>
            </a:pPr>
            <a:r>
              <a:rPr sz="800" b="0">
                <a:solidFill>
                  <a:srgbClr val="40444B"/>
                </a:solidFill>
                <a:latin typeface="Segoe UI"/>
              </a:rPr>
              <a:t>A step-by-step wizard captures the need and produces one standard, tool-neutral request document.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1810512" y="2523744"/>
            <a:ext cx="2432304" cy="749808"/>
          </a:xfrm>
          <a:prstGeom prst="rect">
            <a:avLst/>
          </a:prstGeom>
          <a:solidFill>
            <a:srgbClr val="FFFFFF"/>
          </a:solidFill>
          <a:ln w="9525">
            <a:solidFill>
              <a:srgbClr val="D8DC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920240" y="2560320"/>
            <a:ext cx="2212848" cy="6766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950" b="1">
                <a:solidFill>
                  <a:srgbClr val="2E74B5"/>
                </a:solidFill>
                <a:latin typeface="Segoe UI"/>
              </a:rPr>
              <a:t>2 · </a:t>
            </a:r>
            <a:r>
              <a:rPr sz="950" b="1">
                <a:solidFill>
                  <a:srgbClr val="1B2A41"/>
                </a:solidFill>
                <a:latin typeface="Segoe UI"/>
              </a:rPr>
              <a:t>Auto-filed to git</a:t>
            </a:r>
          </a:p>
          <a:p>
            <a:pPr algn="l">
              <a:spcAft>
                <a:spcPts val="200"/>
              </a:spcAft>
            </a:pPr>
            <a:r>
              <a:rPr sz="800" b="0">
                <a:solidFill>
                  <a:srgbClr val="40444B"/>
                </a:solidFill>
                <a:latin typeface="Segoe UI"/>
              </a:rPr>
              <a:t>The portal files the request in git automatically — its own branch, ready for review. No human touches git.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1810512" y="3328416"/>
            <a:ext cx="2432304" cy="713232"/>
          </a:xfrm>
          <a:prstGeom prst="rect">
            <a:avLst/>
          </a:prstGeom>
          <a:solidFill>
            <a:srgbClr val="FFFFFF"/>
          </a:solidFill>
          <a:ln w="9525">
            <a:solidFill>
              <a:srgbClr val="D8DC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920240" y="3364992"/>
            <a:ext cx="2212848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950" b="1">
                <a:solidFill>
                  <a:srgbClr val="2E74B5"/>
                </a:solidFill>
                <a:latin typeface="Segoe UI"/>
              </a:rPr>
              <a:t>3 · </a:t>
            </a:r>
            <a:r>
              <a:rPr sz="950" b="1">
                <a:solidFill>
                  <a:srgbClr val="1B2A41"/>
                </a:solidFill>
                <a:latin typeface="Segoe UI"/>
              </a:rPr>
              <a:t>Approval workflow</a:t>
            </a:r>
          </a:p>
          <a:p>
            <a:pPr algn="l">
              <a:spcAft>
                <a:spcPts val="200"/>
              </a:spcAft>
            </a:pPr>
            <a:r>
              <a:rPr sz="800" b="0">
                <a:solidFill>
                  <a:srgbClr val="40444B"/>
                </a:solidFill>
                <a:latin typeface="Segoe UI"/>
              </a:rPr>
              <a:t>Maker–checker: approver reviews a human-readable diff, never raw tool keys.</a:t>
            </a:r>
          </a:p>
        </p:txBody>
      </p:sp>
      <p:sp>
        <p:nvSpPr>
          <p:cNvPr id="17" name="Right Arrow 16"/>
          <p:cNvSpPr/>
          <p:nvPr/>
        </p:nvSpPr>
        <p:spPr>
          <a:xfrm>
            <a:off x="4389120" y="2651760"/>
            <a:ext cx="219456" cy="182880"/>
          </a:xfrm>
          <a:prstGeom prst="rightArrow">
            <a:avLst/>
          </a:prstGeom>
          <a:solidFill>
            <a:srgbClr val="2E74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645152" y="1371600"/>
            <a:ext cx="2377440" cy="2743200"/>
          </a:xfrm>
          <a:prstGeom prst="rect">
            <a:avLst/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4754880" y="1444752"/>
            <a:ext cx="237744" cy="237744"/>
          </a:xfrm>
          <a:prstGeom prst="roundRect">
            <a:avLst>
              <a:gd name="adj" fmla="val 25000"/>
            </a:avLst>
          </a:prstGeom>
          <a:solidFill>
            <a:srgbClr val="005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800" b="1">
                <a:solidFill>
                  <a:srgbClr val="FFFFFF"/>
                </a:solidFill>
                <a:latin typeface="Segoe UI"/>
              </a:rPr>
              <a:t>Bb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065776" y="1463040"/>
            <a:ext cx="1865376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850" b="1">
                <a:solidFill>
                  <a:srgbClr val="7A808A"/>
                </a:solidFill>
                <a:latin typeface="Segoe UI"/>
              </a:rPr>
              <a:t>BITBUCKET · THE RECORD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754880" y="1719072"/>
            <a:ext cx="2157984" cy="786384"/>
          </a:xfrm>
          <a:prstGeom prst="rect">
            <a:avLst/>
          </a:prstGeom>
          <a:solidFill>
            <a:srgbClr val="FFFFFF"/>
          </a:solidFill>
          <a:ln w="9525">
            <a:solidFill>
              <a:srgbClr val="D8DC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864608" y="1755648"/>
            <a:ext cx="1938528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950" b="1">
                <a:solidFill>
                  <a:srgbClr val="2E74B5"/>
                </a:solidFill>
                <a:latin typeface="Segoe UI"/>
              </a:rPr>
              <a:t>4 · </a:t>
            </a:r>
            <a:r>
              <a:rPr sz="950" b="1">
                <a:solidFill>
                  <a:srgbClr val="1B2A41"/>
                </a:solidFill>
                <a:latin typeface="Segoe UI"/>
              </a:rPr>
              <a:t>Approve &amp; merge</a:t>
            </a:r>
          </a:p>
          <a:p>
            <a:pPr algn="l">
              <a:spcAft>
                <a:spcPts val="200"/>
              </a:spcAft>
            </a:pPr>
            <a:r>
              <a:rPr sz="800" b="0">
                <a:solidFill>
                  <a:srgbClr val="40444B"/>
                </a:solidFill>
                <a:latin typeface="Segoe UI"/>
              </a:rPr>
              <a:t>The approver merges the change — the merge IS the approval, and git keeps the permanent record: who, what, when.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754880" y="2578608"/>
            <a:ext cx="2157984" cy="731520"/>
          </a:xfrm>
          <a:prstGeom prst="rect">
            <a:avLst/>
          </a:prstGeom>
          <a:solidFill>
            <a:srgbClr val="FFFFFF"/>
          </a:solidFill>
          <a:ln w="9525">
            <a:solidFill>
              <a:srgbClr val="D8DC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864608" y="2615184"/>
            <a:ext cx="1938528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950" b="1">
                <a:solidFill>
                  <a:srgbClr val="2E74B5"/>
                </a:solidFill>
                <a:latin typeface="Segoe UI"/>
              </a:rPr>
              <a:t>5 · </a:t>
            </a:r>
            <a:r>
              <a:rPr sz="950" b="1">
                <a:solidFill>
                  <a:srgbClr val="1B2A41"/>
                </a:solidFill>
                <a:latin typeface="Segoe UI"/>
              </a:rPr>
              <a:t>Approval triggers automation</a:t>
            </a:r>
          </a:p>
          <a:p>
            <a:pPr algn="l">
              <a:spcAft>
                <a:spcPts val="200"/>
              </a:spcAft>
            </a:pPr>
            <a:r>
              <a:rPr sz="800" b="0">
                <a:solidFill>
                  <a:srgbClr val="40444B"/>
                </a:solidFill>
                <a:latin typeface="Segoe UI"/>
              </a:rPr>
              <a:t>The moment a change lands, git signals the automation — no scheduler, no queue, no hand-off.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754880" y="3383280"/>
            <a:ext cx="2157984" cy="658368"/>
          </a:xfrm>
          <a:prstGeom prst="rect">
            <a:avLst/>
          </a:prstGeom>
          <a:solidFill>
            <a:srgbClr val="FFFFFF"/>
          </a:solidFill>
          <a:ln w="9525">
            <a:solidFill>
              <a:srgbClr val="D8DC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864608" y="3419856"/>
            <a:ext cx="1938528" cy="58521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950" b="1">
                <a:solidFill>
                  <a:srgbClr val="1B2A41"/>
                </a:solidFill>
                <a:latin typeface="Segoe UI"/>
              </a:rPr>
              <a:t>One repo per tool</a:t>
            </a:r>
          </a:p>
          <a:p>
            <a:pPr algn="l">
              <a:spcAft>
                <a:spcPts val="200"/>
              </a:spcAft>
            </a:pPr>
            <a:r>
              <a:rPr sz="750" b="0">
                <a:solidFill>
                  <a:srgbClr val="40444B"/>
                </a:solidFill>
                <a:latin typeface="Segoe UI"/>
              </a:rPr>
              <a:t>Every tool’s configuration in its own repository, under one shared convention.</a:t>
            </a:r>
          </a:p>
        </p:txBody>
      </p:sp>
      <p:sp>
        <p:nvSpPr>
          <p:cNvPr id="27" name="Right Arrow 26"/>
          <p:cNvSpPr/>
          <p:nvPr/>
        </p:nvSpPr>
        <p:spPr>
          <a:xfrm>
            <a:off x="7059168" y="2651760"/>
            <a:ext cx="219456" cy="182880"/>
          </a:xfrm>
          <a:prstGeom prst="rightArrow">
            <a:avLst/>
          </a:prstGeom>
          <a:solidFill>
            <a:srgbClr val="2E74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7315200" y="1371600"/>
            <a:ext cx="2468880" cy="2743200"/>
          </a:xfrm>
          <a:prstGeom prst="rect">
            <a:avLst/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7424927" y="1444752"/>
            <a:ext cx="237744" cy="237744"/>
          </a:xfrm>
          <a:prstGeom prst="roundRect">
            <a:avLst>
              <a:gd name="adj" fmla="val 25000"/>
            </a:avLst>
          </a:prstGeom>
          <a:solidFill>
            <a:srgbClr val="EE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800" b="1">
                <a:solidFill>
                  <a:srgbClr val="FFFFFF"/>
                </a:solidFill>
                <a:latin typeface="Segoe UI"/>
              </a:rPr>
              <a:t>A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735823" y="1463040"/>
            <a:ext cx="1956816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850" b="1">
                <a:solidFill>
                  <a:srgbClr val="7A808A"/>
                </a:solidFill>
                <a:latin typeface="Segoe UI"/>
              </a:rPr>
              <a:t>ANSIBLE · AUTOMATION</a:t>
            </a:r>
          </a:p>
        </p:txBody>
      </p:sp>
      <p:sp>
        <p:nvSpPr>
          <p:cNvPr id="31" name="Rectangle 30"/>
          <p:cNvSpPr/>
          <p:nvPr/>
        </p:nvSpPr>
        <p:spPr>
          <a:xfrm>
            <a:off x="7424927" y="1719072"/>
            <a:ext cx="2249424" cy="859536"/>
          </a:xfrm>
          <a:prstGeom prst="rect">
            <a:avLst/>
          </a:prstGeom>
          <a:solidFill>
            <a:srgbClr val="FFFFFF"/>
          </a:solidFill>
          <a:ln w="9525">
            <a:solidFill>
              <a:srgbClr val="D8DC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7534655" y="1755648"/>
            <a:ext cx="2029967" cy="7863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950" b="1">
                <a:solidFill>
                  <a:srgbClr val="2E74B5"/>
                </a:solidFill>
                <a:latin typeface="Segoe UI"/>
              </a:rPr>
              <a:t>6 · </a:t>
            </a:r>
            <a:r>
              <a:rPr sz="950" b="1">
                <a:solidFill>
                  <a:srgbClr val="1B2A41"/>
                </a:solidFill>
                <a:latin typeface="Segoe UI"/>
              </a:rPr>
              <a:t>Reads the approved change</a:t>
            </a:r>
          </a:p>
          <a:p>
            <a:pPr algn="l">
              <a:spcAft>
                <a:spcPts val="200"/>
              </a:spcAft>
            </a:pPr>
            <a:r>
              <a:rPr sz="800" b="0">
                <a:solidFill>
                  <a:srgbClr val="40444B"/>
                </a:solidFill>
                <a:latin typeface="Segoe UI"/>
              </a:rPr>
              <a:t>Automation reads exactly what was approved — one change, one file, or a full re-sync to repair drift.</a:t>
            </a:r>
          </a:p>
        </p:txBody>
      </p:sp>
      <p:sp>
        <p:nvSpPr>
          <p:cNvPr id="33" name="Rectangle 32"/>
          <p:cNvSpPr/>
          <p:nvPr/>
        </p:nvSpPr>
        <p:spPr>
          <a:xfrm>
            <a:off x="7424927" y="2651760"/>
            <a:ext cx="2249424" cy="786384"/>
          </a:xfrm>
          <a:prstGeom prst="rect">
            <a:avLst/>
          </a:prstGeom>
          <a:solidFill>
            <a:srgbClr val="FFFFFF"/>
          </a:solidFill>
          <a:ln w="9525">
            <a:solidFill>
              <a:srgbClr val="D8DC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7534655" y="2688336"/>
            <a:ext cx="2029967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950" b="1">
                <a:solidFill>
                  <a:srgbClr val="2E74B5"/>
                </a:solidFill>
                <a:latin typeface="Segoe UI"/>
              </a:rPr>
              <a:t>7 · </a:t>
            </a:r>
            <a:r>
              <a:rPr sz="950" b="1">
                <a:solidFill>
                  <a:srgbClr val="1B2A41"/>
                </a:solidFill>
                <a:latin typeface="Segoe UI"/>
              </a:rPr>
              <a:t>Translate &amp; activate</a:t>
            </a:r>
          </a:p>
          <a:p>
            <a:pPr algn="l">
              <a:spcAft>
                <a:spcPts val="200"/>
              </a:spcAft>
            </a:pPr>
            <a:r>
              <a:rPr sz="800" b="0">
                <a:solidFill>
                  <a:srgbClr val="40444B"/>
                </a:solidFill>
                <a:latin typeface="Segoe UI"/>
              </a:rPr>
              <a:t>The standard request is translated into each tool’s own language and applied — safe to re-run, retried on failure, credentials vaulted.</a:t>
            </a:r>
          </a:p>
        </p:txBody>
      </p:sp>
      <p:sp>
        <p:nvSpPr>
          <p:cNvPr id="35" name="Rectangle 34"/>
          <p:cNvSpPr/>
          <p:nvPr/>
        </p:nvSpPr>
        <p:spPr>
          <a:xfrm>
            <a:off x="7424927" y="3511296"/>
            <a:ext cx="2249424" cy="530352"/>
          </a:xfrm>
          <a:prstGeom prst="rect">
            <a:avLst/>
          </a:prstGeom>
          <a:solidFill>
            <a:srgbClr val="FFFFFF"/>
          </a:solidFill>
          <a:ln w="9525">
            <a:solidFill>
              <a:srgbClr val="D8DC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7534655" y="3547872"/>
            <a:ext cx="2029967" cy="45719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950" b="1">
                <a:solidFill>
                  <a:srgbClr val="1B2A41"/>
                </a:solidFill>
                <a:latin typeface="Segoe UI"/>
              </a:rPr>
              <a:t>Read-only by construction</a:t>
            </a:r>
          </a:p>
          <a:p>
            <a:pPr algn="l">
              <a:spcAft>
                <a:spcPts val="200"/>
              </a:spcAft>
            </a:pPr>
            <a:r>
              <a:rPr sz="750" b="0">
                <a:solidFill>
                  <a:srgbClr val="40444B"/>
                </a:solidFill>
                <a:latin typeface="Segoe UI"/>
              </a:rPr>
              <a:t>Automation can read the record — it can never rewrite it.</a:t>
            </a:r>
          </a:p>
        </p:txBody>
      </p:sp>
      <p:sp>
        <p:nvSpPr>
          <p:cNvPr id="37" name="Right Arrow 36"/>
          <p:cNvSpPr/>
          <p:nvPr/>
        </p:nvSpPr>
        <p:spPr>
          <a:xfrm>
            <a:off x="9820656" y="2651760"/>
            <a:ext cx="219456" cy="182880"/>
          </a:xfrm>
          <a:prstGeom prst="rightArrow">
            <a:avLst/>
          </a:prstGeom>
          <a:solidFill>
            <a:srgbClr val="2E74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10076688" y="1371600"/>
            <a:ext cx="1563624" cy="2743200"/>
          </a:xfrm>
          <a:prstGeom prst="rect">
            <a:avLst/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10186415" y="1463040"/>
            <a:ext cx="1362456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850" b="1">
                <a:solidFill>
                  <a:srgbClr val="7A808A"/>
                </a:solidFill>
                <a:latin typeface="Segoe UI"/>
              </a:rPr>
              <a:t>TARGETS</a:t>
            </a:r>
          </a:p>
        </p:txBody>
      </p:sp>
      <p:sp>
        <p:nvSpPr>
          <p:cNvPr id="40" name="Rectangle 39"/>
          <p:cNvSpPr/>
          <p:nvPr/>
        </p:nvSpPr>
        <p:spPr>
          <a:xfrm>
            <a:off x="10168128" y="1682496"/>
            <a:ext cx="1380744" cy="548640"/>
          </a:xfrm>
          <a:prstGeom prst="rect">
            <a:avLst/>
          </a:prstGeom>
          <a:solidFill>
            <a:srgbClr val="FFFFFF"/>
          </a:solidFill>
          <a:ln w="9525">
            <a:solidFill>
              <a:srgbClr val="D8DC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ounded Rectangle 40"/>
          <p:cNvSpPr/>
          <p:nvPr/>
        </p:nvSpPr>
        <p:spPr>
          <a:xfrm>
            <a:off x="10232136" y="1856232"/>
            <a:ext cx="201168" cy="201168"/>
          </a:xfrm>
          <a:prstGeom prst="roundRect">
            <a:avLst>
              <a:gd name="adj" fmla="val 25000"/>
            </a:avLst>
          </a:prstGeom>
          <a:solidFill>
            <a:srgbClr val="CC09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700" b="1">
                <a:solidFill>
                  <a:srgbClr val="FFFFFF"/>
                </a:solidFill>
                <a:latin typeface="Segoe UI"/>
              </a:rPr>
              <a:t>DX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0488168" y="1700784"/>
            <a:ext cx="1024128" cy="5120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850" b="1">
                <a:solidFill>
                  <a:srgbClr val="1B2A41"/>
                </a:solidFill>
                <a:latin typeface="Segoe UI"/>
              </a:rPr>
              <a:t>DX UIM</a:t>
            </a:r>
          </a:p>
          <a:p>
            <a:pPr algn="l">
              <a:spcAft>
                <a:spcPts val="100"/>
              </a:spcAft>
            </a:pPr>
            <a:r>
              <a:rPr sz="700" b="0">
                <a:solidFill>
                  <a:srgbClr val="40444B"/>
                </a:solidFill>
                <a:latin typeface="Segoe UI"/>
              </a:rPr>
              <a:t>infrastructure</a:t>
            </a:r>
          </a:p>
        </p:txBody>
      </p:sp>
      <p:sp>
        <p:nvSpPr>
          <p:cNvPr id="43" name="Rectangle 42"/>
          <p:cNvSpPr/>
          <p:nvPr/>
        </p:nvSpPr>
        <p:spPr>
          <a:xfrm>
            <a:off x="10168128" y="2304288"/>
            <a:ext cx="1380744" cy="548640"/>
          </a:xfrm>
          <a:prstGeom prst="rect">
            <a:avLst/>
          </a:prstGeom>
          <a:solidFill>
            <a:srgbClr val="FFFFFF"/>
          </a:solidFill>
          <a:ln w="9525">
            <a:solidFill>
              <a:srgbClr val="D8DC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ounded Rectangle 43"/>
          <p:cNvSpPr/>
          <p:nvPr/>
        </p:nvSpPr>
        <p:spPr>
          <a:xfrm>
            <a:off x="10232136" y="2478024"/>
            <a:ext cx="201168" cy="201168"/>
          </a:xfrm>
          <a:prstGeom prst="roundRect">
            <a:avLst>
              <a:gd name="adj" fmla="val 25000"/>
            </a:avLst>
          </a:prstGeom>
          <a:solidFill>
            <a:srgbClr val="00BFB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700" b="1">
                <a:solidFill>
                  <a:srgbClr val="FFFFFF"/>
                </a:solidFill>
                <a:latin typeface="Segoe UI"/>
              </a:rPr>
              <a:t>E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0488168" y="2322576"/>
            <a:ext cx="1024128" cy="5120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850" b="1">
                <a:solidFill>
                  <a:srgbClr val="1B2A41"/>
                </a:solidFill>
                <a:latin typeface="Segoe UI"/>
              </a:rPr>
              <a:t>ELK</a:t>
            </a:r>
          </a:p>
          <a:p>
            <a:pPr algn="l">
              <a:spcAft>
                <a:spcPts val="100"/>
              </a:spcAft>
            </a:pPr>
            <a:r>
              <a:rPr sz="700" b="0">
                <a:solidFill>
                  <a:srgbClr val="40444B"/>
                </a:solidFill>
                <a:latin typeface="Segoe UI"/>
              </a:rPr>
              <a:t>logs &amp; search</a:t>
            </a:r>
          </a:p>
        </p:txBody>
      </p:sp>
      <p:sp>
        <p:nvSpPr>
          <p:cNvPr id="46" name="Rectangle 45"/>
          <p:cNvSpPr/>
          <p:nvPr/>
        </p:nvSpPr>
        <p:spPr>
          <a:xfrm>
            <a:off x="10168128" y="2926080"/>
            <a:ext cx="1380744" cy="548640"/>
          </a:xfrm>
          <a:prstGeom prst="rect">
            <a:avLst/>
          </a:prstGeom>
          <a:solidFill>
            <a:srgbClr val="FFFFFF"/>
          </a:solidFill>
          <a:ln w="9525">
            <a:solidFill>
              <a:srgbClr val="D8DC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ounded Rectangle 46"/>
          <p:cNvSpPr/>
          <p:nvPr/>
        </p:nvSpPr>
        <p:spPr>
          <a:xfrm>
            <a:off x="10232136" y="3099816"/>
            <a:ext cx="201168" cy="201168"/>
          </a:xfrm>
          <a:prstGeom prst="roundRect">
            <a:avLst>
              <a:gd name="adj" fmla="val 25000"/>
            </a:avLst>
          </a:prstGeom>
          <a:solidFill>
            <a:srgbClr val="F99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700" b="1">
                <a:solidFill>
                  <a:srgbClr val="FFFFFF"/>
                </a:solidFill>
                <a:latin typeface="Segoe UI"/>
              </a:rPr>
              <a:t>SW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0488168" y="2944368"/>
            <a:ext cx="1024128" cy="5120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850" b="1">
                <a:solidFill>
                  <a:srgbClr val="1B2A41"/>
                </a:solidFill>
                <a:latin typeface="Segoe UI"/>
              </a:rPr>
              <a:t>SolarWinds</a:t>
            </a:r>
          </a:p>
          <a:p>
            <a:pPr algn="l">
              <a:spcAft>
                <a:spcPts val="100"/>
              </a:spcAft>
            </a:pPr>
            <a:r>
              <a:rPr sz="700" b="0">
                <a:solidFill>
                  <a:srgbClr val="40444B"/>
                </a:solidFill>
                <a:latin typeface="Segoe UI"/>
              </a:rPr>
              <a:t>network · planned</a:t>
            </a:r>
          </a:p>
        </p:txBody>
      </p:sp>
      <p:sp>
        <p:nvSpPr>
          <p:cNvPr id="49" name="Rectangle 48"/>
          <p:cNvSpPr/>
          <p:nvPr/>
        </p:nvSpPr>
        <p:spPr>
          <a:xfrm>
            <a:off x="10168128" y="3547872"/>
            <a:ext cx="1380744" cy="548640"/>
          </a:xfrm>
          <a:prstGeom prst="rect">
            <a:avLst/>
          </a:prstGeom>
          <a:solidFill>
            <a:srgbClr val="FFFFFF"/>
          </a:solidFill>
          <a:ln w="9525">
            <a:solidFill>
              <a:srgbClr val="D8DC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ounded Rectangle 49"/>
          <p:cNvSpPr/>
          <p:nvPr/>
        </p:nvSpPr>
        <p:spPr>
          <a:xfrm>
            <a:off x="10232136" y="3721608"/>
            <a:ext cx="201168" cy="201168"/>
          </a:xfrm>
          <a:prstGeom prst="roundRect">
            <a:avLst>
              <a:gd name="adj" fmla="val 25000"/>
            </a:avLst>
          </a:prstGeom>
          <a:solidFill>
            <a:srgbClr val="6A1B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700" b="1">
                <a:solidFill>
                  <a:srgbClr val="FFFFFF"/>
                </a:solidFill>
                <a:latin typeface="Segoe UI"/>
              </a:rPr>
              <a:t>M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10488168" y="3566160"/>
            <a:ext cx="1024128" cy="5120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850" b="1">
                <a:solidFill>
                  <a:srgbClr val="1B2A41"/>
                </a:solidFill>
                <a:latin typeface="Segoe UI"/>
              </a:rPr>
              <a:t>Moogsoft</a:t>
            </a:r>
          </a:p>
          <a:p>
            <a:pPr algn="l">
              <a:spcAft>
                <a:spcPts val="100"/>
              </a:spcAft>
            </a:pPr>
            <a:r>
              <a:rPr sz="700" b="0">
                <a:solidFill>
                  <a:srgbClr val="40444B"/>
                </a:solidFill>
                <a:latin typeface="Segoe UI"/>
              </a:rPr>
              <a:t>events → tickets</a:t>
            </a:r>
          </a:p>
        </p:txBody>
      </p:sp>
      <p:sp>
        <p:nvSpPr>
          <p:cNvPr id="52" name="Rectangle 51"/>
          <p:cNvSpPr/>
          <p:nvPr/>
        </p:nvSpPr>
        <p:spPr>
          <a:xfrm>
            <a:off x="1700784" y="4187952"/>
            <a:ext cx="9939528" cy="347472"/>
          </a:xfrm>
          <a:prstGeom prst="rect">
            <a:avLst/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Left Arrow 52"/>
          <p:cNvSpPr/>
          <p:nvPr/>
        </p:nvSpPr>
        <p:spPr>
          <a:xfrm>
            <a:off x="1792224" y="4270248"/>
            <a:ext cx="237744" cy="182880"/>
          </a:xfrm>
          <a:prstGeom prst="leftArrow">
            <a:avLst/>
          </a:prstGeom>
          <a:solidFill>
            <a:srgbClr val="2E74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2121408" y="4187952"/>
            <a:ext cx="9326880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1">
                <a:solidFill>
                  <a:srgbClr val="1B2A41"/>
                </a:solidFill>
                <a:latin typeface="Segoe UI"/>
              </a:rPr>
              <a:t>8 · Requester notified — every time</a:t>
            </a:r>
            <a:r>
              <a:rPr sz="850" b="0">
                <a:solidFill>
                  <a:srgbClr val="40444B"/>
                </a:solidFill>
                <a:latin typeface="Segoe UI"/>
              </a:rPr>
              <a:t>  —  success reported live; failure reported loudly and flagged critical, so the record and reality can never disagree silently.</a:t>
            </a:r>
          </a:p>
        </p:txBody>
      </p:sp>
      <p:sp>
        <p:nvSpPr>
          <p:cNvPr id="55" name="Rectangle 54"/>
          <p:cNvSpPr/>
          <p:nvPr/>
        </p:nvSpPr>
        <p:spPr>
          <a:xfrm>
            <a:off x="1700784" y="4608576"/>
            <a:ext cx="9939528" cy="457200"/>
          </a:xfrm>
          <a:prstGeom prst="rect">
            <a:avLst/>
          </a:prstGeom>
          <a:solidFill>
            <a:srgbClr val="FDF6EA"/>
          </a:solidFill>
          <a:ln w="9525">
            <a:solidFill>
              <a:srgbClr val="F0DDB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Left Arrow 55"/>
          <p:cNvSpPr/>
          <p:nvPr/>
        </p:nvSpPr>
        <p:spPr>
          <a:xfrm>
            <a:off x="1792224" y="4745736"/>
            <a:ext cx="237744" cy="182880"/>
          </a:xfrm>
          <a:prstGeom prst="leftArrow">
            <a:avLst/>
          </a:prstGeom>
          <a:solidFill>
            <a:srgbClr val="F593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2121408" y="4608576"/>
            <a:ext cx="932688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1">
                <a:solidFill>
                  <a:srgbClr val="1B2A41"/>
                </a:solidFill>
                <a:latin typeface="Segoe UI"/>
              </a:rPr>
              <a:t>9 · Drift detector — continuous read-back from the targets. </a:t>
            </a:r>
            <a:r>
              <a:rPr sz="800" b="0">
                <a:solidFill>
                  <a:srgbClr val="40444B"/>
                </a:solidFill>
                <a:latin typeface="Segoe UI"/>
              </a:rPr>
              <a:t>A scheduled check reads the live configuration back from every tool and compares it with the record. Anything changed directly on a tool surfaces as drift: the owner is notified, the Reports service shows the difference, and the fix stays governed — a safe re-sync or an approved change. Never a silent overwrite.</a:t>
            </a:r>
          </a:p>
        </p:txBody>
      </p:sp>
      <p:sp>
        <p:nvSpPr>
          <p:cNvPr id="58" name="Rectangle 57"/>
          <p:cNvSpPr/>
          <p:nvPr/>
        </p:nvSpPr>
        <p:spPr>
          <a:xfrm>
            <a:off x="548640" y="5120640"/>
            <a:ext cx="11091672" cy="512064"/>
          </a:xfrm>
          <a:prstGeom prst="rect">
            <a:avLst/>
          </a:prstGeom>
          <a:solidFill>
            <a:srgbClr val="FFFFFF"/>
          </a:solidFill>
          <a:ln w="9525">
            <a:solidFill>
              <a:srgbClr val="D8DC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Rectangle 58"/>
          <p:cNvSpPr/>
          <p:nvPr/>
        </p:nvSpPr>
        <p:spPr>
          <a:xfrm>
            <a:off x="548640" y="5120640"/>
            <a:ext cx="45720" cy="512064"/>
          </a:xfrm>
          <a:prstGeom prst="rect">
            <a:avLst/>
          </a:prstGeom>
          <a:solidFill>
            <a:srgbClr val="2E74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Rounded Rectangle 59"/>
          <p:cNvSpPr/>
          <p:nvPr/>
        </p:nvSpPr>
        <p:spPr>
          <a:xfrm>
            <a:off x="713232" y="5257800"/>
            <a:ext cx="237744" cy="237744"/>
          </a:xfrm>
          <a:prstGeom prst="roundRect">
            <a:avLst>
              <a:gd name="adj" fmla="val 25000"/>
            </a:avLst>
          </a:prstGeom>
          <a:solidFill>
            <a:srgbClr val="2E74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800" b="1">
                <a:solidFill>
                  <a:srgbClr val="FFFFFF"/>
                </a:solidFill>
                <a:latin typeface="Segoe UI"/>
              </a:rPr>
              <a:t>TD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1042415" y="5120640"/>
            <a:ext cx="10469880" cy="5120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1">
                <a:solidFill>
                  <a:srgbClr val="1B2A41"/>
                </a:solidFill>
                <a:latin typeface="Segoe UI"/>
              </a:rPr>
              <a:t>10 · TechDocs — the living document. </a:t>
            </a:r>
            <a:r>
              <a:rPr sz="800" b="0">
                <a:solidFill>
                  <a:srgbClr val="40444B"/>
                </a:solidFill>
                <a:latin typeface="Segoe UI"/>
              </a:rPr>
              <a:t>Documentation lives beside the configuration and is rendered straight from it — every asset registered with its owner, dashboards, and docs attached. It cannot drift from reality.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548640" y="5687568"/>
            <a:ext cx="11064240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750" b="1">
                <a:solidFill>
                  <a:srgbClr val="7A808A"/>
                </a:solidFill>
                <a:latin typeface="Segoe UI"/>
              </a:rPr>
              <a:t>INVARIANTS:  </a:t>
            </a:r>
            <a:r>
              <a:rPr sz="750" b="0">
                <a:solidFill>
                  <a:srgbClr val="7A808A"/>
                </a:solidFill>
                <a:latin typeface="Segoe UI"/>
              </a:rPr>
              <a:t>data flows one way — the portal writes the record, automation reads it  ·  every action is safe to repeat  ·  nothing is ever deleted implicitly</a:t>
            </a:r>
          </a:p>
        </p:txBody>
      </p:sp>
      <p:sp>
        <p:nvSpPr>
          <p:cNvPr id="63" name="Rectangle 62"/>
          <p:cNvSpPr/>
          <p:nvPr/>
        </p:nvSpPr>
        <p:spPr>
          <a:xfrm>
            <a:off x="548640" y="5888736"/>
            <a:ext cx="11091672" cy="530352"/>
          </a:xfrm>
          <a:prstGeom prst="rect">
            <a:avLst/>
          </a:prstGeom>
          <a:solidFill>
            <a:srgbClr val="1B2A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Rounded Rectangle 63"/>
          <p:cNvSpPr/>
          <p:nvPr/>
        </p:nvSpPr>
        <p:spPr>
          <a:xfrm>
            <a:off x="713232" y="6021324"/>
            <a:ext cx="274320" cy="274320"/>
          </a:xfrm>
          <a:prstGeom prst="roundRect">
            <a:avLst>
              <a:gd name="adj" fmla="val 25000"/>
            </a:avLst>
          </a:prstGeom>
          <a:solidFill>
            <a:srgbClr val="2E74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900" b="1">
                <a:solidFill>
                  <a:srgbClr val="FFFFFF"/>
                </a:solidFill>
                <a:latin typeface="Segoe UI"/>
              </a:rPr>
              <a:t>OB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1115568" y="5888736"/>
            <a:ext cx="10378440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950" b="1">
                <a:solidFill>
                  <a:srgbClr val="FFFFFF"/>
                </a:solidFill>
                <a:latin typeface="Segoe UI"/>
              </a:rPr>
              <a:t>11 · Observability Brain — the oracle at the front door. </a:t>
            </a:r>
            <a:r>
              <a:rPr sz="750" b="0">
                <a:solidFill>
                  <a:srgbClr val="C9D2DD"/>
                </a:solidFill>
                <a:latin typeface="Segoe UI"/>
              </a:rPr>
              <a:t>Backstage — the yellow pages of everything monitored — carries the Brain as its chatbot interface, wired to Bitbucket: the overall config source of truth, holding a decade of refined gold from every target tool — TechDocs, configurations, behavioural schedules. The Brain reads it to answer, guide, and propose for every user seeking assistance — grounded, cited, always under the approval gate.</a:t>
            </a:r>
          </a:p>
        </p:txBody>
      </p:sp>
      <p:sp>
        <p:nvSpPr>
          <p:cNvPr id="66" name="Rectangle 65"/>
          <p:cNvSpPr/>
          <p:nvPr/>
        </p:nvSpPr>
        <p:spPr>
          <a:xfrm>
            <a:off x="548640" y="6455664"/>
            <a:ext cx="11091672" cy="10972"/>
          </a:xfrm>
          <a:prstGeom prst="rect">
            <a:avLst/>
          </a:prstGeom>
          <a:solidFill>
            <a:srgbClr val="D8DC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548640" y="651052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850" b="0">
                <a:solidFill>
                  <a:srgbClr val="7A808A"/>
                </a:solidFill>
                <a:latin typeface="Segoe UI"/>
              </a:rPr>
              <a:t>Observability Portal — Executive Briefing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10972800" y="6510528"/>
            <a:ext cx="66751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850" b="0">
                <a:solidFill>
                  <a:srgbClr val="7A808A"/>
                </a:solidFill>
                <a:latin typeface="Segoe UI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1">
                <a:solidFill>
                  <a:srgbClr val="7A808A"/>
                </a:solidFill>
                <a:latin typeface="Segoe UI"/>
              </a:rPr>
              <a:t>THE TRANSFORMATION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110642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600" b="1">
                <a:solidFill>
                  <a:srgbClr val="1B2A41"/>
                </a:solidFill>
                <a:latin typeface="Segoe UI"/>
              </a:rPr>
              <a:t>From person-dependent process to platform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61872"/>
            <a:ext cx="914400" cy="32004"/>
          </a:xfrm>
          <a:prstGeom prst="rect">
            <a:avLst/>
          </a:prstGeom>
          <a:solidFill>
            <a:srgbClr val="2E74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48640" y="1600200"/>
            <a:ext cx="5440680" cy="4526280"/>
          </a:xfrm>
          <a:prstGeom prst="rect">
            <a:avLst/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1755648"/>
            <a:ext cx="4937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3E4C63"/>
                </a:solidFill>
                <a:latin typeface="Segoe UI"/>
              </a:rPr>
              <a:t>AS-IS — today</a:t>
            </a:r>
          </a:p>
        </p:txBody>
      </p:sp>
      <p:sp>
        <p:nvSpPr>
          <p:cNvPr id="7" name="Rectangle 6"/>
          <p:cNvSpPr/>
          <p:nvPr/>
        </p:nvSpPr>
        <p:spPr>
          <a:xfrm>
            <a:off x="777240" y="2103120"/>
            <a:ext cx="877824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D8DC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13816" y="2130551"/>
            <a:ext cx="804672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750" b="1">
                <a:solidFill>
                  <a:srgbClr val="3E4C63"/>
                </a:solidFill>
                <a:latin typeface="Segoe UI"/>
              </a:rPr>
              <a:t>Ping / call engineer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659636" y="2212848"/>
            <a:ext cx="1828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1">
                <a:solidFill>
                  <a:srgbClr val="7A808A"/>
                </a:solidFill>
                <a:latin typeface="Segoe UI"/>
              </a:rPr>
              <a:t>→</a:t>
            </a:r>
          </a:p>
        </p:txBody>
      </p:sp>
      <p:sp>
        <p:nvSpPr>
          <p:cNvPr id="10" name="Rectangle 9"/>
          <p:cNvSpPr/>
          <p:nvPr/>
        </p:nvSpPr>
        <p:spPr>
          <a:xfrm>
            <a:off x="1819655" y="2103120"/>
            <a:ext cx="877824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D8DC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856231" y="2130551"/>
            <a:ext cx="804672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750" b="1">
                <a:solidFill>
                  <a:srgbClr val="3E4C63"/>
                </a:solidFill>
                <a:latin typeface="Segoe UI"/>
              </a:rPr>
              <a:t>Confluence page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702051" y="2212848"/>
            <a:ext cx="1828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1">
                <a:solidFill>
                  <a:srgbClr val="7A808A"/>
                </a:solidFill>
                <a:latin typeface="Segoe UI"/>
              </a:rPr>
              <a:t>→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862072" y="2103120"/>
            <a:ext cx="877824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D8DC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898648" y="2130551"/>
            <a:ext cx="804672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750" b="1">
                <a:solidFill>
                  <a:srgbClr val="3E4C63"/>
                </a:solidFill>
                <a:latin typeface="Segoe UI"/>
              </a:rPr>
              <a:t>Jira ticket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744468" y="2212848"/>
            <a:ext cx="1828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1">
                <a:solidFill>
                  <a:srgbClr val="7A808A"/>
                </a:solidFill>
                <a:latin typeface="Segoe UI"/>
              </a:rPr>
              <a:t>→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904487" y="2103120"/>
            <a:ext cx="877824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D8DC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941063" y="2130551"/>
            <a:ext cx="804672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750" b="1">
                <a:solidFill>
                  <a:srgbClr val="3E4C63"/>
                </a:solidFill>
                <a:latin typeface="Segoe UI"/>
              </a:rPr>
              <a:t>Manual change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786883" y="2212848"/>
            <a:ext cx="1828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1">
                <a:solidFill>
                  <a:srgbClr val="7A808A"/>
                </a:solidFill>
                <a:latin typeface="Segoe UI"/>
              </a:rPr>
              <a:t>→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946903" y="2103120"/>
            <a:ext cx="877824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D8DC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983479" y="2130551"/>
            <a:ext cx="804672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750" b="1">
                <a:solidFill>
                  <a:srgbClr val="3E4C63"/>
                </a:solidFill>
                <a:latin typeface="Segoe UI"/>
              </a:rPr>
              <a:t>Slow approval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77240" y="2788920"/>
            <a:ext cx="228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050" b="1">
                <a:solidFill>
                  <a:srgbClr val="B0544A"/>
                </a:solidFill>
                <a:latin typeface="Segoe UI"/>
              </a:rPr>
              <a:t>✕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24128" y="2788920"/>
            <a:ext cx="480060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980" b="0">
                <a:solidFill>
                  <a:srgbClr val="40444B"/>
                </a:solidFill>
                <a:latin typeface="Segoe UI"/>
              </a:rPr>
              <a:t>Observability is the supporting cast — and the punching bag when incidents hit: essential to everyone, invested in by no one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77240" y="3447287"/>
            <a:ext cx="228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050" b="1">
                <a:solidFill>
                  <a:srgbClr val="B0544A"/>
                </a:solidFill>
                <a:latin typeface="Segoe UI"/>
              </a:rPr>
              <a:t>✕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24128" y="3447287"/>
            <a:ext cx="480060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980" b="0">
                <a:solidFill>
                  <a:srgbClr val="40444B"/>
                </a:solidFill>
                <a:latin typeface="Segoe UI"/>
              </a:rPr>
              <a:t>The tools modernised into a bigger stack of boxes — complexity grew with the organisation, but no continuity of automation grew with it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77240" y="4105655"/>
            <a:ext cx="228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050" b="1">
                <a:solidFill>
                  <a:srgbClr val="B0544A"/>
                </a:solidFill>
                <a:latin typeface="Segoe UI"/>
              </a:rPr>
              <a:t>✕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24128" y="4105655"/>
            <a:ext cx="480060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980" b="0">
                <a:solidFill>
                  <a:srgbClr val="40444B"/>
                </a:solidFill>
                <a:latin typeface="Segoe UI"/>
              </a:rPr>
              <a:t>The human IS the workflow: every request, change, and answer routes through an engineer by hand (Confluence page → Jira ticket → manual work)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77240" y="4764023"/>
            <a:ext cx="228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050" b="1">
                <a:solidFill>
                  <a:srgbClr val="B0544A"/>
                </a:solidFill>
                <a:latin typeface="Segoe UI"/>
              </a:rPr>
              <a:t>✕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24128" y="4764023"/>
            <a:ext cx="480060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980" b="0">
                <a:solidFill>
                  <a:srgbClr val="40444B"/>
                </a:solidFill>
                <a:latin typeface="Segoe UI"/>
              </a:rPr>
              <a:t>The dependency is now dangerous: even SME engineers make mistakes — fatigue turns expertise into risk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77240" y="5422391"/>
            <a:ext cx="228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050" b="1">
                <a:solidFill>
                  <a:srgbClr val="B0544A"/>
                </a:solidFill>
                <a:latin typeface="Segoe UI"/>
              </a:rPr>
              <a:t>✕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24128" y="5422391"/>
            <a:ext cx="480060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980" b="0">
                <a:solidFill>
                  <a:srgbClr val="40444B"/>
                </a:solidFill>
                <a:latin typeface="Segoe UI"/>
              </a:rPr>
              <a:t>No human can keep up with the scaling rule — volume grows with the estate; the team does not</a:t>
            </a:r>
          </a:p>
        </p:txBody>
      </p:sp>
      <p:sp>
        <p:nvSpPr>
          <p:cNvPr id="31" name="Rectangle 30"/>
          <p:cNvSpPr/>
          <p:nvPr/>
        </p:nvSpPr>
        <p:spPr>
          <a:xfrm>
            <a:off x="6382512" y="1600200"/>
            <a:ext cx="5257800" cy="4526280"/>
          </a:xfrm>
          <a:prstGeom prst="rect">
            <a:avLst/>
          </a:prstGeom>
          <a:solidFill>
            <a:srgbClr val="FFFFFF"/>
          </a:solidFill>
          <a:ln w="9525">
            <a:solidFill>
              <a:srgbClr val="D8DC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6382512" y="1600200"/>
            <a:ext cx="5257800" cy="45720"/>
          </a:xfrm>
          <a:prstGeom prst="rect">
            <a:avLst/>
          </a:prstGeom>
          <a:solidFill>
            <a:srgbClr val="2E74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611112" y="1755648"/>
            <a:ext cx="4846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2E74B5"/>
                </a:solidFill>
                <a:latin typeface="Segoe UI"/>
              </a:rPr>
              <a:t>TO-BE — with the portal</a:t>
            </a:r>
          </a:p>
        </p:txBody>
      </p:sp>
      <p:sp>
        <p:nvSpPr>
          <p:cNvPr id="34" name="Rectangle 33"/>
          <p:cNvSpPr/>
          <p:nvPr/>
        </p:nvSpPr>
        <p:spPr>
          <a:xfrm>
            <a:off x="6611112" y="2103120"/>
            <a:ext cx="1060704" cy="457200"/>
          </a:xfrm>
          <a:prstGeom prst="rect">
            <a:avLst/>
          </a:prstGeom>
          <a:solidFill>
            <a:srgbClr val="1B2A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647688" y="2130551"/>
            <a:ext cx="987551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750" b="1">
                <a:solidFill>
                  <a:srgbClr val="FFFFFF"/>
                </a:solidFill>
                <a:latin typeface="Segoe UI"/>
              </a:rPr>
              <a:t>Portal request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680960" y="2212848"/>
            <a:ext cx="1828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1">
                <a:solidFill>
                  <a:srgbClr val="7A808A"/>
                </a:solidFill>
                <a:latin typeface="Segoe UI"/>
              </a:rPr>
              <a:t>→</a:t>
            </a:r>
          </a:p>
        </p:txBody>
      </p:sp>
      <p:sp>
        <p:nvSpPr>
          <p:cNvPr id="37" name="Rectangle 36"/>
          <p:cNvSpPr/>
          <p:nvPr/>
        </p:nvSpPr>
        <p:spPr>
          <a:xfrm>
            <a:off x="7863840" y="2103120"/>
            <a:ext cx="1060704" cy="457200"/>
          </a:xfrm>
          <a:prstGeom prst="rect">
            <a:avLst/>
          </a:prstGeom>
          <a:solidFill>
            <a:srgbClr val="1B2A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7900416" y="2130551"/>
            <a:ext cx="987551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750" b="1">
                <a:solidFill>
                  <a:srgbClr val="FFFFFF"/>
                </a:solidFill>
                <a:latin typeface="Segoe UI"/>
              </a:rPr>
              <a:t>One approval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933688" y="2212848"/>
            <a:ext cx="1828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1">
                <a:solidFill>
                  <a:srgbClr val="7A808A"/>
                </a:solidFill>
                <a:latin typeface="Segoe UI"/>
              </a:rPr>
              <a:t>→</a:t>
            </a:r>
          </a:p>
        </p:txBody>
      </p:sp>
      <p:sp>
        <p:nvSpPr>
          <p:cNvPr id="40" name="Rectangle 39"/>
          <p:cNvSpPr/>
          <p:nvPr/>
        </p:nvSpPr>
        <p:spPr>
          <a:xfrm>
            <a:off x="9116568" y="2103120"/>
            <a:ext cx="1060704" cy="457200"/>
          </a:xfrm>
          <a:prstGeom prst="rect">
            <a:avLst/>
          </a:prstGeom>
          <a:solidFill>
            <a:srgbClr val="1B2A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9153144" y="2130551"/>
            <a:ext cx="987551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750" b="1">
                <a:solidFill>
                  <a:srgbClr val="FFFFFF"/>
                </a:solidFill>
                <a:latin typeface="Segoe UI"/>
              </a:rPr>
              <a:t>Automated activation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0186416" y="2212848"/>
            <a:ext cx="1828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1">
                <a:solidFill>
                  <a:srgbClr val="7A808A"/>
                </a:solidFill>
                <a:latin typeface="Segoe UI"/>
              </a:rPr>
              <a:t>→</a:t>
            </a:r>
          </a:p>
        </p:txBody>
      </p:sp>
      <p:sp>
        <p:nvSpPr>
          <p:cNvPr id="43" name="Rectangle 42"/>
          <p:cNvSpPr/>
          <p:nvPr/>
        </p:nvSpPr>
        <p:spPr>
          <a:xfrm>
            <a:off x="10369296" y="2103120"/>
            <a:ext cx="1060704" cy="457200"/>
          </a:xfrm>
          <a:prstGeom prst="rect">
            <a:avLst/>
          </a:prstGeom>
          <a:solidFill>
            <a:srgbClr val="1B2A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10405872" y="2130551"/>
            <a:ext cx="987551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750" b="1">
                <a:solidFill>
                  <a:srgbClr val="FFFFFF"/>
                </a:solidFill>
                <a:latin typeface="Segoe UI"/>
              </a:rPr>
              <a:t>Requester notified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611112" y="2788920"/>
            <a:ext cx="228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050" b="1">
                <a:solidFill>
                  <a:srgbClr val="2E74B5"/>
                </a:solidFill>
                <a:latin typeface="Segoe UI"/>
              </a:rPr>
              <a:t>✓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858000" y="2788920"/>
            <a:ext cx="4617720" cy="594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980" b="0">
                <a:solidFill>
                  <a:srgbClr val="40444B"/>
                </a:solidFill>
                <a:latin typeface="Segoe UI"/>
              </a:rPr>
              <a:t>Every touchpoint consolidated into one portal — self-service by default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611112" y="3337560"/>
            <a:ext cx="228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050" b="1">
                <a:solidFill>
                  <a:srgbClr val="2E74B5"/>
                </a:solidFill>
                <a:latin typeface="Segoe UI"/>
              </a:rPr>
              <a:t>✓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6858000" y="3337560"/>
            <a:ext cx="4617720" cy="594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980" b="0">
                <a:solidFill>
                  <a:srgbClr val="40444B"/>
                </a:solidFill>
                <a:latin typeface="Segoe UI"/>
              </a:rPr>
              <a:t>Target services are transparent to the user — the portal routes each request automatically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6611112" y="3886200"/>
            <a:ext cx="228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050" b="1">
                <a:solidFill>
                  <a:srgbClr val="2E74B5"/>
                </a:solidFill>
                <a:latin typeface="Segoe UI"/>
              </a:rPr>
              <a:t>✓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6858000" y="3886200"/>
            <a:ext cx="4617720" cy="594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980" b="0">
                <a:solidFill>
                  <a:srgbClr val="40444B"/>
                </a:solidFill>
                <a:latin typeface="Segoe UI"/>
              </a:rPr>
              <a:t>Fewer human touchpoints: one approval, then proper automation end to end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6611112" y="4434840"/>
            <a:ext cx="228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050" b="1">
                <a:solidFill>
                  <a:srgbClr val="2E74B5"/>
                </a:solidFill>
                <a:latin typeface="Segoe UI"/>
              </a:rPr>
              <a:t>✓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6858000" y="4434840"/>
            <a:ext cx="4617720" cy="594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980" b="0">
                <a:solidFill>
                  <a:srgbClr val="40444B"/>
                </a:solidFill>
                <a:latin typeface="Segoe UI"/>
              </a:rPr>
              <a:t>Every step auditable and scalable by construction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6611112" y="4983479"/>
            <a:ext cx="228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050" b="1">
                <a:solidFill>
                  <a:srgbClr val="2E74B5"/>
                </a:solidFill>
                <a:latin typeface="Segoe UI"/>
              </a:rPr>
              <a:t>✓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6858000" y="4983479"/>
            <a:ext cx="4617720" cy="594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980" b="0">
                <a:solidFill>
                  <a:srgbClr val="40444B"/>
                </a:solidFill>
                <a:latin typeface="Segoe UI"/>
              </a:rPr>
              <a:t>One single source of truth for all configuration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6611112" y="5532119"/>
            <a:ext cx="228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050" b="1">
                <a:solidFill>
                  <a:srgbClr val="2E74B5"/>
                </a:solidFill>
                <a:latin typeface="Segoe UI"/>
              </a:rPr>
              <a:t>✓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6858000" y="5532119"/>
            <a:ext cx="4617720" cy="594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980" b="0">
                <a:solidFill>
                  <a:srgbClr val="40444B"/>
                </a:solidFill>
                <a:latin typeface="Segoe UI"/>
              </a:rPr>
              <a:t>Next-level automation enables the Observability Brain — the estate answers questions and proposes changes, under the same approval gate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548640" y="6236208"/>
            <a:ext cx="110642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1">
                <a:solidFill>
                  <a:srgbClr val="1B2A41"/>
                </a:solidFill>
                <a:latin typeface="Segoe UI"/>
              </a:rPr>
              <a:t>Same work, structurally different: </a:t>
            </a:r>
            <a:r>
              <a:rPr sz="1150" b="0">
                <a:solidFill>
                  <a:srgbClr val="40444B"/>
                </a:solidFill>
                <a:latin typeface="Segoe UI"/>
              </a:rPr>
              <a:t>the process moves from people’s heads and inboxes into a governed platform — recorded by default, faster by design.</a:t>
            </a:r>
          </a:p>
        </p:txBody>
      </p:sp>
      <p:sp>
        <p:nvSpPr>
          <p:cNvPr id="58" name="Rectangle 57"/>
          <p:cNvSpPr/>
          <p:nvPr/>
        </p:nvSpPr>
        <p:spPr>
          <a:xfrm>
            <a:off x="548640" y="6455664"/>
            <a:ext cx="11091672" cy="10972"/>
          </a:xfrm>
          <a:prstGeom prst="rect">
            <a:avLst/>
          </a:prstGeom>
          <a:solidFill>
            <a:srgbClr val="D8DC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548640" y="651052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850" b="0">
                <a:solidFill>
                  <a:srgbClr val="7A808A"/>
                </a:solidFill>
                <a:latin typeface="Segoe UI"/>
              </a:rPr>
              <a:t>Observability Portal — Executive Briefing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10972800" y="6510528"/>
            <a:ext cx="66751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850" b="0">
                <a:solidFill>
                  <a:srgbClr val="7A808A"/>
                </a:solidFill>
                <a:latin typeface="Segoe UI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1">
                <a:solidFill>
                  <a:srgbClr val="7A808A"/>
                </a:solidFill>
                <a:latin typeface="Segoe UI"/>
              </a:rPr>
              <a:t>ROADMAP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21792"/>
            <a:ext cx="11064240" cy="4754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200" b="1">
                <a:solidFill>
                  <a:srgbClr val="1B2A41"/>
                </a:solidFill>
                <a:latin typeface="Segoe UI"/>
              </a:rPr>
              <a:t>The self-service catalogue, phased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152144"/>
            <a:ext cx="914400" cy="32004"/>
          </a:xfrm>
          <a:prstGeom prst="rect">
            <a:avLst/>
          </a:prstGeom>
          <a:solidFill>
            <a:srgbClr val="2E74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66928" y="1700784"/>
            <a:ext cx="10607040" cy="20116"/>
          </a:xfrm>
          <a:prstGeom prst="rect">
            <a:avLst/>
          </a:prstGeom>
          <a:solidFill>
            <a:srgbClr val="D8DC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ight Arrow 5"/>
          <p:cNvSpPr/>
          <p:nvPr/>
        </p:nvSpPr>
        <p:spPr>
          <a:xfrm>
            <a:off x="11192256" y="1636776"/>
            <a:ext cx="256032" cy="164592"/>
          </a:xfrm>
          <a:prstGeom prst="rightArrow">
            <a:avLst/>
          </a:prstGeom>
          <a:solidFill>
            <a:srgbClr val="2E74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1298448"/>
            <a:ext cx="2121408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2E74B5"/>
                </a:solidFill>
                <a:latin typeface="Segoe UI"/>
              </a:rPr>
              <a:t>Q3 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1508760"/>
            <a:ext cx="2121408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800" b="1">
                <a:solidFill>
                  <a:srgbClr val="7A808A"/>
                </a:solidFill>
                <a:latin typeface="Segoe UI"/>
              </a:rPr>
              <a:t>FOUNDATION</a:t>
            </a:r>
          </a:p>
        </p:txBody>
      </p:sp>
      <p:sp>
        <p:nvSpPr>
          <p:cNvPr id="9" name="Rectangle 8"/>
          <p:cNvSpPr/>
          <p:nvPr/>
        </p:nvSpPr>
        <p:spPr>
          <a:xfrm>
            <a:off x="548640" y="1700784"/>
            <a:ext cx="457200" cy="25603"/>
          </a:xfrm>
          <a:prstGeom prst="rect">
            <a:avLst/>
          </a:prstGeom>
          <a:solidFill>
            <a:srgbClr val="2E74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48640" y="1828800"/>
            <a:ext cx="2121408" cy="1298448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 w="9525">
            <a:solidFill>
              <a:srgbClr val="E1E6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" name="Picture 10" descr="add-monitorin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6656" y="1947672"/>
            <a:ext cx="329184" cy="329184"/>
          </a:xfrm>
          <a:prstGeom prst="rect">
            <a:avLst/>
          </a:prstGeom>
          <a:effectLst/>
        </p:spPr>
      </p:pic>
      <p:sp>
        <p:nvSpPr>
          <p:cNvPr id="12" name="TextBox 11"/>
          <p:cNvSpPr txBox="1"/>
          <p:nvPr/>
        </p:nvSpPr>
        <p:spPr>
          <a:xfrm>
            <a:off x="676656" y="2350008"/>
            <a:ext cx="1865376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950" b="1">
                <a:solidFill>
                  <a:srgbClr val="10182B"/>
                </a:solidFill>
                <a:latin typeface="Segoe UI"/>
              </a:rPr>
              <a:t>Add Monitoring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76656" y="2560320"/>
            <a:ext cx="1865376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750" b="0">
                <a:solidFill>
                  <a:srgbClr val="55637D"/>
                </a:solidFill>
                <a:latin typeface="Segoe UI"/>
              </a:rPr>
              <a:t>CMD, log &amp; process alerts — auto-routed to the right platform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76656" y="2907791"/>
            <a:ext cx="1865376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750" b="1">
                <a:solidFill>
                  <a:srgbClr val="DA2837"/>
                </a:solidFill>
                <a:latin typeface="Segoe UI"/>
              </a:rPr>
              <a:t>Launch template  →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48640" y="3255264"/>
            <a:ext cx="2121408" cy="1298448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 w="9525">
            <a:solidFill>
              <a:srgbClr val="E1E6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6" name="Picture 15" descr="register-asse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6656" y="3374136"/>
            <a:ext cx="329184" cy="329184"/>
          </a:xfrm>
          <a:prstGeom prst="rect">
            <a:avLst/>
          </a:prstGeom>
          <a:effectLst/>
        </p:spPr>
      </p:pic>
      <p:sp>
        <p:nvSpPr>
          <p:cNvPr id="17" name="TextBox 16"/>
          <p:cNvSpPr txBox="1"/>
          <p:nvPr/>
        </p:nvSpPr>
        <p:spPr>
          <a:xfrm>
            <a:off x="676656" y="3776472"/>
            <a:ext cx="1865376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950" b="1">
                <a:solidFill>
                  <a:srgbClr val="10182B"/>
                </a:solidFill>
                <a:latin typeface="Segoe UI"/>
              </a:rPr>
              <a:t>Register Asset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76656" y="3986784"/>
            <a:ext cx="1865376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750" b="0">
                <a:solidFill>
                  <a:srgbClr val="55637D"/>
                </a:solidFill>
                <a:latin typeface="Segoe UI"/>
              </a:rPr>
              <a:t>Ad-hoc registration into the catalog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76656" y="4334256"/>
            <a:ext cx="1865376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750" b="1">
                <a:solidFill>
                  <a:srgbClr val="00ADE4"/>
                </a:solidFill>
                <a:latin typeface="Segoe UI"/>
              </a:rPr>
              <a:t>Register now  →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788920" y="1298448"/>
            <a:ext cx="2121408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2E74B5"/>
                </a:solidFill>
                <a:latin typeface="Segoe UI"/>
              </a:rPr>
              <a:t>Q4 2026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788920" y="1508760"/>
            <a:ext cx="2121408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800" b="1">
                <a:solidFill>
                  <a:srgbClr val="7A808A"/>
                </a:solidFill>
                <a:latin typeface="Segoe UI"/>
              </a:rPr>
              <a:t>LOGS &amp; AGENTS</a:t>
            </a:r>
          </a:p>
        </p:txBody>
      </p:sp>
      <p:sp>
        <p:nvSpPr>
          <p:cNvPr id="22" name="Rectangle 21"/>
          <p:cNvSpPr/>
          <p:nvPr/>
        </p:nvSpPr>
        <p:spPr>
          <a:xfrm>
            <a:off x="2788920" y="1700784"/>
            <a:ext cx="457200" cy="25603"/>
          </a:xfrm>
          <a:prstGeom prst="rect">
            <a:avLst/>
          </a:prstGeom>
          <a:solidFill>
            <a:srgbClr val="2E74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2788920" y="1828800"/>
            <a:ext cx="2121408" cy="1298448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 w="9525">
            <a:solidFill>
              <a:srgbClr val="E1E6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4" name="Picture 23" descr="elk-log-onboarding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916936" y="1947672"/>
            <a:ext cx="329184" cy="329184"/>
          </a:xfrm>
          <a:prstGeom prst="rect">
            <a:avLst/>
          </a:prstGeom>
          <a:effectLst/>
        </p:spPr>
      </p:pic>
      <p:sp>
        <p:nvSpPr>
          <p:cNvPr id="25" name="TextBox 24"/>
          <p:cNvSpPr txBox="1"/>
          <p:nvPr/>
        </p:nvSpPr>
        <p:spPr>
          <a:xfrm>
            <a:off x="2916936" y="2350008"/>
            <a:ext cx="1865376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950" b="1">
                <a:solidFill>
                  <a:srgbClr val="10182B"/>
                </a:solidFill>
                <a:latin typeface="Segoe UI"/>
              </a:rPr>
              <a:t>ELK Log Onboarding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916936" y="2560320"/>
            <a:ext cx="1865376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750" b="0">
                <a:solidFill>
                  <a:srgbClr val="55637D"/>
                </a:solidFill>
                <a:latin typeface="Segoe UI"/>
              </a:rPr>
              <a:t>Agents, Kafka, parsers, indices — one request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916936" y="2907791"/>
            <a:ext cx="1865376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750" b="1">
                <a:solidFill>
                  <a:srgbClr val="0278D5"/>
                </a:solidFill>
                <a:latin typeface="Segoe UI"/>
              </a:rPr>
              <a:t>Start onboarding  →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2788920" y="3255264"/>
            <a:ext cx="2121408" cy="1298448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 w="9525">
            <a:solidFill>
              <a:srgbClr val="E1E6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9" name="Picture 28" descr="install-agent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916936" y="3374136"/>
            <a:ext cx="329184" cy="329184"/>
          </a:xfrm>
          <a:prstGeom prst="rect">
            <a:avLst/>
          </a:prstGeom>
          <a:effectLst/>
        </p:spPr>
      </p:pic>
      <p:sp>
        <p:nvSpPr>
          <p:cNvPr id="30" name="TextBox 29"/>
          <p:cNvSpPr txBox="1"/>
          <p:nvPr/>
        </p:nvSpPr>
        <p:spPr>
          <a:xfrm>
            <a:off x="2916936" y="3776472"/>
            <a:ext cx="1865376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950" b="1">
                <a:solidFill>
                  <a:srgbClr val="10182B"/>
                </a:solidFill>
                <a:latin typeface="Segoe UI"/>
              </a:rPr>
              <a:t>Install Agent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916936" y="3986784"/>
            <a:ext cx="1865376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750" b="0">
                <a:solidFill>
                  <a:srgbClr val="55637D"/>
                </a:solidFill>
                <a:latin typeface="Segoe UI"/>
              </a:rPr>
              <a:t>The right agents per host — only what is missing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2916936" y="4334256"/>
            <a:ext cx="1865376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750" b="1">
                <a:solidFill>
                  <a:srgbClr val="0E8074"/>
                </a:solidFill>
                <a:latin typeface="Segoe UI"/>
              </a:rPr>
              <a:t>Install agents  →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2788920" y="4681728"/>
            <a:ext cx="2121408" cy="1298448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 w="9525">
            <a:solidFill>
              <a:srgbClr val="E1E6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4" name="Picture 33" descr="request-log-access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916936" y="4800600"/>
            <a:ext cx="329184" cy="329184"/>
          </a:xfrm>
          <a:prstGeom prst="rect">
            <a:avLst/>
          </a:prstGeom>
          <a:effectLst/>
        </p:spPr>
      </p:pic>
      <p:sp>
        <p:nvSpPr>
          <p:cNvPr id="35" name="TextBox 34"/>
          <p:cNvSpPr txBox="1"/>
          <p:nvPr/>
        </p:nvSpPr>
        <p:spPr>
          <a:xfrm>
            <a:off x="2916936" y="5202936"/>
            <a:ext cx="1865376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950" b="1">
                <a:solidFill>
                  <a:srgbClr val="10182B"/>
                </a:solidFill>
                <a:latin typeface="Segoe UI"/>
              </a:rPr>
              <a:t>Request Log Access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916936" y="5413248"/>
            <a:ext cx="1865376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750" b="0">
                <a:solidFill>
                  <a:srgbClr val="55637D"/>
                </a:solidFill>
                <a:latin typeface="Segoe UI"/>
              </a:rPr>
              <a:t>Read-only ELK index access, on request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2916936" y="5760720"/>
            <a:ext cx="1865376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750" b="1">
                <a:solidFill>
                  <a:srgbClr val="6938F2"/>
                </a:solidFill>
                <a:latin typeface="Segoe UI"/>
              </a:rPr>
              <a:t>Request access  →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029199" y="1298448"/>
            <a:ext cx="2121408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2E74B5"/>
                </a:solidFill>
                <a:latin typeface="Segoe UI"/>
              </a:rPr>
              <a:t>Q1 2027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029199" y="1508760"/>
            <a:ext cx="2121408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800" b="1">
                <a:solidFill>
                  <a:srgbClr val="7A808A"/>
                </a:solidFill>
                <a:latin typeface="Segoe UI"/>
              </a:rPr>
              <a:t>VISIBILITY</a:t>
            </a:r>
          </a:p>
        </p:txBody>
      </p:sp>
      <p:sp>
        <p:nvSpPr>
          <p:cNvPr id="40" name="Rectangle 39"/>
          <p:cNvSpPr/>
          <p:nvPr/>
        </p:nvSpPr>
        <p:spPr>
          <a:xfrm>
            <a:off x="5029199" y="1700784"/>
            <a:ext cx="457200" cy="25603"/>
          </a:xfrm>
          <a:prstGeom prst="rect">
            <a:avLst/>
          </a:prstGeom>
          <a:solidFill>
            <a:srgbClr val="2E74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ounded Rectangle 40"/>
          <p:cNvSpPr/>
          <p:nvPr/>
        </p:nvSpPr>
        <p:spPr>
          <a:xfrm>
            <a:off x="5029199" y="1828800"/>
            <a:ext cx="2121408" cy="1298448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 w="9525">
            <a:solidFill>
              <a:srgbClr val="E1E6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2" name="Picture 41" descr="reports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157215" y="1947672"/>
            <a:ext cx="329184" cy="329184"/>
          </a:xfrm>
          <a:prstGeom prst="rect">
            <a:avLst/>
          </a:prstGeom>
          <a:effectLst/>
        </p:spPr>
      </p:pic>
      <p:sp>
        <p:nvSpPr>
          <p:cNvPr id="43" name="TextBox 42"/>
          <p:cNvSpPr txBox="1"/>
          <p:nvPr/>
        </p:nvSpPr>
        <p:spPr>
          <a:xfrm>
            <a:off x="5157215" y="2350008"/>
            <a:ext cx="1865376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950" b="1">
                <a:solidFill>
                  <a:srgbClr val="10182B"/>
                </a:solidFill>
                <a:latin typeface="Segoe UI"/>
              </a:rPr>
              <a:t>Reports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5157215" y="2560320"/>
            <a:ext cx="1865376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750" b="0">
                <a:solidFill>
                  <a:srgbClr val="55637D"/>
                </a:solidFill>
                <a:latin typeface="Segoe UI"/>
              </a:rPr>
              <a:t>Daily reconciliation — gaps, unmonitored, drift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5157215" y="2907791"/>
            <a:ext cx="1865376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750" b="1">
                <a:solidFill>
                  <a:srgbClr val="00B8A9"/>
                </a:solidFill>
                <a:latin typeface="Segoe UI"/>
              </a:rPr>
              <a:t>View reports  →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5029199" y="3255264"/>
            <a:ext cx="2121408" cy="1298448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 w="9525">
            <a:solidFill>
              <a:srgbClr val="E1E6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7" name="Picture 46" descr="dashboard-inventory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5157215" y="3374136"/>
            <a:ext cx="329184" cy="329184"/>
          </a:xfrm>
          <a:prstGeom prst="rect">
            <a:avLst/>
          </a:prstGeom>
          <a:effectLst/>
        </p:spPr>
      </p:pic>
      <p:sp>
        <p:nvSpPr>
          <p:cNvPr id="48" name="TextBox 47"/>
          <p:cNvSpPr txBox="1"/>
          <p:nvPr/>
        </p:nvSpPr>
        <p:spPr>
          <a:xfrm>
            <a:off x="5157215" y="3776472"/>
            <a:ext cx="1865376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950" b="1">
                <a:solidFill>
                  <a:srgbClr val="10182B"/>
                </a:solidFill>
                <a:latin typeface="Segoe UI"/>
              </a:rPr>
              <a:t>Dashboard Inventory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5157215" y="3986784"/>
            <a:ext cx="1865376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750" b="0">
                <a:solidFill>
                  <a:srgbClr val="55637D"/>
                </a:solidFill>
                <a:latin typeface="Segoe UI"/>
              </a:rPr>
              <a:t>Every dashboard described and linked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5157215" y="4334256"/>
            <a:ext cx="1865376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750" b="1">
                <a:solidFill>
                  <a:srgbClr val="B45309"/>
                </a:solidFill>
                <a:latin typeface="Segoe UI"/>
              </a:rPr>
              <a:t>Browse dashboards  →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5029199" y="4681728"/>
            <a:ext cx="2121408" cy="1298448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 w="9525">
            <a:solidFill>
              <a:srgbClr val="E1E6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2" name="Picture 51" descr="data-dictionary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5157215" y="4800600"/>
            <a:ext cx="329184" cy="329184"/>
          </a:xfrm>
          <a:prstGeom prst="rect">
            <a:avLst/>
          </a:prstGeom>
          <a:effectLst/>
        </p:spPr>
      </p:pic>
      <p:sp>
        <p:nvSpPr>
          <p:cNvPr id="53" name="TextBox 52"/>
          <p:cNvSpPr txBox="1"/>
          <p:nvPr/>
        </p:nvSpPr>
        <p:spPr>
          <a:xfrm>
            <a:off x="5157215" y="5202936"/>
            <a:ext cx="1865376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950" b="1">
                <a:solidFill>
                  <a:srgbClr val="10182B"/>
                </a:solidFill>
                <a:latin typeface="Segoe UI"/>
              </a:rPr>
              <a:t>Data Dictionary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5157215" y="5413248"/>
            <a:ext cx="1865376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750" b="0">
                <a:solidFill>
                  <a:srgbClr val="55637D"/>
                </a:solidFill>
                <a:latin typeface="Segoe UI"/>
              </a:rPr>
              <a:t>Every ELK index and its function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5157215" y="5760720"/>
            <a:ext cx="1865376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750" b="1">
                <a:solidFill>
                  <a:srgbClr val="4F46E5"/>
                </a:solidFill>
                <a:latin typeface="Segoe UI"/>
              </a:rPr>
              <a:t>Browse dictionary  →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7269479" y="1298448"/>
            <a:ext cx="2121408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2E74B5"/>
                </a:solidFill>
                <a:latin typeface="Segoe UI"/>
              </a:rPr>
              <a:t>Q2 2027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7269479" y="1508760"/>
            <a:ext cx="2121408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800" b="1">
                <a:solidFill>
                  <a:srgbClr val="7A808A"/>
                </a:solidFill>
                <a:latin typeface="Segoe UI"/>
              </a:rPr>
              <a:t>ASSURANCE</a:t>
            </a:r>
          </a:p>
        </p:txBody>
      </p:sp>
      <p:sp>
        <p:nvSpPr>
          <p:cNvPr id="58" name="Rectangle 57"/>
          <p:cNvSpPr/>
          <p:nvPr/>
        </p:nvSpPr>
        <p:spPr>
          <a:xfrm>
            <a:off x="7269479" y="1700784"/>
            <a:ext cx="457200" cy="25603"/>
          </a:xfrm>
          <a:prstGeom prst="rect">
            <a:avLst/>
          </a:prstGeom>
          <a:solidFill>
            <a:srgbClr val="2E74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Rounded Rectangle 58"/>
          <p:cNvSpPr/>
          <p:nvPr/>
        </p:nvSpPr>
        <p:spPr>
          <a:xfrm>
            <a:off x="7269479" y="1828800"/>
            <a:ext cx="2121408" cy="1298448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 w="9525">
            <a:solidFill>
              <a:srgbClr val="E1E6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0" name="Picture 59" descr="observability-score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7397496" y="1947672"/>
            <a:ext cx="329184" cy="329184"/>
          </a:xfrm>
          <a:prstGeom prst="rect">
            <a:avLst/>
          </a:prstGeom>
          <a:effectLst/>
        </p:spPr>
      </p:pic>
      <p:sp>
        <p:nvSpPr>
          <p:cNvPr id="61" name="TextBox 60"/>
          <p:cNvSpPr txBox="1"/>
          <p:nvPr/>
        </p:nvSpPr>
        <p:spPr>
          <a:xfrm>
            <a:off x="7397496" y="2350008"/>
            <a:ext cx="1865376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950" b="1">
                <a:solidFill>
                  <a:srgbClr val="10182B"/>
                </a:solidFill>
                <a:latin typeface="Segoe UI"/>
              </a:rPr>
              <a:t>Observability Score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7397496" y="2560320"/>
            <a:ext cx="1865376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750" b="0">
                <a:solidFill>
                  <a:srgbClr val="55637D"/>
                </a:solidFill>
                <a:latin typeface="Segoe UI"/>
              </a:rPr>
              <a:t>Scorecard &amp; certification per asset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7397496" y="2907791"/>
            <a:ext cx="1865376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750" b="1">
                <a:solidFill>
                  <a:srgbClr val="F59300"/>
                </a:solidFill>
                <a:latin typeface="Segoe UI"/>
              </a:rPr>
              <a:t>View scorecard  →</a:t>
            </a:r>
          </a:p>
        </p:txBody>
      </p:sp>
      <p:sp>
        <p:nvSpPr>
          <p:cNvPr id="64" name="Rounded Rectangle 63"/>
          <p:cNvSpPr/>
          <p:nvPr/>
        </p:nvSpPr>
        <p:spPr>
          <a:xfrm>
            <a:off x="7269479" y="3255264"/>
            <a:ext cx="2121408" cy="1298448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 w="9525">
            <a:solidFill>
              <a:srgbClr val="E1E6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5" name="Picture 64" descr="synthetic-alerting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7397496" y="3374136"/>
            <a:ext cx="329184" cy="329184"/>
          </a:xfrm>
          <a:prstGeom prst="rect">
            <a:avLst/>
          </a:prstGeom>
          <a:effectLst/>
        </p:spPr>
      </p:pic>
      <p:sp>
        <p:nvSpPr>
          <p:cNvPr id="66" name="TextBox 65"/>
          <p:cNvSpPr txBox="1"/>
          <p:nvPr/>
        </p:nvSpPr>
        <p:spPr>
          <a:xfrm>
            <a:off x="7397496" y="3776472"/>
            <a:ext cx="1865376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950" b="1">
                <a:solidFill>
                  <a:srgbClr val="10182B"/>
                </a:solidFill>
                <a:latin typeface="Segoe UI"/>
              </a:rPr>
              <a:t>Synthetic Alerting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7397496" y="3986784"/>
            <a:ext cx="1865376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750" b="0">
                <a:solidFill>
                  <a:srgbClr val="55637D"/>
                </a:solidFill>
                <a:latin typeface="Segoe UI"/>
              </a:rPr>
              <a:t>End-to-end fire drills — [DRILL] ticket out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7397496" y="4334256"/>
            <a:ext cx="1865376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750" b="1">
                <a:solidFill>
                  <a:srgbClr val="CF2E8D"/>
                </a:solidFill>
                <a:latin typeface="Segoe UI"/>
              </a:rPr>
              <a:t>Run a drill  →</a:t>
            </a:r>
          </a:p>
        </p:txBody>
      </p:sp>
      <p:sp>
        <p:nvSpPr>
          <p:cNvPr id="69" name="Rounded Rectangle 68"/>
          <p:cNvSpPr/>
          <p:nvPr/>
        </p:nvSpPr>
        <p:spPr>
          <a:xfrm>
            <a:off x="7269479" y="4681728"/>
            <a:ext cx="2121408" cy="1298448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 w="9525">
            <a:solidFill>
              <a:srgbClr val="E1E6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0" name="Picture 69" descr="alert-suppression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7397496" y="4800600"/>
            <a:ext cx="329184" cy="329184"/>
          </a:xfrm>
          <a:prstGeom prst="rect">
            <a:avLst/>
          </a:prstGeom>
          <a:effectLst/>
        </p:spPr>
      </p:pic>
      <p:sp>
        <p:nvSpPr>
          <p:cNvPr id="71" name="TextBox 70"/>
          <p:cNvSpPr txBox="1"/>
          <p:nvPr/>
        </p:nvSpPr>
        <p:spPr>
          <a:xfrm>
            <a:off x="7397496" y="5202936"/>
            <a:ext cx="1865376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950" b="1">
                <a:solidFill>
                  <a:srgbClr val="10182B"/>
                </a:solidFill>
                <a:latin typeface="Segoe UI"/>
              </a:rPr>
              <a:t>Alert Suppression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7397496" y="5413248"/>
            <a:ext cx="1865376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750" b="0">
                <a:solidFill>
                  <a:srgbClr val="55637D"/>
                </a:solidFill>
                <a:latin typeface="Segoe UI"/>
              </a:rPr>
              <a:t>Governed change windows, auto-expiring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7397496" y="5760720"/>
            <a:ext cx="1865376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750" b="1">
                <a:solidFill>
                  <a:srgbClr val="1D9F5F"/>
                </a:solidFill>
                <a:latin typeface="Segoe UI"/>
              </a:rPr>
              <a:t>Schedule window  →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509759" y="1298448"/>
            <a:ext cx="2121408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2E74B5"/>
                </a:solidFill>
                <a:latin typeface="Segoe UI"/>
              </a:rPr>
              <a:t>H2 2027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9509759" y="1508760"/>
            <a:ext cx="2121408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800" b="1">
                <a:solidFill>
                  <a:srgbClr val="7A808A"/>
                </a:solidFill>
                <a:latin typeface="Segoe UI"/>
              </a:rPr>
              <a:t>INTELLIGENCE</a:t>
            </a:r>
          </a:p>
        </p:txBody>
      </p:sp>
      <p:sp>
        <p:nvSpPr>
          <p:cNvPr id="76" name="Rectangle 75"/>
          <p:cNvSpPr/>
          <p:nvPr/>
        </p:nvSpPr>
        <p:spPr>
          <a:xfrm>
            <a:off x="9509759" y="1700784"/>
            <a:ext cx="457200" cy="25603"/>
          </a:xfrm>
          <a:prstGeom prst="rect">
            <a:avLst/>
          </a:prstGeom>
          <a:solidFill>
            <a:srgbClr val="2E74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Rounded Rectangle 76"/>
          <p:cNvSpPr/>
          <p:nvPr/>
        </p:nvSpPr>
        <p:spPr>
          <a:xfrm>
            <a:off x="9509759" y="1828800"/>
            <a:ext cx="2121408" cy="1298448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 w="9525">
            <a:solidFill>
              <a:srgbClr val="E1E6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8" name="Picture 77" descr="observability-brain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9637776" y="1947672"/>
            <a:ext cx="329184" cy="329184"/>
          </a:xfrm>
          <a:prstGeom prst="rect">
            <a:avLst/>
          </a:prstGeom>
          <a:effectLst/>
        </p:spPr>
      </p:pic>
      <p:sp>
        <p:nvSpPr>
          <p:cNvPr id="79" name="TextBox 78"/>
          <p:cNvSpPr txBox="1"/>
          <p:nvPr/>
        </p:nvSpPr>
        <p:spPr>
          <a:xfrm>
            <a:off x="9637776" y="2350008"/>
            <a:ext cx="1865376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950" b="1">
                <a:solidFill>
                  <a:srgbClr val="10182B"/>
                </a:solidFill>
                <a:latin typeface="Segoe UI"/>
              </a:rPr>
              <a:t>Observability Brain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9637776" y="2560320"/>
            <a:ext cx="1865376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750" b="0">
                <a:solidFill>
                  <a:srgbClr val="55637D"/>
                </a:solidFill>
                <a:latin typeface="Segoe UI"/>
              </a:rPr>
              <a:t>The oracle — grounded answers over the second brain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637776" y="2907791"/>
            <a:ext cx="1865376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750" b="1">
                <a:solidFill>
                  <a:srgbClr val="6938F2"/>
                </a:solidFill>
                <a:latin typeface="Segoe UI"/>
              </a:rPr>
              <a:t>Ask the Brain  →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548640" y="6172200"/>
            <a:ext cx="110642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1">
                <a:solidFill>
                  <a:srgbClr val="1B2A41"/>
                </a:solidFill>
                <a:latin typeface="Segoe UI"/>
              </a:rPr>
              <a:t>Eleven services, one design language — all designed and demoable today; the roadmap is activation order. </a:t>
            </a:r>
            <a:r>
              <a:rPr sz="850" b="0">
                <a:solidFill>
                  <a:srgbClr val="40444B"/>
                </a:solidFill>
                <a:latin typeface="Segoe UI"/>
              </a:rPr>
              <a:t>Why this order: harden the live slice → land the log stack together → visibility needs reconciliation → assurance needs assets worth scoring → the Brain reads everything recorded before it.</a:t>
            </a:r>
          </a:p>
        </p:txBody>
      </p:sp>
      <p:sp>
        <p:nvSpPr>
          <p:cNvPr id="83" name="Rectangle 82"/>
          <p:cNvSpPr/>
          <p:nvPr/>
        </p:nvSpPr>
        <p:spPr>
          <a:xfrm>
            <a:off x="548640" y="6455664"/>
            <a:ext cx="11091672" cy="10972"/>
          </a:xfrm>
          <a:prstGeom prst="rect">
            <a:avLst/>
          </a:prstGeom>
          <a:solidFill>
            <a:srgbClr val="D8DC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548640" y="651052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850" b="0">
                <a:solidFill>
                  <a:srgbClr val="7A808A"/>
                </a:solidFill>
                <a:latin typeface="Segoe UI"/>
              </a:rPr>
              <a:t>Observability Portal — Executive Briefing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10972800" y="6510528"/>
            <a:ext cx="66751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850" b="0">
                <a:solidFill>
                  <a:srgbClr val="7A808A"/>
                </a:solidFill>
                <a:latin typeface="Segoe UI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2A4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822960"/>
            <a:ext cx="822960" cy="41148"/>
          </a:xfrm>
          <a:prstGeom prst="rect">
            <a:avLst/>
          </a:prstGeom>
          <a:solidFill>
            <a:srgbClr val="2E74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005840"/>
            <a:ext cx="107899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C9D2DD"/>
                </a:solidFill>
                <a:latin typeface="Segoe UI"/>
              </a:rPr>
              <a:t>THE ASK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71600"/>
            <a:ext cx="1078992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Segoe UI"/>
              </a:rPr>
              <a:t>What we need from this room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2423160"/>
            <a:ext cx="64008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400" b="1">
                <a:solidFill>
                  <a:srgbClr val="2E74B5"/>
                </a:solidFill>
                <a:latin typeface="Segoe UI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71600" y="242316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Segoe UI"/>
              </a:rPr>
              <a:t>Endorse the direction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2807208"/>
            <a:ext cx="969264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C9D2DD"/>
                </a:solidFill>
                <a:latin typeface="Segoe UI"/>
              </a:rPr>
              <a:t>The Portal as the single front door for observability, and self-service as the default way of working.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3566160"/>
            <a:ext cx="64008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400" b="1">
                <a:solidFill>
                  <a:srgbClr val="2E74B5"/>
                </a:solidFill>
                <a:latin typeface="Segoe UI"/>
              </a:rPr>
              <a:t>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356616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Segoe UI"/>
              </a:rPr>
              <a:t>Hold teams to it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3950208"/>
            <a:ext cx="969264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C9D2DD"/>
                </a:solidFill>
                <a:latin typeface="Segoe UI"/>
              </a:rPr>
              <a:t>New monitoring requests go through the Portal as slices come live — not around it.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4709160"/>
            <a:ext cx="64008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400" b="1">
                <a:solidFill>
                  <a:srgbClr val="2E74B5"/>
                </a:solidFill>
                <a:latin typeface="Segoe UI"/>
              </a:rPr>
              <a:t>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71600" y="470916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Segoe UI"/>
              </a:rPr>
              <a:t>Protect the focus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71600" y="5093208"/>
            <a:ext cx="969264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C9D2DD"/>
                </a:solidFill>
                <a:latin typeface="Segoe UI"/>
              </a:rPr>
              <a:t>The platform team finishes the current milestone (30 September 2026) and onboards the next tool — rather than being absorbed back into the queue the Portal is retiring.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5897880"/>
            <a:ext cx="107899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 i="1">
                <a:solidFill>
                  <a:srgbClr val="C9D2DD"/>
                </a:solidFill>
                <a:latin typeface="Segoe UI"/>
              </a:rPr>
              <a:t>The cost of the old way is so familiar it has become invisible. The Portal makes it visible — and then removes it.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48640" y="6455664"/>
            <a:ext cx="11091672" cy="10972"/>
          </a:xfrm>
          <a:prstGeom prst="rect">
            <a:avLst/>
          </a:prstGeom>
          <a:solidFill>
            <a:srgbClr val="3E4C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48640" y="651052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850" b="0">
                <a:solidFill>
                  <a:srgbClr val="C9D2DD"/>
                </a:solidFill>
                <a:latin typeface="Segoe UI"/>
              </a:rPr>
              <a:t>Observability Portal — Executive Briefing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972800" y="6510528"/>
            <a:ext cx="66751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850" b="0">
                <a:solidFill>
                  <a:srgbClr val="C9D2DD"/>
                </a:solidFill>
                <a:latin typeface="Segoe UI"/>
              </a:rPr>
              <a:t>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