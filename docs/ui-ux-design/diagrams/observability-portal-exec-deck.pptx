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EXECUTIVE BRIEFING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B2A41"/>
                </a:solidFill>
                <a:latin typeface="Segoe UI"/>
              </a:rPr>
              <a:t>The Observability Portal — what it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914400" cy="32004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7A808A"/>
                </a:solidFill>
                <a:latin typeface="Segoe UI"/>
              </a:rPr>
              <a:t>A self-service portal, built on open-source Backstage, that turns every monitoring request into a governed, automated pipeline — users see services, never tools.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3520440" cy="25603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002536"/>
            <a:ext cx="3520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2A41"/>
                </a:solidFill>
                <a:latin typeface="Segoe UI"/>
              </a:rPr>
              <a:t>Enable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32304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377440"/>
            <a:ext cx="3319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Add Monitoring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alerts, auto-routed to the right platform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980944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926080"/>
            <a:ext cx="3319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ELK Log Onboarding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agents, topic, parsers, indices — one request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529584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3474720"/>
            <a:ext cx="3319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Access &amp; Asset Registry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permissions and registration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79976" y="1874519"/>
            <a:ext cx="3520440" cy="25603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79976" y="2002536"/>
            <a:ext cx="3520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2A41"/>
                </a:solidFill>
                <a:latin typeface="Segoe UI"/>
              </a:rPr>
              <a:t>Assure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79976" y="2432304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81144" y="2377440"/>
            <a:ext cx="3319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Observability Score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scorecard &amp; certification per asset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79976" y="2980944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1144" y="2926080"/>
            <a:ext cx="3319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Synthetic Alerting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fire-drill an alert end to end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79976" y="3529584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81144" y="3474720"/>
            <a:ext cx="3319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Reconciliation Reports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expected vs reality, daily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11312" y="1874519"/>
            <a:ext cx="352044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11312" y="2002536"/>
            <a:ext cx="3520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2A41"/>
                </a:solidFill>
                <a:latin typeface="Segoe UI"/>
              </a:rPr>
              <a:t>Observability Brain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11312" y="2432304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2377440"/>
            <a:ext cx="3319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Search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configs, runbooks, specs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11312" y="2980944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0" y="2926080"/>
            <a:ext cx="3319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Ask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answers cite their sources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11312" y="3529584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0" y="3474720"/>
            <a:ext cx="3319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Act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links into governed services, never around them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160520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7A808A"/>
                </a:solidFill>
                <a:latin typeface="Segoe UI"/>
              </a:rPr>
              <a:t>EVERY CHANGE — HUMAN OR AI — TAKES ONE PATH</a:t>
            </a:r>
          </a:p>
        </p:txBody>
      </p:sp>
      <p:sp>
        <p:nvSpPr>
          <p:cNvPr id="31" name="Chevron 30"/>
          <p:cNvSpPr/>
          <p:nvPr/>
        </p:nvSpPr>
        <p:spPr>
          <a:xfrm>
            <a:off x="548640" y="4453128"/>
            <a:ext cx="2377440" cy="658368"/>
          </a:xfrm>
          <a:prstGeom prst="chevron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Request</a:t>
            </a:r>
          </a:p>
          <a:p>
            <a:r>
              <a:rPr sz="800">
                <a:solidFill>
                  <a:srgbClr val="C9D2DD"/>
                </a:solidFill>
                <a:latin typeface="Segoe UI"/>
              </a:rPr>
              <a:t>maker</a:t>
            </a:r>
          </a:p>
        </p:txBody>
      </p:sp>
      <p:sp>
        <p:nvSpPr>
          <p:cNvPr id="32" name="Chevron 31"/>
          <p:cNvSpPr/>
          <p:nvPr/>
        </p:nvSpPr>
        <p:spPr>
          <a:xfrm>
            <a:off x="2752344" y="4453128"/>
            <a:ext cx="2377440" cy="658368"/>
          </a:xfrm>
          <a:prstGeom prst="chevron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Pull request</a:t>
            </a:r>
          </a:p>
          <a:p>
            <a:r>
              <a:rPr sz="800">
                <a:solidFill>
                  <a:srgbClr val="C9D2DD"/>
                </a:solidFill>
                <a:latin typeface="Segoe UI"/>
              </a:rPr>
              <a:t>config as code</a:t>
            </a:r>
          </a:p>
        </p:txBody>
      </p:sp>
      <p:sp>
        <p:nvSpPr>
          <p:cNvPr id="33" name="Chevron 32"/>
          <p:cNvSpPr/>
          <p:nvPr/>
        </p:nvSpPr>
        <p:spPr>
          <a:xfrm>
            <a:off x="4956048" y="4453128"/>
            <a:ext cx="2377440" cy="658368"/>
          </a:xfrm>
          <a:prstGeom prst="chevron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Approval</a:t>
            </a:r>
          </a:p>
          <a:p>
            <a:r>
              <a:rPr sz="800">
                <a:solidFill>
                  <a:srgbClr val="C9D2DD"/>
                </a:solidFill>
                <a:latin typeface="Segoe UI"/>
              </a:rPr>
              <a:t>checker, never maker</a:t>
            </a:r>
          </a:p>
        </p:txBody>
      </p:sp>
      <p:sp>
        <p:nvSpPr>
          <p:cNvPr id="34" name="Chevron 33"/>
          <p:cNvSpPr/>
          <p:nvPr/>
        </p:nvSpPr>
        <p:spPr>
          <a:xfrm>
            <a:off x="7159752" y="4453128"/>
            <a:ext cx="2377440" cy="658368"/>
          </a:xfrm>
          <a:prstGeom prst="chevron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Git — the record</a:t>
            </a:r>
          </a:p>
          <a:p>
            <a:r>
              <a:rPr sz="800">
                <a:solidFill>
                  <a:srgbClr val="C9D2DD"/>
                </a:solidFill>
                <a:latin typeface="Segoe UI"/>
              </a:rPr>
              <a:t>main is truth</a:t>
            </a:r>
          </a:p>
        </p:txBody>
      </p:sp>
      <p:sp>
        <p:nvSpPr>
          <p:cNvPr id="35" name="Chevron 34"/>
          <p:cNvSpPr/>
          <p:nvPr/>
        </p:nvSpPr>
        <p:spPr>
          <a:xfrm>
            <a:off x="9363456" y="4453128"/>
            <a:ext cx="2377440" cy="658368"/>
          </a:xfrm>
          <a:prstGeom prst="chevron">
            <a:avLst>
              <a:gd name="adj" fmla="val 50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Automation applies</a:t>
            </a:r>
          </a:p>
          <a:p>
            <a:r>
              <a:rPr sz="800">
                <a:solidFill>
                  <a:srgbClr val="C9D2DD"/>
                </a:solidFill>
                <a:latin typeface="Segoe UI"/>
              </a:rPr>
              <a:t>read-only from git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239512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E74B5"/>
                </a:solidFill>
                <a:latin typeface="Segoe UI"/>
              </a:rPr>
              <a:t>AI proposes, humans approve, git records</a:t>
            </a:r>
            <a:r>
              <a:rPr sz="1100" b="0">
                <a:solidFill>
                  <a:srgbClr val="40444B"/>
                </a:solidFill>
                <a:latin typeface="Segoe UI"/>
              </a:rPr>
              <a:t>  —  no one, and nothing, writes to a platform directly.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5650992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5760720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Grounded in two systems of record:  </a:t>
            </a:r>
            <a:r>
              <a:rPr sz="1050" b="1">
                <a:solidFill>
                  <a:srgbClr val="1B2A41"/>
                </a:solidFill>
                <a:latin typeface="Segoe UI"/>
              </a:rPr>
              <a:t>CMDB</a:t>
            </a:r>
            <a:r>
              <a:rPr sz="1050" b="0">
                <a:solidFill>
                  <a:srgbClr val="40444B"/>
                </a:solidFill>
                <a:latin typeface="Segoe UI"/>
              </a:rPr>
              <a:t> (what exists)  ·  </a:t>
            </a:r>
            <a:r>
              <a:rPr sz="1050" b="1">
                <a:solidFill>
                  <a:srgbClr val="1B2A41"/>
                </a:solidFill>
                <a:latin typeface="Segoe UI"/>
              </a:rPr>
              <a:t>Git — the second brain</a:t>
            </a:r>
            <a:r>
              <a:rPr sz="1050" b="0">
                <a:solidFill>
                  <a:srgbClr val="40444B"/>
                </a:solidFill>
                <a:latin typeface="Segoe UI"/>
              </a:rPr>
              <a:t> (what is configured, and why)</a:t>
            </a:r>
          </a:p>
          <a:p>
            <a:pPr algn="l">
              <a:spcAft>
                <a:spcPts val="5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Runs the tools we already own — invisible to requesters:  </a:t>
            </a:r>
            <a:r>
              <a:rPr sz="1050" b="0">
                <a:solidFill>
                  <a:srgbClr val="40444B"/>
                </a:solidFill>
                <a:latin typeface="Segoe UI"/>
              </a:rPr>
              <a:t>ELK + Kafka  ·  DX UIM  ·  SolarWinds  ·  Grafana / Kibana  ·  Moogsoft → HPSM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Observability Portal — Executive Briefing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651052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B2A41"/>
                </a:solidFill>
                <a:latin typeface="Segoe UI"/>
              </a:rPr>
              <a:t>Why do we need it?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914400" cy="32004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7A808A"/>
                </a:solidFill>
                <a:latin typeface="Segoe UI"/>
              </a:rPr>
              <a:t>A decade of interrupt-driven operations — find an engineer, ask, wait — does not scale to thousands of hosts, hundreds of applications, and four monitoring tools.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10512"/>
            <a:ext cx="352044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38528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2A41"/>
                </a:solidFill>
                <a:latin typeface="Segoe UI"/>
              </a:rPr>
              <a:t>Every request is a conversation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31136"/>
            <a:ext cx="3520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0444B"/>
                </a:solidFill>
                <a:latin typeface="Segoe UI"/>
              </a:rPr>
              <a:t>The queue is really a person — days of waiting for minutes of change.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79976" y="1810512"/>
            <a:ext cx="352044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79976" y="1938528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2A41"/>
                </a:solidFill>
                <a:latin typeface="Segoe UI"/>
              </a:rPr>
              <a:t>Documentation drifts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9976" y="2231136"/>
            <a:ext cx="3520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0444B"/>
                </a:solidFill>
                <a:latin typeface="Segoe UI"/>
              </a:rPr>
              <a:t>Inventories go stale the week they are written; nobody trusts them, so requests fall back to the engineers — the cycle sustains itself.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11312" y="1810512"/>
            <a:ext cx="352044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1312" y="1938528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2A41"/>
                </a:solidFill>
                <a:latin typeface="Segoe UI"/>
              </a:rPr>
              <a:t>Approvals and audit are informal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1312" y="2231136"/>
            <a:ext cx="3520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0444B"/>
                </a:solidFill>
                <a:latin typeface="Segoe UI"/>
              </a:rPr>
              <a:t>Hand-made changes leave no record of who asked, who approved, what changed.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35808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1">
                <a:solidFill>
                  <a:srgbClr val="3E4C63"/>
                </a:solidFill>
                <a:latin typeface="Segoe UI"/>
              </a:rPr>
              <a:t>Manual work has a scaling law: errors accumulate into operational drift — more volume, more drift, same small team.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419856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529584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7A808A"/>
                </a:solidFill>
                <a:latin typeface="Segoe UI"/>
              </a:rPr>
              <a:t>THE OPERATING-MODEL SHIFT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03904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7A808A"/>
                </a:solidFill>
                <a:latin typeface="Segoe UI"/>
              </a:rPr>
              <a:t>Requests wait on individual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3803904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E74B5"/>
                </a:solidFill>
                <a:latin typeface="Segoe U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3803904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Governed self-service — fulfilled within minutes of approval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187952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7A808A"/>
                </a:solidFill>
                <a:latin typeface="Segoe UI"/>
              </a:rPr>
              <a:t>Documentation maintained by hand, trusted by no 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4187952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E74B5"/>
                </a:solidFill>
                <a:latin typeface="Segoe U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4187952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One source of truth, generated from the config that runs the tools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57200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7A808A"/>
                </a:solidFill>
                <a:latin typeface="Segoe UI"/>
              </a:rPr>
              <a:t>Approvals informal; audit reconstructed from memory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0600" y="457200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E74B5"/>
                </a:solidFill>
                <a:latin typeface="Segoe UI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4572000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Approval, record, and activation built into every change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047488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157216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7A808A"/>
                </a:solidFill>
                <a:latin typeface="Segoe UI"/>
              </a:rPr>
              <a:t>THE RETURN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431536"/>
            <a:ext cx="5669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B2A41"/>
                </a:solidFill>
                <a:latin typeface="Segoe UI"/>
              </a:rPr>
              <a:t>~75 engineer-hours a month per 100 requests — roughly half an FTE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40444B"/>
                </a:solidFill>
                <a:latin typeface="Segoe UI"/>
              </a:rPr>
              <a:t>before counting requesters’ waiting time or audit preparation; a one-quarter baseline makes it measured fact.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157216"/>
            <a:ext cx="5120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7A808A"/>
                </a:solidFill>
                <a:latin typeface="Segoe UI"/>
              </a:rPr>
              <a:t>WHY NOW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5431536"/>
            <a:ext cx="5120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Already working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first slice runs end to end today.  </a:t>
            </a:r>
            <a:r>
              <a:rPr sz="1050" b="1">
                <a:solidFill>
                  <a:srgbClr val="1B2A41"/>
                </a:solidFill>
                <a:latin typeface="Segoe UI"/>
              </a:rPr>
              <a:t>Nothing new to buy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Backstage + tools we own.  </a:t>
            </a:r>
            <a:r>
              <a:rPr sz="1050" b="1">
                <a:solidFill>
                  <a:srgbClr val="1B2A41"/>
                </a:solidFill>
                <a:latin typeface="Segoe UI"/>
              </a:rPr>
              <a:t>AI-ready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a plain-text estate makes AI safe by construction.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Observability Portal — Executive Briefing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51052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HOW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B2A41"/>
                </a:solidFill>
                <a:latin typeface="Segoe UI"/>
              </a:rP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07008"/>
            <a:ext cx="914400" cy="32004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16736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7A808A"/>
                </a:solidFill>
                <a:latin typeface="Segoe UI"/>
              </a:rPr>
              <a:t>One governed pipeline, two feedback loops, one oracle — nothing reaches a platform service that is not in git first.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822960" cy="86868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505456"/>
            <a:ext cx="67665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Users</a:t>
            </a:r>
          </a:p>
          <a:p>
            <a:pPr algn="l">
              <a:spcAft>
                <a:spcPts val="0"/>
              </a:spcAft>
            </a:pPr>
            <a:r>
              <a:rPr sz="750" b="0">
                <a:solidFill>
                  <a:srgbClr val="C9D2DD"/>
                </a:solidFill>
                <a:latin typeface="Segoe UI"/>
              </a:rPr>
              <a:t>any team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408176" y="2651760"/>
            <a:ext cx="237744" cy="201168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682496" y="1828800"/>
            <a:ext cx="278892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2496" y="1828800"/>
            <a:ext cx="2788920" cy="45720"/>
          </a:xfrm>
          <a:prstGeom prst="rect">
            <a:avLst/>
          </a:prstGeom>
          <a:solidFill>
            <a:srgbClr val="36B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10512" y="1975104"/>
            <a:ext cx="237744" cy="237744"/>
          </a:xfrm>
          <a:prstGeom prst="roundRect">
            <a:avLst>
              <a:gd name="adj" fmla="val 25000"/>
            </a:avLst>
          </a:prstGeom>
          <a:solidFill>
            <a:srgbClr val="36B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Segoe UI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7984" y="1956816"/>
            <a:ext cx="22219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E74B5"/>
                </a:solidFill>
                <a:latin typeface="Segoe UI"/>
              </a:rPr>
              <a:t>1 · </a:t>
            </a:r>
            <a:r>
              <a:rPr sz="900" b="1">
                <a:solidFill>
                  <a:srgbClr val="7A808A"/>
                </a:solidFill>
                <a:latin typeface="Segoe UI"/>
              </a:rPr>
              <a:t>BACKSTAGE · YELLOW PAGES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304288"/>
            <a:ext cx="2496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Wizard → git; approval in-portal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651760"/>
            <a:ext cx="249631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750" b="0">
                <a:solidFill>
                  <a:srgbClr val="3E4C63"/>
                </a:solidFill>
                <a:latin typeface="Consolas"/>
              </a:rPr>
              <a:t>scaffolder → domain-model JSON</a:t>
            </a:r>
          </a:p>
          <a:p>
            <a:pPr algn="l">
              <a:spcAft>
                <a:spcPts val="300"/>
              </a:spcAft>
            </a:pPr>
            <a:r>
              <a:rPr sz="750" b="0">
                <a:solidFill>
                  <a:srgbClr val="3E4C63"/>
                </a:solidFill>
                <a:latin typeface="Consolas"/>
              </a:rPr>
              <a:t>publish:bitbucketServer</a:t>
            </a:r>
          </a:p>
          <a:p>
            <a:pPr algn="l">
              <a:spcAft>
                <a:spcPts val="300"/>
              </a:spcAft>
            </a:pPr>
            <a:r>
              <a:rPr sz="750" b="0">
                <a:solidFill>
                  <a:srgbClr val="3E4C63"/>
                </a:solidFill>
                <a:latin typeface="Consolas"/>
              </a:rPr>
              <a:t>staging/&lt;env&gt;-&lt;asset&gt; · maker-checker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507992" y="2651760"/>
            <a:ext cx="237744" cy="201168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82312" y="1828800"/>
            <a:ext cx="265176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82312" y="1828800"/>
            <a:ext cx="2651760" cy="45720"/>
          </a:xfrm>
          <a:prstGeom prst="rect">
            <a:avLst/>
          </a:prstGeom>
          <a:solidFill>
            <a:srgbClr val="005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10328" y="1975104"/>
            <a:ext cx="237744" cy="237744"/>
          </a:xfrm>
          <a:prstGeom prst="roundRect">
            <a:avLst>
              <a:gd name="adj" fmla="val 25000"/>
            </a:avLst>
          </a:prstGeom>
          <a:solidFill>
            <a:srgbClr val="005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Segoe UI"/>
              </a:rPr>
              <a:t>Bb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1956816"/>
            <a:ext cx="2084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E74B5"/>
                </a:solidFill>
                <a:latin typeface="Segoe UI"/>
              </a:rPr>
              <a:t>2 · </a:t>
            </a:r>
            <a:r>
              <a:rPr sz="900" b="1">
                <a:solidFill>
                  <a:srgbClr val="7A808A"/>
                </a:solidFill>
                <a:latin typeface="Segoe UI"/>
              </a:rPr>
              <a:t>BITBUCKET · TRUTH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28616" y="2304288"/>
            <a:ext cx="2359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main = production; merge = approval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28616" y="2651760"/>
            <a:ext cx="23591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750" b="0">
                <a:solidFill>
                  <a:srgbClr val="3E4C63"/>
                </a:solidFill>
                <a:latin typeface="Consolas"/>
              </a:rPr>
              <a:t>git = audit (who / what / when)</a:t>
            </a:r>
          </a:p>
          <a:p>
            <a:pPr algn="l">
              <a:spcAft>
                <a:spcPts val="300"/>
              </a:spcAft>
            </a:pPr>
            <a:r>
              <a:rPr sz="750" b="0">
                <a:solidFill>
                  <a:srgbClr val="3E4C63"/>
                </a:solidFill>
                <a:latin typeface="Consolas"/>
              </a:rPr>
              <a:t>repo:refs_changed -&gt; from/toHash</a:t>
            </a:r>
          </a:p>
          <a:p>
            <a:pPr algn="l">
              <a:spcAft>
                <a:spcPts val="300"/>
              </a:spcAft>
            </a:pPr>
            <a:r>
              <a:rPr sz="750" b="0">
                <a:solidFill>
                  <a:srgbClr val="3E4C63"/>
                </a:solidFill>
                <a:latin typeface="Consolas"/>
              </a:rPr>
              <a:t>one config repo per tool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470648" y="2651760"/>
            <a:ext cx="237744" cy="201168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44968" y="1828800"/>
            <a:ext cx="251460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44968" y="1828800"/>
            <a:ext cx="2514600" cy="45720"/>
          </a:xfrm>
          <a:prstGeom prst="rect">
            <a:avLst/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872984" y="1975104"/>
            <a:ext cx="237744" cy="237744"/>
          </a:xfrm>
          <a:prstGeom prst="roundRect">
            <a:avLst>
              <a:gd name="adj" fmla="val 25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Segoe UI"/>
              </a:rPr>
              <a:t>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0456" y="1956816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E74B5"/>
                </a:solidFill>
                <a:latin typeface="Segoe UI"/>
              </a:rPr>
              <a:t>3 · </a:t>
            </a:r>
            <a:r>
              <a:rPr sz="900" b="1">
                <a:solidFill>
                  <a:srgbClr val="7A808A"/>
                </a:solidFill>
                <a:latin typeface="Segoe UI"/>
              </a:rPr>
              <a:t>ANSIBLE · ACTIVATION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91272" y="2304288"/>
            <a:ext cx="22219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Translate → activate, stateless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91272" y="2651760"/>
            <a:ext cx="222199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750" b="0">
                <a:solidFill>
                  <a:srgbClr val="3E4C63"/>
                </a:solidFill>
                <a:latin typeface="Consolas"/>
              </a:rPr>
              <a:t>REST reads only — no clone, no git writes</a:t>
            </a:r>
          </a:p>
          <a:p>
            <a:pPr algn="l">
              <a:spcAft>
                <a:spcPts val="300"/>
              </a:spcAft>
            </a:pPr>
            <a:r>
              <a:rPr sz="750" b="0">
                <a:solidFill>
                  <a:srgbClr val="3E4C63"/>
                </a:solidFill>
                <a:latin typeface="Consolas"/>
              </a:rPr>
              <a:t>neutral JSON -&gt; tool format</a:t>
            </a:r>
          </a:p>
          <a:p>
            <a:pPr algn="l">
              <a:spcAft>
                <a:spcPts val="300"/>
              </a:spcAft>
            </a:pPr>
            <a:r>
              <a:rPr sz="750" b="0">
                <a:solidFill>
                  <a:srgbClr val="3E4C63"/>
                </a:solidFill>
                <a:latin typeface="Consolas"/>
              </a:rPr>
              <a:t>idempotent PUT x3 · Vault · no_log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10296144" y="2651760"/>
            <a:ext cx="237744" cy="201168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570464" y="1828800"/>
            <a:ext cx="1069848" cy="1874519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61904" y="1883664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1">
                <a:solidFill>
                  <a:srgbClr val="7A808A"/>
                </a:solidFill>
                <a:latin typeface="Segoe UI"/>
              </a:rPr>
              <a:t>4 · TARGETS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680192" y="2139696"/>
            <a:ext cx="201168" cy="201168"/>
          </a:xfrm>
          <a:prstGeom prst="roundRect">
            <a:avLst>
              <a:gd name="adj" fmla="val 25000"/>
            </a:avLst>
          </a:prstGeom>
          <a:solidFill>
            <a:srgbClr val="CC0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Segoe UI"/>
              </a:rPr>
              <a:t>DX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36224" y="2148839"/>
            <a:ext cx="685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1B2A41"/>
                </a:solidFill>
                <a:latin typeface="Segoe UI"/>
              </a:rPr>
              <a:t>DX UIM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680192" y="2523744"/>
            <a:ext cx="201168" cy="201168"/>
          </a:xfrm>
          <a:prstGeom prst="roundRect">
            <a:avLst>
              <a:gd name="adj" fmla="val 25000"/>
            </a:avLst>
          </a:prstGeom>
          <a:solidFill>
            <a:srgbClr val="00B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Segoe UI"/>
              </a:rPr>
              <a:t>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36224" y="2532887"/>
            <a:ext cx="685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1B2A41"/>
                </a:solidFill>
                <a:latin typeface="Segoe UI"/>
              </a:rPr>
              <a:t>ELK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680192" y="2907791"/>
            <a:ext cx="201168" cy="201168"/>
          </a:xfrm>
          <a:prstGeom prst="roundRect">
            <a:avLst>
              <a:gd name="adj" fmla="val 25000"/>
            </a:avLst>
          </a:prstGeom>
          <a:solidFill>
            <a:srgbClr val="F99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Segoe UI"/>
              </a:rPr>
              <a:t>SW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36224" y="2916935"/>
            <a:ext cx="685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1B2A41"/>
                </a:solidFill>
                <a:latin typeface="Segoe UI"/>
              </a:rPr>
              <a:t>SolarWinds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680192" y="3291839"/>
            <a:ext cx="201168" cy="201168"/>
          </a:xfrm>
          <a:prstGeom prst="roundRect">
            <a:avLst>
              <a:gd name="adj" fmla="val 25000"/>
            </a:avLst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Segoe UI"/>
              </a:rPr>
              <a:t>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36224" y="3300983"/>
            <a:ext cx="685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1B2A41"/>
                </a:solidFill>
                <a:latin typeface="Segoe UI"/>
              </a:rPr>
              <a:t>Moogsoft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3822191"/>
            <a:ext cx="11064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7A808A"/>
                </a:solidFill>
                <a:latin typeface="Segoe UI"/>
              </a:rPr>
              <a:t>invariants: </a:t>
            </a:r>
            <a:r>
              <a:rPr sz="750" b="0">
                <a:solidFill>
                  <a:srgbClr val="7A808A"/>
                </a:solidFill>
                <a:latin typeface="Consolas"/>
              </a:rPr>
              <a:t>data flows one way · idempotent desired-state, not diffs · empty ≠ delete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114800"/>
            <a:ext cx="11091672" cy="60350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Left Arrow 41"/>
          <p:cNvSpPr/>
          <p:nvPr/>
        </p:nvSpPr>
        <p:spPr>
          <a:xfrm>
            <a:off x="676656" y="4233672"/>
            <a:ext cx="237744" cy="182880"/>
          </a:xfrm>
          <a:prstGeom prst="lef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Left Arrow 42"/>
          <p:cNvSpPr/>
          <p:nvPr/>
        </p:nvSpPr>
        <p:spPr>
          <a:xfrm>
            <a:off x="676656" y="4462272"/>
            <a:ext cx="237744" cy="182880"/>
          </a:xfrm>
          <a:prstGeom prst="leftArrow">
            <a:avLst/>
          </a:prstGeom>
          <a:solidFill>
            <a:srgbClr val="F59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42415" y="4187952"/>
            <a:ext cx="1042416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5 · Closed loop, twice. </a:t>
            </a:r>
            <a:r>
              <a:rPr sz="850" b="1">
                <a:solidFill>
                  <a:srgbClr val="2E74B5"/>
                </a:solidFill>
                <a:latin typeface="Segoe UI"/>
              </a:rPr>
              <a:t>Per request: </a:t>
            </a:r>
            <a:r>
              <a:rPr sz="800" b="0">
                <a:solidFill>
                  <a:srgbClr val="40444B"/>
                </a:solidFill>
                <a:latin typeface="Segoe UI"/>
              </a:rPr>
              <a:t>notify_requester → Backstage Notifications — success live, failure critical + red job. </a:t>
            </a:r>
            <a:r>
              <a:rPr sz="850" b="1">
                <a:solidFill>
                  <a:srgbClr val="F59300"/>
                </a:solidFill>
                <a:latin typeface="Segoe UI"/>
              </a:rPr>
              <a:t>Continuous: </a:t>
            </a:r>
            <a:r>
              <a:rPr sz="800" b="0">
                <a:solidFill>
                  <a:srgbClr val="40444B"/>
                </a:solidFill>
                <a:latin typeface="Segoe UI"/>
              </a:rPr>
              <a:t>the drift detector reads live config back from every target API, diffs it against main — mutations made on a tool surface as drift, platform owners are notified, remediation stays governed (re-sync or approved change).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956048"/>
            <a:ext cx="11091672" cy="841248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731520" y="5138928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OB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52144" y="5065776"/>
            <a:ext cx="103784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The flywheel: every request makes the platform smarter. 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C9D2DD"/>
                </a:solidFill>
                <a:latin typeface="Segoe UI"/>
              </a:rPr>
              <a:t>A decade of refined gold — TechDocs, configurations, behavioural schedules from every target tool — accumulates in Bitbucket, rendered as living documentation that cannot drift. The </a:t>
            </a:r>
            <a:r>
              <a:rPr sz="850" b="1">
                <a:solidFill>
                  <a:srgbClr val="FFFFFF"/>
                </a:solidFill>
                <a:latin typeface="Segoe UI"/>
              </a:rPr>
              <a:t>Observability Brain</a:t>
            </a:r>
            <a:r>
              <a:rPr sz="800" b="0">
                <a:solidFill>
                  <a:srgbClr val="C9D2DD"/>
                </a:solidFill>
                <a:latin typeface="Segoe UI"/>
              </a:rPr>
              <a:t> — Backstage’s chatbot, the oracle at the front door — reads that same source of truth to answer, guide, and propose: grounded, cited, always under the approval gate.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Observability Portal — Executive Briefing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0" y="651052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THE TRANSFORMATION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B2A41"/>
                </a:solidFill>
                <a:latin typeface="Segoe UI"/>
              </a:rPr>
              <a:t>From person-dependent process to platform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914400" cy="32004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5440680" cy="45262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5564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E4C63"/>
                </a:solidFill>
                <a:latin typeface="Segoe UI"/>
              </a:rPr>
              <a:t>AS-IS — today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3" y="2157984"/>
            <a:ext cx="731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3E4C63"/>
                </a:solidFill>
                <a:latin typeface="Segoe UI"/>
              </a:rPr>
              <a:t>Ping / call
engineer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01368" y="210312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56232" y="2157984"/>
            <a:ext cx="731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3E4C63"/>
                </a:solidFill>
                <a:latin typeface="Segoe UI"/>
              </a:rPr>
              <a:t>Confluence
free-form page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25496" y="210312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360" y="2157984"/>
            <a:ext cx="731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3E4C63"/>
                </a:solidFill>
                <a:latin typeface="Segoe UI"/>
              </a:rPr>
              <a:t>Jira ticket
raised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8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9624" y="210312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04488" y="2157984"/>
            <a:ext cx="731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3E4C63"/>
                </a:solidFill>
                <a:latin typeface="Segoe UI"/>
              </a:rPr>
              <a:t>Manual
implementation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0016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73752" y="210312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28616" y="2157984"/>
            <a:ext cx="731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3E4C63"/>
                </a:solidFill>
                <a:latin typeface="Segoe UI"/>
              </a:rPr>
              <a:t>Slow review
&amp; approval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278892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B0544A"/>
                </a:solidFill>
                <a:latin typeface="Segoe UI"/>
              </a:rPr>
              <a:t>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2788920"/>
            <a:ext cx="4800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Requests start by pinging or calling an engineer — the queue is a person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447287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B0544A"/>
                </a:solidFill>
                <a:latin typeface="Segoe UI"/>
              </a:rPr>
              <a:t>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3447287"/>
            <a:ext cx="4800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Requirements land in a massive, free-flow Confluence page with no structure (before 2022: Word documents — maintenance was a nightmare)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105655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B0544A"/>
                </a:solidFill>
                <a:latin typeface="Segoe UI"/>
              </a:rPr>
              <a:t>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4105655"/>
            <a:ext cx="4800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A Jira ticket hands the work to a platform engineer — repetitive, and massive at volume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764023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B0544A"/>
                </a:solidFill>
                <a:latin typeface="Segoe UI"/>
              </a:rPr>
              <a:t>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" y="4764023"/>
            <a:ext cx="4800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Approval workflow and reviews consume days of elapsed time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422391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B0544A"/>
                </a:solidFill>
                <a:latin typeface="Segoe UI"/>
              </a:rPr>
              <a:t>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" y="5422391"/>
            <a:ext cx="4800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Senior engineers are consumed by documentation upkeep and liaising — little capacity left for capacity management and improvement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82512" y="1600200"/>
            <a:ext cx="5257800" cy="45262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2512" y="1600200"/>
            <a:ext cx="5257800" cy="4572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11112" y="1755648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E74B5"/>
                </a:solidFill>
                <a:latin typeface="Segoe UI"/>
              </a:rPr>
              <a:t>TO-BE — with the portal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11112" y="2103120"/>
            <a:ext cx="1060704" cy="4572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65976" y="2157984"/>
            <a:ext cx="9509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Portal request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0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63840" y="2103120"/>
            <a:ext cx="1060704" cy="4572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18704" y="2157984"/>
            <a:ext cx="9509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One approval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33688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16568" y="2103120"/>
            <a:ext cx="1060704" cy="4572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71432" y="2157984"/>
            <a:ext cx="9509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Automated activation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86416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369296" y="2103120"/>
            <a:ext cx="1060704" cy="4572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424160" y="2157984"/>
            <a:ext cx="9509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Requester notified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11112" y="278892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2788920"/>
            <a:ext cx="4617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Every touchpoint consolidated into one portal — self-service by default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11112" y="333756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0" y="3337560"/>
            <a:ext cx="4617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Target services are transparent to the user — the portal routes each request automatically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11112" y="388620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✓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0" y="3886200"/>
            <a:ext cx="4617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Fewer human touchpoints: one approval, then proper automation end to end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11112" y="443484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0" y="4434840"/>
            <a:ext cx="4617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Every step auditable and scalable by construction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11112" y="4983479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✓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0" y="4983479"/>
            <a:ext cx="4617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One single source of truth for all configuration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11112" y="5532119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0" y="5532119"/>
            <a:ext cx="4617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Next-level automation enables the Observability Brain — the estate answers questions and proposes changes, under the same approval gate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2362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B2A41"/>
                </a:solidFill>
                <a:latin typeface="Segoe UI"/>
              </a:rPr>
              <a:t>Same work, structurally different: </a:t>
            </a:r>
            <a:r>
              <a:rPr sz="1150" b="0">
                <a:solidFill>
                  <a:srgbClr val="40444B"/>
                </a:solidFill>
                <a:latin typeface="Segoe UI"/>
              </a:rPr>
              <a:t>the process moves from people’s heads and inboxes into a governed platform — recorded by default, faster by design.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Observability Portal — Executive Briefing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972800" y="651052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B2A41"/>
                </a:solidFill>
                <a:latin typeface="Segoe UI"/>
              </a:rPr>
              <a:t>The self-service catalogue, phased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914400" cy="32004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7A808A"/>
                </a:solidFill>
                <a:latin typeface="Segoe UI"/>
              </a:rPr>
              <a:t>Every service below is already designed and demoable in the portal prototype — the roadmap is activation order, not invention.</a:t>
            </a:r>
          </a:p>
        </p:txBody>
      </p:sp>
      <p:pic>
        <p:nvPicPr>
          <p:cNvPr id="6" name="Picture 5" descr="selfservice_snipp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74519"/>
            <a:ext cx="5074920" cy="2637503"/>
          </a:xfrm>
          <a:prstGeom prst="rect">
            <a:avLst/>
          </a:prstGeom>
          <a:effectLst/>
        </p:spPr>
      </p:pic>
      <p:sp>
        <p:nvSpPr>
          <p:cNvPr id="7" name="TextBox 6"/>
          <p:cNvSpPr txBox="1"/>
          <p:nvPr/>
        </p:nvSpPr>
        <p:spPr>
          <a:xfrm>
            <a:off x="548640" y="4572000"/>
            <a:ext cx="5074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The prototype today — 11 services, one design language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source: docs/ui-ux-design/mockups/backstage-catalog-v2.html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810512"/>
            <a:ext cx="5669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Q3 2026 — FOUNDATION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2103120"/>
            <a:ext cx="73152" cy="73152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44768" y="204825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Add Monitoring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CMD, log &amp; process alerts, auto-routed — DX UIM live; production hardening due 30 Sep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2368296"/>
            <a:ext cx="73152" cy="73152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23134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Register Asset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ad-hoc registration of servers and dashboards into the catalog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670048"/>
            <a:ext cx="5669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Q4 2026 — LOGS &amp; AGENTS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2962656"/>
            <a:ext cx="73152" cy="73152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29077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ELK Log Onboarding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agents, Kafka topic, parsers, indices — one request, one engineer review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0" y="3227832"/>
            <a:ext cx="73152" cy="73152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44768" y="31729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Install Agent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the right agents per host — ELK, DX UIM robot, OTel — only what is missing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0" y="3493008"/>
            <a:ext cx="73152" cy="73152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44768" y="343814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Request Log Access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read-only ELK index access — see what each index holds, request the rest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794760"/>
            <a:ext cx="5669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Q1 2027 — VISIBILITY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4087368"/>
            <a:ext cx="73152" cy="73152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44768" y="403250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Reports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daily reconciliation — assets missing from ELK, unmonitored, or drifted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0" y="4352544"/>
            <a:ext cx="73152" cy="73152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42976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Dashboard Inventory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every dashboard described and linked — one page, always current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4617720"/>
            <a:ext cx="73152" cy="73152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44768" y="456285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Data Dictionary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what lives in ELK — every index and its function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4919472"/>
            <a:ext cx="5669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Q2 2027 — ASSURANCE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0" y="5212079"/>
            <a:ext cx="73152" cy="73152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44768" y="51572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Observability Score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scorecard and certification level per asset, with remediation links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0" y="5477255"/>
            <a:ext cx="73152" cy="73152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44768" y="54223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Synthetic Alerting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fire-drill an alert end to end — synthetic event in, [DRILL] ticket out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5742431"/>
            <a:ext cx="73152" cy="73152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44768" y="56875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Alert Suppression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governed change windows — approved, recorded, always auto-expiring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6044183"/>
            <a:ext cx="5669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H2 2027 — INTELLIGENCE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0" y="6336791"/>
            <a:ext cx="73152" cy="73152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44768" y="6281927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Observability Brain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grounded search and answers over the second brain — AI proposes, humans approve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Observability Portal — Executive Briefing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51052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822960" cy="4114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D2DD"/>
                </a:solidFill>
                <a:latin typeface="Segoe UI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What we need from this 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23160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2E74B5"/>
                </a:solidFill>
                <a:latin typeface="Sego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423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Endorse the direction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807208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C9D2DD"/>
                </a:solidFill>
                <a:latin typeface="Segoe UI"/>
              </a:rPr>
              <a:t>The Portal as the single front door for observability, and self-service as the default way of working.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66160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2E74B5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66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Hold teams to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950208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C9D2DD"/>
                </a:solidFill>
                <a:latin typeface="Segoe UI"/>
              </a:rPr>
              <a:t>New monitoring requests go through the Portal as slices come live — not around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09160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2E74B5"/>
                </a:solidFill>
                <a:latin typeface="Segoe U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709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Protect the focus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093208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C9D2DD"/>
                </a:solidFill>
                <a:latin typeface="Segoe UI"/>
              </a:rPr>
              <a:t>The platform team finishes the current milestone (30 September 2026) and onboards the next tool — rather than being absorbed back into the queue the Portal is retiring.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C9D2DD"/>
                </a:solidFill>
                <a:latin typeface="Segoe UI"/>
              </a:rPr>
              <a:t>The cost of the old way is so familiar it has become invisible. The Portal makes it visible — and then removes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3E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C9D2DD"/>
                </a:solidFill>
                <a:latin typeface="Segoe UI"/>
              </a:rPr>
              <a:t>Observability Portal — Executive Briefing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51052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C9D2DD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