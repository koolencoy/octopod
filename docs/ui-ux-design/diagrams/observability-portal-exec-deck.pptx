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The Observability Portal — 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A808A"/>
                </a:solidFill>
                <a:latin typeface="Segoe UI"/>
              </a:rPr>
              <a:t>A self-service portal, built on open-source Backstage, that turns every monitoring request into a governed, automated pipeline — users see services, never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Enable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Add Monitoring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alerts, auto-routed to the right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ELK Log Onboarding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agents, topic, parsers, indices — one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Access &amp; Asset Registry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permissions and registration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874519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Assure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6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Observability Score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scorecard &amp; certification per asset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Synthetic Alerting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fire-drill an alert end to 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Reconciliation Reports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expected vs reality, daily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11312" y="1874519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Observability Brain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11312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Search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configs, runbooks, specs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Ask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answers cite their 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2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Act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links into governed services, never around them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60520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EVERY CHANGE — HUMAN OR AI — TAKES ONE PATH</a:t>
            </a:r>
          </a:p>
        </p:txBody>
      </p:sp>
      <p:sp>
        <p:nvSpPr>
          <p:cNvPr id="31" name="Chevron 30"/>
          <p:cNvSpPr/>
          <p:nvPr/>
        </p:nvSpPr>
        <p:spPr>
          <a:xfrm>
            <a:off x="548640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Request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maker</a:t>
            </a:r>
          </a:p>
        </p:txBody>
      </p:sp>
      <p:sp>
        <p:nvSpPr>
          <p:cNvPr id="32" name="Chevron 31"/>
          <p:cNvSpPr/>
          <p:nvPr/>
        </p:nvSpPr>
        <p:spPr>
          <a:xfrm>
            <a:off x="2752344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Pull request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config as code</a:t>
            </a:r>
          </a:p>
        </p:txBody>
      </p:sp>
      <p:sp>
        <p:nvSpPr>
          <p:cNvPr id="33" name="Chevron 32"/>
          <p:cNvSpPr/>
          <p:nvPr/>
        </p:nvSpPr>
        <p:spPr>
          <a:xfrm>
            <a:off x="4956048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Approval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checker, never maker</a:t>
            </a:r>
          </a:p>
        </p:txBody>
      </p:sp>
      <p:sp>
        <p:nvSpPr>
          <p:cNvPr id="34" name="Chevron 33"/>
          <p:cNvSpPr/>
          <p:nvPr/>
        </p:nvSpPr>
        <p:spPr>
          <a:xfrm>
            <a:off x="7159752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Git — the record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main is truth</a:t>
            </a:r>
          </a:p>
        </p:txBody>
      </p:sp>
      <p:sp>
        <p:nvSpPr>
          <p:cNvPr id="35" name="Chevron 34"/>
          <p:cNvSpPr/>
          <p:nvPr/>
        </p:nvSpPr>
        <p:spPr>
          <a:xfrm>
            <a:off x="9363456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Automation applies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read-only from git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3951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AI proposes, humans approve, git records</a:t>
            </a:r>
            <a:r>
              <a:rPr sz="1100" b="0">
                <a:solidFill>
                  <a:srgbClr val="40444B"/>
                </a:solidFill>
                <a:latin typeface="Segoe UI"/>
              </a:rPr>
              <a:t>  —  no one, and nothing, writes to a platform directly.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650992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Grounded in two systems of record:  </a:t>
            </a:r>
            <a:r>
              <a:rPr sz="1050" b="1">
                <a:solidFill>
                  <a:srgbClr val="1B2A41"/>
                </a:solidFill>
                <a:latin typeface="Segoe UI"/>
              </a:rPr>
              <a:t>CMDB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exists)  ·  </a:t>
            </a:r>
            <a:r>
              <a:rPr sz="1050" b="1">
                <a:solidFill>
                  <a:srgbClr val="1B2A41"/>
                </a:solidFill>
                <a:latin typeface="Segoe UI"/>
              </a:rPr>
              <a:t>Git — the second brain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is configured, and why)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Runs the tools we already own — invisible to requesters:  </a:t>
            </a:r>
            <a:r>
              <a:rPr sz="1050" b="0">
                <a:solidFill>
                  <a:srgbClr val="40444B"/>
                </a:solidFill>
                <a:latin typeface="Segoe UI"/>
              </a:rPr>
              <a:t>ELK + Kafka  ·  DX UIM  ·  SolarWinds  ·  Grafana / Kibana  ·  Moogsoft → HPSM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Why do we need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A808A"/>
                </a:solidFill>
                <a:latin typeface="Segoe UI"/>
              </a:rPr>
              <a:t>A decade of interrupt-driven operations — find an engineer, ask, wait — does not scale to thousands of hosts, hundreds of applications, and four monitoring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Every request is a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The queue is really a person — days of waiting for minutes of change.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Documentation drifts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Inventories go stale the week they are written; nobody trusts them, so requests fall back to the engineers — the cycle sustains itself.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Approvals and audit are informal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Hand-made changes leave no record of who asked, who approved, what 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3E4C63"/>
                </a:solidFill>
                <a:latin typeface="Segoe UI"/>
              </a:rPr>
              <a:t>Manual work has a scaling law: errors accumulate into operational drift — more volume, more drift, same small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OPERATING-MODEL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Requests wait on individual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0390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0390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Governed self-service — fulfilled within minutes of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Documentation maintained by hand, trusted by no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187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8795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One source of truth, generated from the config that runs the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Approvals informal; audit reconstructed from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572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Approval, record, and activation built into every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4748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57216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3153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2A41"/>
                </a:solidFill>
                <a:latin typeface="Segoe UI"/>
              </a:rPr>
              <a:t>~75 engineer-hours a month per 100 requests — roughly half an FTE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before counting requesters’ waiting time or audit preparation; a one-quarter baseline makes it measured fact.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572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3153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Already working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first slice runs end to end today.  </a:t>
            </a:r>
            <a:r>
              <a:rPr sz="1050" b="1">
                <a:solidFill>
                  <a:srgbClr val="1B2A41"/>
                </a:solidFill>
                <a:latin typeface="Segoe UI"/>
              </a:rPr>
              <a:t>Nothing new to buy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Backstage + tools we own.  </a:t>
            </a:r>
            <a:r>
              <a:rPr sz="1050" b="1">
                <a:solidFill>
                  <a:srgbClr val="1B2A41"/>
                </a:solidFill>
                <a:latin typeface="Segoe UI"/>
              </a:rPr>
              <a:t>AI-ready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 plain-text estate makes AI safe by construction.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A808A"/>
                </a:solidFill>
                <a:latin typeface="Segoe UI"/>
              </a:rPr>
              <a:t>One pipeline from request to activation — one config repo per tool, one neutral request format, per-tool translators. Nothing reaches a platform service that is not in git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097280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any team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82496" y="3108960"/>
            <a:ext cx="274320" cy="219456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93392" y="1874519"/>
            <a:ext cx="2468880" cy="2697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2264" y="1965960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7A808A"/>
                </a:solidFill>
                <a:latin typeface="Segoe UI"/>
              </a:rPr>
              <a:t>BACKSTAGE — USER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2264" y="2231136"/>
            <a:ext cx="2231136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1136" y="2322576"/>
            <a:ext cx="19933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1 · </a:t>
            </a:r>
            <a:r>
              <a:rPr sz="1050" b="1">
                <a:solidFill>
                  <a:srgbClr val="1B2A41"/>
                </a:solidFill>
                <a:latin typeface="Segoe UI"/>
              </a:rPr>
              <a:t>Portal wizard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44B"/>
                </a:solidFill>
                <a:latin typeface="Segoe UI"/>
              </a:rPr>
              <a:t>The request is described in a form — not a ticket, not a chat.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12264" y="3401568"/>
            <a:ext cx="2231136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1136" y="3493008"/>
            <a:ext cx="19933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2 · </a:t>
            </a:r>
            <a:r>
              <a:rPr sz="1050" b="1">
                <a:solidFill>
                  <a:srgbClr val="1B2A41"/>
                </a:solidFill>
                <a:latin typeface="Segoe UI"/>
              </a:rPr>
              <a:t>Approval workflow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44B"/>
                </a:solidFill>
                <a:latin typeface="Segoe UI"/>
              </a:rPr>
              <a:t>Maker–checker; approver reviews a readable change.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98848" y="3108960"/>
            <a:ext cx="274320" cy="219456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9744" y="1874519"/>
            <a:ext cx="2697480" cy="2697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616" y="1965960"/>
            <a:ext cx="2459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7A808A"/>
                </a:solidFill>
                <a:latin typeface="Segoe UI"/>
              </a:rPr>
              <a:t>BITBUCKET — SYSTEM OF RECORD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28616" y="2231136"/>
            <a:ext cx="2459736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2322576"/>
            <a:ext cx="22219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3 · </a:t>
            </a:r>
            <a:r>
              <a:rPr sz="1050" b="1">
                <a:solidFill>
                  <a:srgbClr val="1B2A41"/>
                </a:solidFill>
                <a:latin typeface="Segoe UI"/>
              </a:rPr>
              <a:t>Staging branch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44B"/>
                </a:solidFill>
                <a:latin typeface="Segoe UI"/>
              </a:rPr>
              <a:t>One branch per request; main is production truth.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3401568"/>
            <a:ext cx="2459736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3493008"/>
            <a:ext cx="22219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4 · </a:t>
            </a:r>
            <a:r>
              <a:rPr sz="1050" b="1">
                <a:solidFill>
                  <a:srgbClr val="1B2A41"/>
                </a:solidFill>
                <a:latin typeface="Segoe UI"/>
              </a:rPr>
              <a:t>PR merged to main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44B"/>
                </a:solidFill>
                <a:latin typeface="Segoe UI"/>
              </a:rPr>
              <a:t>The merge IS the approval; git IS the audit trail.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543800" y="3108960"/>
            <a:ext cx="274320" cy="219456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54696" y="1874519"/>
            <a:ext cx="1691640" cy="2697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1965960"/>
            <a:ext cx="1453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7A808A"/>
                </a:solidFill>
                <a:latin typeface="Segoe UI"/>
              </a:rPr>
              <a:t>ANSIBLE — ACTIVATION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3568" y="2377440"/>
            <a:ext cx="1453896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468880"/>
            <a:ext cx="1216152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5 · </a:t>
            </a:r>
            <a:r>
              <a:rPr sz="1050" b="1">
                <a:solidFill>
                  <a:srgbClr val="1B2A41"/>
                </a:solidFill>
                <a:latin typeface="Segoe UI"/>
              </a:rPr>
              <a:t>Webhook fires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44B"/>
                </a:solidFill>
                <a:latin typeface="Segoe UI"/>
              </a:rPr>
              <a:t>Commit to main triggers the sync — idempotent, stateless, reads git via API only.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582912" y="3108960"/>
            <a:ext cx="274320" cy="219456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93808" y="1874519"/>
            <a:ext cx="1746504" cy="2697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65960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7A808A"/>
                </a:solidFill>
                <a:latin typeface="Segoe UI"/>
              </a:rPr>
              <a:t>TARGETS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2231136"/>
            <a:ext cx="1508760" cy="5120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2295144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DX UIM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C9D2DD"/>
                </a:solidFill>
                <a:latin typeface="Segoe UI"/>
              </a:rPr>
              <a:t>built · verified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2816352"/>
            <a:ext cx="1508760" cy="5120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85832" y="2880360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ELK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C9D2DD"/>
                </a:solidFill>
                <a:latin typeface="Segoe UI"/>
              </a:rPr>
              <a:t>pattern proven · next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3401568"/>
            <a:ext cx="1508760" cy="5120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5832" y="3465576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SolarWinds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C9D2DD"/>
                </a:solidFill>
                <a:latin typeface="Segoe UI"/>
              </a:rPr>
              <a:t>planned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3986784"/>
            <a:ext cx="1508760" cy="5120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405079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Moogsoft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C9D2DD"/>
                </a:solidFill>
                <a:latin typeface="Segoe UI"/>
              </a:rPr>
              <a:t>events → tickets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4590288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A808A"/>
                </a:solidFill>
                <a:latin typeface="Segoe UI"/>
              </a:rPr>
              <a:t>6 · configured automatically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93392" y="4864608"/>
            <a:ext cx="9646920" cy="457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eft Arrow 39"/>
          <p:cNvSpPr/>
          <p:nvPr/>
        </p:nvSpPr>
        <p:spPr>
          <a:xfrm>
            <a:off x="2103120" y="4983480"/>
            <a:ext cx="274320" cy="219456"/>
          </a:xfrm>
          <a:prstGeom prst="lef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7168" y="4974336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B2A41"/>
                </a:solidFill>
                <a:latin typeface="Segoe UI"/>
              </a:rPr>
              <a:t>7 · Outcome notified back to the requester</a:t>
            </a:r>
            <a:r>
              <a:rPr sz="950" b="0">
                <a:solidFill>
                  <a:srgbClr val="40444B"/>
                </a:solidFill>
                <a:latin typeface="Segoe UI"/>
              </a:rPr>
              <a:t>  —  success live; failure loud (critical notification, red job) so git and reality can never disagree silently.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486400"/>
            <a:ext cx="11064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EACH COMPONENT HAS EXACTLY ONE JOB — DATA FLOWS ONE 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760720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Backstage</a:t>
            </a:r>
            <a:r>
              <a:rPr sz="950" b="0">
                <a:solidFill>
                  <a:srgbClr val="40444B"/>
                </a:solidFill>
                <a:latin typeface="Segoe UI"/>
              </a:rPr>
              <a:t>  —  wizard, catalog, notifications — never talks to a monitoring tool directly.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9976" y="5760720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Bitbucket</a:t>
            </a:r>
            <a:r>
              <a:rPr sz="950" b="0">
                <a:solidFill>
                  <a:srgbClr val="40444B"/>
                </a:solidFill>
                <a:latin typeface="Segoe UI"/>
              </a:rPr>
              <a:t>  —  record + approval — human-reviewable text only; one config repo per tool.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5760720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Ansible</a:t>
            </a:r>
            <a:r>
              <a:rPr sz="950" b="0">
                <a:solidFill>
                  <a:srgbClr val="40444B"/>
                </a:solidFill>
                <a:latin typeface="Segoe UI"/>
              </a:rPr>
              <a:t>  —  reads approved config, pushes to tools — never writes to git. Ever.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From person-dependent process to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526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E4C63"/>
                </a:solidFill>
                <a:latin typeface="Segoe UI"/>
              </a:rPr>
              <a:t>AS-IS —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Ping / call
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2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Confluence
free-form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25496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Jira ticket
raised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9624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4488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Manual
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3752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8616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Slow review
&amp;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7889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Requests start by pinging or calling an engineer — the queue is a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472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447287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Requirements land in a massive, free-flow Confluence page with no structure (before 2022: Word documents — maintenance was a nightmare)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5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105655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A Jira ticket hands the work to a platform engineer — repetitive, and massive at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64023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6402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Approval workflow and reviews consume days of elapsed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22391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Senior engineers are consumed by documentation upkeep and liaising — little capacity left for capacity management and improvement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600200"/>
            <a:ext cx="52578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2512" y="1600200"/>
            <a:ext cx="525780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Segoe UI"/>
              </a:rPr>
              <a:t>TO-BE — with the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5976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Portal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18704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One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1432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Automated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69296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Requester notified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889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touchpoint consolidated into one portal — self-service by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333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33756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Target services are transparent to the user — the portal routes each request automatically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88620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Fewer human touchpoints: one approval, then proper automation end to 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434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43484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step auditable and scalable by construction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98347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98347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One single source of truth for all configuration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53211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53211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Next-level automation enables the Observability Brain — the estate answers questions and proposes changes, under the same approval gate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Same work, structurally different: </a:t>
            </a:r>
            <a:r>
              <a:rPr sz="1150" b="0">
                <a:solidFill>
                  <a:srgbClr val="40444B"/>
                </a:solidFill>
                <a:latin typeface="Segoe UI"/>
              </a:rPr>
              <a:t>the process moves from people’s heads and inboxes into a governed platform — recorded by default, faster by design.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 need from this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Endorse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07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Portal as the single front door for observability, and self-service as the default way of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Hold teams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50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New monitoring requests go through the Portal as slices come live — not around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Protect the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platform team finishes the current milestone (30 September 2026) and onboards the next tool — rather than being absorbed back into the queue the Portal is retiring.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The cost of the old way is so familiar it has become invisible. The Portal makes it visible — and then removes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