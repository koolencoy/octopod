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Observability Portal — what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self-service portal, built on open-source Backstage, that turns every monitoring request into a governed, automated pipeline — users see services, never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Enable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alerts, auto-routed to the right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agents, topic, parsers, indices — one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Access &amp; Asset Registry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permissions and registration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Assure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scorecard &amp; certification per asset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fire-drill an alert end to 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Reconciliation Reports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expected vs reality, daily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1312" y="1874519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Observability Brain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11312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Search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configs, runbooks, specs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Ask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answers cite their sources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1312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Act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links into governed services, never around them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160520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EVERY CHANGE — HUMAN OR AI — TAKES ONE PATH</a:t>
            </a:r>
          </a:p>
        </p:txBody>
      </p:sp>
      <p:sp>
        <p:nvSpPr>
          <p:cNvPr id="31" name="Chevron 30"/>
          <p:cNvSpPr/>
          <p:nvPr/>
        </p:nvSpPr>
        <p:spPr>
          <a:xfrm>
            <a:off x="548640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maker</a:t>
            </a:r>
          </a:p>
        </p:txBody>
      </p:sp>
      <p:sp>
        <p:nvSpPr>
          <p:cNvPr id="32" name="Chevron 31"/>
          <p:cNvSpPr/>
          <p:nvPr/>
        </p:nvSpPr>
        <p:spPr>
          <a:xfrm>
            <a:off x="2752344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Pull 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config as code</a:t>
            </a:r>
          </a:p>
        </p:txBody>
      </p:sp>
      <p:sp>
        <p:nvSpPr>
          <p:cNvPr id="33" name="Chevron 32"/>
          <p:cNvSpPr/>
          <p:nvPr/>
        </p:nvSpPr>
        <p:spPr>
          <a:xfrm>
            <a:off x="4956048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Approval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checker, never maker</a:t>
            </a:r>
          </a:p>
        </p:txBody>
      </p:sp>
      <p:sp>
        <p:nvSpPr>
          <p:cNvPr id="34" name="Chevron 33"/>
          <p:cNvSpPr/>
          <p:nvPr/>
        </p:nvSpPr>
        <p:spPr>
          <a:xfrm>
            <a:off x="7159752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Git — the record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main is truth</a:t>
            </a:r>
          </a:p>
        </p:txBody>
      </p:sp>
      <p:sp>
        <p:nvSpPr>
          <p:cNvPr id="35" name="Chevron 34"/>
          <p:cNvSpPr/>
          <p:nvPr/>
        </p:nvSpPr>
        <p:spPr>
          <a:xfrm>
            <a:off x="9363456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Automation applies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read-only from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3951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AI proposes, humans approve, git records</a:t>
            </a:r>
            <a:r>
              <a:rPr sz="1100" b="0">
                <a:solidFill>
                  <a:srgbClr val="40444B"/>
                </a:solidFill>
                <a:latin typeface="Segoe UI"/>
              </a:rPr>
              <a:t>  —  no one, and nothing, writes to a platform directly.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50992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Grounded in two systems of record:  </a:t>
            </a:r>
            <a:r>
              <a:rPr sz="1050" b="1">
                <a:solidFill>
                  <a:srgbClr val="1B2A41"/>
                </a:solidFill>
                <a:latin typeface="Segoe UI"/>
              </a:rPr>
              <a:t>CMDB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exists)  ·  </a:t>
            </a:r>
            <a:r>
              <a:rPr sz="1050" b="1">
                <a:solidFill>
                  <a:srgbClr val="1B2A41"/>
                </a:solidFill>
                <a:latin typeface="Segoe UI"/>
              </a:rPr>
              <a:t>Git — the second brain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is configured, and why)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Runs the tools we already own — invisible to requesters:  </a:t>
            </a:r>
            <a:r>
              <a:rPr sz="1050" b="0">
                <a:solidFill>
                  <a:srgbClr val="40444B"/>
                </a:solidFill>
                <a:latin typeface="Segoe UI"/>
              </a:rPr>
              <a:t>ELK + Kafka  ·  DX UIM  ·  SolarWinds  ·  Grafana / Kibana  ·  Moogsoft → HPSM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Why do we need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decade of interrupt-driven operations — find an engineer, ask, wait — does not scale to thousands of hosts, hundreds of applications, and four monitoring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Every request is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The queue is really a person — days of waiting for minutes of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Documentation drifts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Inventories go stale the week they are written; nobody trusts them, so requests fall back to the engineers — the cycle sustains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Approvals and audit are informal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Hand-made changes leave no record of who asked, who approved, what changed.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3E4C63"/>
                </a:solidFill>
                <a:latin typeface="Segoe UI"/>
              </a:rPr>
              <a:t>Manual work has a scaling law: errors accumulate into operational drift — more volume, more drift, same small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19856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OPERATING-MODEL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Requests wait on individual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0390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Governed self-service — fulfilled within minutes of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Documentation maintained by hand, trusted by no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1879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8795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One source of truth, generated from the config that runs the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Approvals informal; audit reconstructed from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Approval, record, and activation built into every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5721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RETURN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A41"/>
                </a:solidFill>
                <a:latin typeface="Segoe UI"/>
              </a:rPr>
              <a:t>~75 engineer-hours a month per 100 requests — roughly half an FTE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before counting requesters’ waiting time or audit preparation; a one-quarter baseline makes it measured fact.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WHY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31536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Already working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first slice runs end to end today.  </a:t>
            </a:r>
            <a:r>
              <a:rPr sz="1050" b="1">
                <a:solidFill>
                  <a:srgbClr val="1B2A41"/>
                </a:solidFill>
                <a:latin typeface="Segoe UI"/>
              </a:rPr>
              <a:t>Nothing new to buy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Backstage + tools we own.  </a:t>
            </a:r>
            <a:r>
              <a:rPr sz="1050" b="1">
                <a:solidFill>
                  <a:srgbClr val="1B2A41"/>
                </a:solidFill>
                <a:latin typeface="Segoe UI"/>
              </a:rPr>
              <a:t>AI-ready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 plain-text estate makes AI safe by construction.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HOW — THE PIPELINE IN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868680" cy="8229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487168"/>
            <a:ext cx="7223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Users</a:t>
            </a:r>
          </a:p>
          <a:p>
            <a:pPr algn="l">
              <a:spcAft>
                <a:spcPts val="0"/>
              </a:spcAft>
            </a:pPr>
            <a:r>
              <a:rPr sz="750" b="0">
                <a:solidFill>
                  <a:srgbClr val="C9D2DD"/>
                </a:solidFill>
                <a:latin typeface="Segoe UI"/>
              </a:rPr>
              <a:t>any team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44752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784" y="1371600"/>
            <a:ext cx="265176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10512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36B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1463040"/>
            <a:ext cx="21396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BACKSTAGE · YELLOW PAGES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0512" y="1719072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178308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1 · </a:t>
            </a:r>
            <a:r>
              <a:rPr sz="950" b="1">
                <a:solidFill>
                  <a:srgbClr val="1B2A41"/>
                </a:solidFill>
                <a:latin typeface="Segoe UI"/>
              </a:rPr>
              <a:t>Scaffolder wizard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Template collects the form; emits a tool-neutral domain-model JSON + catalog-info.yaml.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10512" y="2523744"/>
            <a:ext cx="2432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2587751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2 · </a:t>
            </a:r>
            <a:r>
              <a:rPr sz="950" b="1">
                <a:solidFill>
                  <a:srgbClr val="1B2A41"/>
                </a:solidFill>
                <a:latin typeface="Segoe UI"/>
              </a:rPr>
              <a:t>publish:bitbucketServer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All git plumbing: branch staging/&lt;env&gt;-&lt;asset&gt;, two generated commits. No human git.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10512" y="3328416"/>
            <a:ext cx="2432304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01952" y="3392424"/>
            <a:ext cx="22494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3 · </a:t>
            </a:r>
            <a:r>
              <a:rPr sz="950" b="1">
                <a:solidFill>
                  <a:srgbClr val="1B2A41"/>
                </a:solidFill>
                <a:latin typeface="Segoe UI"/>
              </a:rPr>
              <a:t>Approval workflow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Maker–checker: approver reviews a human-readable diff, never raw tool keys.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89120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1371600"/>
            <a:ext cx="23774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005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Bb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1463040"/>
            <a:ext cx="18653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BITBUCKET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719072"/>
            <a:ext cx="215798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783080"/>
            <a:ext cx="1975103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4 · </a:t>
            </a:r>
            <a:r>
              <a:rPr sz="950" b="1">
                <a:solidFill>
                  <a:srgbClr val="1B2A41"/>
                </a:solidFill>
                <a:latin typeface="Segoe UI"/>
              </a:rPr>
              <a:t>PR → merge to main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main = production truth; staging deleted after merge. The merge IS the approval; git IS the audit trail (who, what, when).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2578608"/>
            <a:ext cx="215798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642615"/>
            <a:ext cx="1975103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5 · </a:t>
            </a:r>
            <a:r>
              <a:rPr sz="950" b="1">
                <a:solidFill>
                  <a:srgbClr val="1B2A41"/>
                </a:solidFill>
                <a:latin typeface="Segoe UI"/>
              </a:rPr>
              <a:t>repo:refs_changed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Push webhook fires on main with fromHash/toHash — the only bridge between phases.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383280"/>
            <a:ext cx="2157984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3447288"/>
            <a:ext cx="19751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 · </a:t>
            </a:r>
            <a:r>
              <a:rPr sz="950" b="1">
                <a:solidFill>
                  <a:srgbClr val="1B2A41"/>
                </a:solidFill>
                <a:latin typeface="Segoe UI"/>
              </a:rPr>
              <a:t>One repo per tool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dxuim-config · elk-watchers · solarwinds-config — same folder + metadata conventions.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59168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1371600"/>
            <a:ext cx="246888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24927" y="1444752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5823" y="1463040"/>
            <a:ext cx="1956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ANSIBLE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24927" y="1719072"/>
            <a:ext cx="224942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7" y="1783080"/>
            <a:ext cx="206654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6 · </a:t>
            </a:r>
            <a:r>
              <a:rPr sz="950" b="1">
                <a:solidFill>
                  <a:srgbClr val="1B2A41"/>
                </a:solidFill>
                <a:latin typeface="Segoe UI"/>
              </a:rPr>
              <a:t>No clone — REST reads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compare/changes + raw file reads via Bitbucket API. Three triggers: webhook range · single file · full re-sync (drift repair).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4927" y="2651760"/>
            <a:ext cx="22494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16367" y="2715768"/>
            <a:ext cx="2066543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7 · </a:t>
            </a:r>
            <a:r>
              <a:rPr sz="950" b="1">
                <a:solidFill>
                  <a:srgbClr val="1B2A41"/>
                </a:solidFill>
                <a:latin typeface="Segoe UI"/>
              </a:rPr>
              <a:t>Translate &amp; activate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40444B"/>
                </a:solidFill>
                <a:latin typeface="Segoe UI"/>
              </a:rPr>
              <a:t>Neutral JSON → per-tool format; metadata block stripped; idempotent PUT, 3 retries; Vault creds, no_log on secrets.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24927" y="3511296"/>
            <a:ext cx="2249424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575303"/>
            <a:ext cx="2066543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 · </a:t>
            </a:r>
            <a:r>
              <a:rPr sz="950" b="1">
                <a:solidFill>
                  <a:srgbClr val="1B2A41"/>
                </a:solidFill>
                <a:latin typeface="Segoe UI"/>
              </a:rPr>
              <a:t>Read-only by construction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40444B"/>
                </a:solidFill>
                <a:latin typeface="Segoe UI"/>
              </a:rPr>
              <a:t>The roles contain zero git-write calls.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820656" y="2651760"/>
            <a:ext cx="219456" cy="182880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76688" y="1371600"/>
            <a:ext cx="1563624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1463040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7A808A"/>
                </a:solidFill>
                <a:latin typeface="Segoe UI"/>
              </a:rPr>
              <a:t>TARGETS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68128" y="1682496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32136" y="1737360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CC0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DX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9024" y="1719072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DX UIM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PUT /uimapi/probes/…/config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68128" y="2304288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232136" y="2359152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00B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9024" y="2340864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ELK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ES Watcher API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68128" y="2926080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232136" y="2980944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F99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SW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9024" y="2962656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SolarWinds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Orion API · planned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68128" y="3547872"/>
            <a:ext cx="13807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232136" y="3602736"/>
            <a:ext cx="201168" cy="201168"/>
          </a:xfrm>
          <a:prstGeom prst="roundRect">
            <a:avLst>
              <a:gd name="adj" fmla="val 25000"/>
            </a:avLst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Segoe UI"/>
              </a:rPr>
              <a:t>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79024" y="3584448"/>
            <a:ext cx="104241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B2A41"/>
                </a:solidFill>
                <a:latin typeface="Segoe UI"/>
              </a:rPr>
              <a:t>Moogsoft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40444B"/>
                </a:solidFill>
                <a:latin typeface="Consolas"/>
              </a:rPr>
              <a:t>events → HPSM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0784" y="4187952"/>
            <a:ext cx="9939528" cy="34747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eft Arrow 52"/>
          <p:cNvSpPr/>
          <p:nvPr/>
        </p:nvSpPr>
        <p:spPr>
          <a:xfrm>
            <a:off x="1792224" y="4270248"/>
            <a:ext cx="237744" cy="182880"/>
          </a:xfrm>
          <a:prstGeom prst="lef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21408" y="4242816"/>
            <a:ext cx="9418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8 · notify_requester → Backstage Notifications</a:t>
            </a:r>
            <a:r>
              <a:rPr sz="850" b="0">
                <a:solidFill>
                  <a:srgbClr val="40444B"/>
                </a:solidFill>
                <a:latin typeface="Segoe UI"/>
              </a:rPr>
              <a:t>  —  shared role, every slice reports back: success live; failure = critical severity + failed job, so git and reality never disagree silently.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0784" y="4608576"/>
            <a:ext cx="9939528" cy="457200"/>
          </a:xfrm>
          <a:prstGeom prst="rect">
            <a:avLst/>
          </a:prstGeom>
          <a:solidFill>
            <a:srgbClr val="FDF6EA"/>
          </a:solidFill>
          <a:ln w="9525">
            <a:solidFill>
              <a:srgbClr val="F0D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eft Arrow 55"/>
          <p:cNvSpPr/>
          <p:nvPr/>
        </p:nvSpPr>
        <p:spPr>
          <a:xfrm>
            <a:off x="1792224" y="4745736"/>
            <a:ext cx="237744" cy="182880"/>
          </a:xfrm>
          <a:prstGeom prst="leftArrow">
            <a:avLst/>
          </a:prstGeom>
          <a:solidFill>
            <a:srgbClr val="F59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21408" y="4654296"/>
            <a:ext cx="9418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9 · Drift detector — continuous read-back from the targets. </a:t>
            </a:r>
            <a:r>
              <a:rPr sz="800" b="0">
                <a:solidFill>
                  <a:srgbClr val="40444B"/>
                </a:solidFill>
                <a:latin typeface="Segoe UI"/>
              </a:rPr>
              <a:t>A scheduled reconciliation reads the live config from each target API and diffs it against main. Any configuration mutated directly on a tool surfaces as drift: the platform owner is notified in Backstage, the Reports service shows the delta, and the fix is governed — an idempotent full re-sync or an approved change. Never a silent overwrite.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120640"/>
            <a:ext cx="1109167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5120640"/>
            <a:ext cx="45720" cy="51206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13232" y="5230368"/>
            <a:ext cx="237744" cy="237744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5" y="5175504"/>
            <a:ext cx="105156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10 · TechDocs — the living document. </a:t>
            </a:r>
            <a:r>
              <a:rPr sz="800" b="0">
                <a:solidFill>
                  <a:srgbClr val="40444B"/>
                </a:solidFill>
                <a:latin typeface="Segoe UI"/>
              </a:rPr>
              <a:t>Docs-as-code in the same repos; catalog-info.yaml registers every asset; Backstage renders documentation from the very files Ansible applies — so it cannot drift from reality.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687568"/>
            <a:ext cx="11064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7A808A"/>
                </a:solidFill>
                <a:latin typeface="Segoe UI"/>
              </a:rPr>
              <a:t>INVARIANTS:  </a:t>
            </a:r>
            <a:r>
              <a:rPr sz="750" b="0">
                <a:solidFill>
                  <a:srgbClr val="7A808A"/>
                </a:solidFill>
                <a:latin typeface="Segoe UI"/>
              </a:rPr>
              <a:t>data flows one way (Backstage writes git; Ansible reads git, writes tools)  ·  idempotent everywhere (desired state, not diffs)  ·  empty ≠ delete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888736"/>
            <a:ext cx="11091672" cy="5303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13232" y="6016752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OB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5568" y="5925312"/>
            <a:ext cx="10424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11 · Observability Brain — the oracle at the front door. </a:t>
            </a:r>
            <a:r>
              <a:rPr sz="750" b="0">
                <a:solidFill>
                  <a:srgbClr val="C9D2DD"/>
                </a:solidFill>
                <a:latin typeface="Segoe UI"/>
              </a:rPr>
              <a:t>Backstage — the yellow pages of everything monitored — carries the Brain as its chatbot interface, wired to Bitbucket: the overall config source of truth, holding a decade of refined gold from every target tool — TechDocs, configurations, behavioural schedules. The Brain reads it to answer, guide, and propose for every user seeking assistance — grounded, cited, always under the approval gate.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From person-dependent process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440680" cy="4526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E4C63"/>
                </a:solidFill>
                <a:latin typeface="Segoe UI"/>
              </a:rPr>
              <a:t>AS-IS —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Ping / call
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1368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6232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Confluence
free-form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5496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Jira ticket
raised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4488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Manual
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3752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Slow review
&amp;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788920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Requests start by pinging or calling an engineer — the queue is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47287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447287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Requirements land in a massive, free-flow Confluence page with no structure (before 2022: Word documents — maintenance was a nightmare)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105655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105655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 Jira ticket hands the work to a platform engineer — repetitive, and massive at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64023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64023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Approval workflow and reviews consume days of elapsed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1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22391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Senior engineers are consumed by documentation upkeep and liaising — little capacity left for capacity management and improvement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1600200"/>
            <a:ext cx="52578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1600200"/>
            <a:ext cx="525780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1755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Segoe UI"/>
              </a:rPr>
              <a:t>TO-BE — with the portal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1112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Portal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18704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One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71432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Automated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69296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0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Requester notified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8892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touchpoint consolidated into one portal — self-service by default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33375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3756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Target services are transparent to the user — the portal routes each request automatically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388620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88620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Fewer human touchpoints: one approval, then proper automation end to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44348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3484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step auditable and scalable by construction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98347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98347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One single source of truth for all configuration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553211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53211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Next-level automation enables the Observability Brain — the estate answers questions and proposes changes, under the same approval 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2362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Same work, structurally different: </a:t>
            </a:r>
            <a:r>
              <a:rPr sz="1150" b="0">
                <a:solidFill>
                  <a:srgbClr val="40444B"/>
                </a:solidFill>
                <a:latin typeface="Segoe UI"/>
              </a:rPr>
              <a:t>the process moves from people’s heads and inboxes into a governed platform — recorded by default, faster by design.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B2A41"/>
                </a:solidFill>
                <a:latin typeface="Segoe UI"/>
              </a:rPr>
              <a:t>The self-service catalogue, phased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52144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00784"/>
            <a:ext cx="10607040" cy="20116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11192256" y="1636776"/>
            <a:ext cx="256032" cy="16459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Q3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d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47672"/>
            <a:ext cx="329184" cy="329184"/>
          </a:xfrm>
          <a:prstGeom prst="rect">
            <a:avLst/>
          </a:prstGeom>
          <a:effectLst/>
        </p:spPr>
      </p:pic>
      <p:sp>
        <p:nvSpPr>
          <p:cNvPr id="12" name="TextBox 11"/>
          <p:cNvSpPr txBox="1"/>
          <p:nvPr/>
        </p:nvSpPr>
        <p:spPr>
          <a:xfrm>
            <a:off x="67665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Add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CMD, log &amp; process alerts — auto-routed to the right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DA2837"/>
                </a:solidFill>
                <a:latin typeface="Segoe UI"/>
              </a:rPr>
              <a:t>Launch template  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gister-as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374136"/>
            <a:ext cx="329184" cy="329184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676656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Register Asset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Ad-hoc registration into the 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0ADE4"/>
                </a:solidFill>
                <a:latin typeface="Segoe UI"/>
              </a:rPr>
              <a:t>Register now 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Q4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LOGS &amp; 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920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88920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lk-log-onboar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936" y="1947672"/>
            <a:ext cx="329184" cy="329184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291693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ELK Log Onboarding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693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Agents, Kafka, parsers, indices — one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693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278D5"/>
                </a:solidFill>
                <a:latin typeface="Segoe UI"/>
              </a:rPr>
              <a:t>Start onboarding  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88920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nstall-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6936" y="3374136"/>
            <a:ext cx="329184" cy="329184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2916936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Install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The right agents per host — only what is missing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16936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E8074"/>
                </a:solidFill>
                <a:latin typeface="Segoe UI"/>
              </a:rPr>
              <a:t>Install agents  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88920" y="4681728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request-log-acc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6936" y="4800600"/>
            <a:ext cx="329184" cy="329184"/>
          </a:xfrm>
          <a:prstGeom prst="rect">
            <a:avLst/>
          </a:prstGeom>
          <a:effectLst/>
        </p:spPr>
      </p:pic>
      <p:sp>
        <p:nvSpPr>
          <p:cNvPr id="35" name="TextBox 34"/>
          <p:cNvSpPr txBox="1"/>
          <p:nvPr/>
        </p:nvSpPr>
        <p:spPr>
          <a:xfrm>
            <a:off x="2916936" y="5202936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Request Log 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16936" y="5413248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Read-only ELK index access, on request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16936" y="5760720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938F2"/>
                </a:solidFill>
                <a:latin typeface="Segoe UI"/>
              </a:rPr>
              <a:t>Request access 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199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199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VISIBILITY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199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199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repor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7215" y="1947672"/>
            <a:ext cx="329184" cy="329184"/>
          </a:xfrm>
          <a:prstGeom prst="rect">
            <a:avLst/>
          </a:prstGeom>
          <a:effectLst/>
        </p:spPr>
      </p:pic>
      <p:sp>
        <p:nvSpPr>
          <p:cNvPr id="43" name="TextBox 42"/>
          <p:cNvSpPr txBox="1"/>
          <p:nvPr/>
        </p:nvSpPr>
        <p:spPr>
          <a:xfrm>
            <a:off x="5157215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Reports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57215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Daily reconciliation — gaps, unmonitored, drift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5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00B8A9"/>
                </a:solidFill>
                <a:latin typeface="Segoe UI"/>
              </a:rPr>
              <a:t>View reports  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199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dashboard-invento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7215" y="3374136"/>
            <a:ext cx="329184" cy="329184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5157215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Dashboard Inventory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57215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Every dashboard described and linked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57215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B45309"/>
                </a:solidFill>
                <a:latin typeface="Segoe UI"/>
              </a:rPr>
              <a:t>Browse dashboards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199" y="4681728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-dictiona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5" y="4800600"/>
            <a:ext cx="329184" cy="329184"/>
          </a:xfrm>
          <a:prstGeom prst="rect">
            <a:avLst/>
          </a:prstGeom>
          <a:effectLst/>
        </p:spPr>
      </p:pic>
      <p:sp>
        <p:nvSpPr>
          <p:cNvPr id="53" name="TextBox 52"/>
          <p:cNvSpPr txBox="1"/>
          <p:nvPr/>
        </p:nvSpPr>
        <p:spPr>
          <a:xfrm>
            <a:off x="5157215" y="5202936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Data Dictionary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57215" y="5413248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Every ELK index and its function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7215" y="5760720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4F46E5"/>
                </a:solidFill>
                <a:latin typeface="Segoe UI"/>
              </a:rPr>
              <a:t>Browse dictionary  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69479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Q2 2027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79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ASSURANCE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69479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269479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observability-sc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7496" y="1947672"/>
            <a:ext cx="329184" cy="329184"/>
          </a:xfrm>
          <a:prstGeom prst="rect">
            <a:avLst/>
          </a:prstGeom>
          <a:effectLst/>
        </p:spPr>
      </p:pic>
      <p:sp>
        <p:nvSpPr>
          <p:cNvPr id="61" name="TextBox 60"/>
          <p:cNvSpPr txBox="1"/>
          <p:nvPr/>
        </p:nvSpPr>
        <p:spPr>
          <a:xfrm>
            <a:off x="739749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Observability Score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Scorecard &amp; certification per asset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9749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F59300"/>
                </a:solidFill>
                <a:latin typeface="Segoe UI"/>
              </a:rPr>
              <a:t>View scorecard  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69479" y="3255264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ynthetic-alert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97496" y="3374136"/>
            <a:ext cx="329184" cy="329184"/>
          </a:xfrm>
          <a:prstGeom prst="rect">
            <a:avLst/>
          </a:prstGeom>
          <a:effectLst/>
        </p:spPr>
      </p:pic>
      <p:sp>
        <p:nvSpPr>
          <p:cNvPr id="66" name="TextBox 65"/>
          <p:cNvSpPr txBox="1"/>
          <p:nvPr/>
        </p:nvSpPr>
        <p:spPr>
          <a:xfrm>
            <a:off x="7397496" y="3776472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Synthetic Alerting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97496" y="3986784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End-to-end fire drills — [DRILL] ticket out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97496" y="4334256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CF2E8D"/>
                </a:solidFill>
                <a:latin typeface="Segoe UI"/>
              </a:rPr>
              <a:t>Run a drill  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69479" y="4681728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alert-suppressi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97496" y="4800600"/>
            <a:ext cx="329184" cy="329184"/>
          </a:xfrm>
          <a:prstGeom prst="rect">
            <a:avLst/>
          </a:prstGeom>
          <a:effectLst/>
        </p:spPr>
      </p:pic>
      <p:sp>
        <p:nvSpPr>
          <p:cNvPr id="71" name="TextBox 70"/>
          <p:cNvSpPr txBox="1"/>
          <p:nvPr/>
        </p:nvSpPr>
        <p:spPr>
          <a:xfrm>
            <a:off x="7397496" y="5202936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Alert Suppression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97496" y="5413248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Governed change windows, auto-expiring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97496" y="5760720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1D9F5F"/>
                </a:solidFill>
                <a:latin typeface="Segoe UI"/>
              </a:rPr>
              <a:t>Schedule window  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59" y="1298448"/>
            <a:ext cx="2121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H2 2027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59" y="1508760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>
                <a:solidFill>
                  <a:srgbClr val="7A808A"/>
                </a:solidFill>
                <a:latin typeface="Segoe UI"/>
              </a:rPr>
              <a:t>INTELLIGENCE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09759" y="1700784"/>
            <a:ext cx="45720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509759" y="1828800"/>
            <a:ext cx="2121408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observability-brai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7776" y="1947672"/>
            <a:ext cx="329184" cy="329184"/>
          </a:xfrm>
          <a:prstGeom prst="rect">
            <a:avLst/>
          </a:prstGeom>
          <a:effectLst/>
        </p:spPr>
      </p:pic>
      <p:sp>
        <p:nvSpPr>
          <p:cNvPr id="79" name="TextBox 78"/>
          <p:cNvSpPr txBox="1"/>
          <p:nvPr/>
        </p:nvSpPr>
        <p:spPr>
          <a:xfrm>
            <a:off x="9637776" y="2350008"/>
            <a:ext cx="18653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182B"/>
                </a:solidFill>
                <a:latin typeface="Segoe UI"/>
              </a:rPr>
              <a:t>Observability Brain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37776" y="2560320"/>
            <a:ext cx="18653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5637D"/>
                </a:solidFill>
                <a:latin typeface="Segoe UI"/>
              </a:rPr>
              <a:t>The oracle — grounded answers over the second brain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37776" y="2907791"/>
            <a:ext cx="18653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938F2"/>
                </a:solidFill>
                <a:latin typeface="Segoe UI"/>
              </a:rPr>
              <a:t>Ask the Brain  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B2A41"/>
                </a:solidFill>
                <a:latin typeface="Segoe UI"/>
              </a:rPr>
              <a:t>Eleven services, one design language — all designed and demoable today; the roadmap is activation order. </a:t>
            </a:r>
            <a:r>
              <a:rPr sz="850" b="0">
                <a:solidFill>
                  <a:srgbClr val="40444B"/>
                </a:solidFill>
                <a:latin typeface="Segoe UI"/>
              </a:rPr>
              <a:t>Why this order: harden the live slice → land the log stack together → visibility needs reconciliation → assurance needs assets worth scoring → the Brain reads everything recorded before it.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822960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D2DD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we need from this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Endorse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Portal as the single front door for observability, and self-service as the default way of working.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Hold teams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0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New monitoring requests go through the Portal as slices come live — not around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Protect the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93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platform team finishes the current milestone (30 September 2026) and onboards the next tool — rather than being absorbed back into the queue the Portal is retiring.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9D2DD"/>
                </a:solidFill>
                <a:latin typeface="Segoe UI"/>
              </a:rPr>
              <a:t>The cost of the old way is so familiar it has become invisible. The Portal makes it visible — and then removes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