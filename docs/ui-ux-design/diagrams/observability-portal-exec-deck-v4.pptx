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The Observability Portal — 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A808A"/>
                </a:solidFill>
                <a:latin typeface="Segoe UI"/>
              </a:rPr>
              <a:t>A self-service portal, built on open-source Backstage, that turns every monitoring request into a governed, automated pipeline — users see services, never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Segoe UI"/>
              </a:rPr>
              <a:t>Enable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3230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7744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Add Monitoring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alerts, auto-routed to the right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8094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2608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ELK Log Onboarding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agents, topic, parsers, indices — one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958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47472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Access &amp; Asset Registry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permissions and registration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1874519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2002536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Segoe UI"/>
              </a:rPr>
              <a:t>Assure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976" y="243230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37744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Observability Score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scorecard &amp; certification per asset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298094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92608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Synthetic Alerting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fire-drill an alert end to 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352958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47472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Reconciliation Reports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expected vs reality, daily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11312" y="1874519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2002536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Segoe UI"/>
              </a:rPr>
              <a:t>Observability Brain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11312" y="243230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Search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configs, runbooks, specs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298094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92608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Ask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answers cite their sources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1312" y="3529584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3319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Act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links into governed services, never around them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60520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EVERY CHANGE — HUMAN OR AI — TAKES ONE PATH</a:t>
            </a:r>
          </a:p>
        </p:txBody>
      </p:sp>
      <p:sp>
        <p:nvSpPr>
          <p:cNvPr id="31" name="Chevron 30"/>
          <p:cNvSpPr/>
          <p:nvPr/>
        </p:nvSpPr>
        <p:spPr>
          <a:xfrm>
            <a:off x="548640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Request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maker</a:t>
            </a:r>
          </a:p>
        </p:txBody>
      </p:sp>
      <p:sp>
        <p:nvSpPr>
          <p:cNvPr id="32" name="Chevron 31"/>
          <p:cNvSpPr/>
          <p:nvPr/>
        </p:nvSpPr>
        <p:spPr>
          <a:xfrm>
            <a:off x="2752344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Pull request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config as code</a:t>
            </a:r>
          </a:p>
        </p:txBody>
      </p:sp>
      <p:sp>
        <p:nvSpPr>
          <p:cNvPr id="33" name="Chevron 32"/>
          <p:cNvSpPr/>
          <p:nvPr/>
        </p:nvSpPr>
        <p:spPr>
          <a:xfrm>
            <a:off x="4956048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Approval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checker, never maker</a:t>
            </a:r>
          </a:p>
        </p:txBody>
      </p:sp>
      <p:sp>
        <p:nvSpPr>
          <p:cNvPr id="34" name="Chevron 33"/>
          <p:cNvSpPr/>
          <p:nvPr/>
        </p:nvSpPr>
        <p:spPr>
          <a:xfrm>
            <a:off x="7159752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Git — the record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main is truth</a:t>
            </a:r>
          </a:p>
        </p:txBody>
      </p:sp>
      <p:sp>
        <p:nvSpPr>
          <p:cNvPr id="35" name="Chevron 34"/>
          <p:cNvSpPr/>
          <p:nvPr/>
        </p:nvSpPr>
        <p:spPr>
          <a:xfrm>
            <a:off x="9363456" y="4453128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Automation applies</a:t>
            </a:r>
          </a:p>
          <a:p>
            <a:r>
              <a:rPr sz="800">
                <a:solidFill>
                  <a:srgbClr val="C9D2DD"/>
                </a:solidFill>
                <a:latin typeface="Segoe UI"/>
              </a:rPr>
              <a:t>read-only from git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3951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AI proposes, humans approve, git records</a:t>
            </a:r>
            <a:r>
              <a:rPr sz="1100" b="0">
                <a:solidFill>
                  <a:srgbClr val="40444B"/>
                </a:solidFill>
                <a:latin typeface="Segoe UI"/>
              </a:rPr>
              <a:t>  —  no one, and nothing, writes to a platform directly.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650992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Grounded in two systems of record:  </a:t>
            </a:r>
            <a:r>
              <a:rPr sz="1050" b="1">
                <a:solidFill>
                  <a:srgbClr val="1B2A41"/>
                </a:solidFill>
                <a:latin typeface="Segoe UI"/>
              </a:rPr>
              <a:t>CMDB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exists)  ·  </a:t>
            </a:r>
            <a:r>
              <a:rPr sz="1050" b="1">
                <a:solidFill>
                  <a:srgbClr val="1B2A41"/>
                </a:solidFill>
                <a:latin typeface="Segoe UI"/>
              </a:rPr>
              <a:t>Git — the second brain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is configured, and why)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Runs the tools we already own — invisible to requesters:  </a:t>
            </a:r>
            <a:r>
              <a:rPr sz="1050" b="0">
                <a:solidFill>
                  <a:srgbClr val="40444B"/>
                </a:solidFill>
                <a:latin typeface="Segoe UI"/>
              </a:rPr>
              <a:t>ELK + Kafka  ·  DX UIM  ·  SolarWinds  ·  Grafana / Kibana  ·  Moogsoft → HPSM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Why do we need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A808A"/>
                </a:solidFill>
                <a:latin typeface="Segoe UI"/>
              </a:rPr>
              <a:t>A decade of interrupt-driven operations — find an engineer, ask, wait — does not scale to thousands of hosts, hundreds of applications, and four monitoring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Every request is a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The queue is really a person — days of waiting for minutes of change.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Documentation drifts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Inventories go stale the week they are written; nobody trusts them, so requests fall back to the engineers — the cycle sustains itself.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Approvals and audit are informal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Hand-made changes leave no record of who asked, who approved, what changed.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3E4C63"/>
                </a:solidFill>
                <a:latin typeface="Segoe UI"/>
              </a:rPr>
              <a:t>Manual work has a scaling law: errors accumulate into operational drift — more volume, more drift, same small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9856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OPERATING-MODEL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Requests wait on individual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0390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03904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Governed self-service — fulfilled within minutes of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Documentation maintained by hand, trusted by no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1879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87952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One source of truth, generated from the config that runs the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Approvals informal; audit reconstructed from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572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7200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Approval, record, and activation built into every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4748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57216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3153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2A41"/>
                </a:solidFill>
                <a:latin typeface="Segoe UI"/>
              </a:rPr>
              <a:t>~75 engineer-hours a month per 100 requests — roughly half an FTE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before counting requesters’ waiting time or audit preparation; a one-quarter baseline makes it measured fact.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572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31536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Already working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first slice runs end to end today.  </a:t>
            </a:r>
            <a:r>
              <a:rPr sz="1050" b="1">
                <a:solidFill>
                  <a:srgbClr val="1B2A41"/>
                </a:solidFill>
                <a:latin typeface="Segoe UI"/>
              </a:rPr>
              <a:t>Nothing new to buy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Backstage + tools we own.  </a:t>
            </a:r>
            <a:r>
              <a:rPr sz="1050" b="1">
                <a:solidFill>
                  <a:srgbClr val="1B2A41"/>
                </a:solidFill>
                <a:latin typeface="Segoe UI"/>
              </a:rPr>
              <a:t>AI-ready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 plain-text estate makes AI safe by construction.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HOW — THE PIPELINE IN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868680" cy="8229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722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Users</a:t>
            </a:r>
          </a:p>
          <a:p>
            <a:pPr algn="l">
              <a:spcAft>
                <a:spcPts val="0"/>
              </a:spcAft>
            </a:pPr>
            <a:r>
              <a:rPr sz="750" b="0">
                <a:solidFill>
                  <a:srgbClr val="C9D2DD"/>
                </a:solidFill>
                <a:latin typeface="Segoe UI"/>
              </a:rPr>
              <a:t>any team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44752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0784" y="1371600"/>
            <a:ext cx="265176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10512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36B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63040"/>
            <a:ext cx="2139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BACKSTAGE · YELLOW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0512" y="1719072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78308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1 · </a:t>
            </a:r>
            <a:r>
              <a:rPr sz="950" b="1">
                <a:solidFill>
                  <a:srgbClr val="1B2A41"/>
                </a:solidFill>
                <a:latin typeface="Segoe UI"/>
              </a:rPr>
              <a:t>Scaffolder wizard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Template collects the form; emits a tool-neutral domain-model JSON + catalog-info.yaml.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0512" y="2523744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1952" y="2587751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2 · </a:t>
            </a:r>
            <a:r>
              <a:rPr sz="950" b="1">
                <a:solidFill>
                  <a:srgbClr val="1B2A41"/>
                </a:solidFill>
                <a:latin typeface="Segoe UI"/>
              </a:rPr>
              <a:t>publish:bitbucketServer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All git plumbing: branch staging/&lt;env&gt;-&lt;asset&gt;, two generated commits. No human git.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0512" y="3328416"/>
            <a:ext cx="243230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1952" y="3392424"/>
            <a:ext cx="22494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3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workflow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Maker–checker: approver reviews a human-readable diff, never raw tool keys.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89120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1371600"/>
            <a:ext cx="237744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463040"/>
            <a:ext cx="18653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BITBUCKET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719072"/>
            <a:ext cx="215798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783080"/>
            <a:ext cx="1975103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4 · </a:t>
            </a:r>
            <a:r>
              <a:rPr sz="950" b="1">
                <a:solidFill>
                  <a:srgbClr val="1B2A41"/>
                </a:solidFill>
                <a:latin typeface="Segoe UI"/>
              </a:rPr>
              <a:t>PR → merge to main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main = production truth; staging deleted after merge. The merge IS the approval; git IS the audit trail (who, what, when).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578608"/>
            <a:ext cx="215798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642615"/>
            <a:ext cx="197510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5 · </a:t>
            </a:r>
            <a:r>
              <a:rPr sz="950" b="1">
                <a:solidFill>
                  <a:srgbClr val="1B2A41"/>
                </a:solidFill>
                <a:latin typeface="Segoe UI"/>
              </a:rPr>
              <a:t>repo:refs_changed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Push webhook fires on main with fromHash/toHash — the only bridge between phases.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383280"/>
            <a:ext cx="21579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447288"/>
            <a:ext cx="19751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 · </a:t>
            </a:r>
            <a:r>
              <a:rPr sz="950" b="1">
                <a:solidFill>
                  <a:srgbClr val="1B2A41"/>
                </a:solidFill>
                <a:latin typeface="Segoe UI"/>
              </a:rPr>
              <a:t>One repo per tool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dxuim-config · elk-watchers · solarwinds-config — same folder + metadata conventions.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59168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371600"/>
            <a:ext cx="246888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24927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1463040"/>
            <a:ext cx="19568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ANSIBLE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4927" y="1719072"/>
            <a:ext cx="224942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7" y="1783080"/>
            <a:ext cx="206654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6 · </a:t>
            </a:r>
            <a:r>
              <a:rPr sz="950" b="1">
                <a:solidFill>
                  <a:srgbClr val="1B2A41"/>
                </a:solidFill>
                <a:latin typeface="Segoe UI"/>
              </a:rPr>
              <a:t>No clone — REST reads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compare/changes + raw file reads via Bitbucket API. Three triggers: webhook range · single file · full re-sync (drift repair).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4927" y="2651760"/>
            <a:ext cx="224942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7" y="2715768"/>
            <a:ext cx="2066543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7 · </a:t>
            </a:r>
            <a:r>
              <a:rPr sz="950" b="1">
                <a:solidFill>
                  <a:srgbClr val="1B2A41"/>
                </a:solidFill>
                <a:latin typeface="Segoe UI"/>
              </a:rPr>
              <a:t>Translate &amp; activate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Neutral JSON → per-tool format; metadata block stripped; idempotent PUT, 3 retries; Vault creds, no_log on secrets.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24927" y="3511296"/>
            <a:ext cx="224942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3575303"/>
            <a:ext cx="206654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 · </a:t>
            </a:r>
            <a:r>
              <a:rPr sz="950" b="1">
                <a:solidFill>
                  <a:srgbClr val="1B2A41"/>
                </a:solidFill>
                <a:latin typeface="Segoe UI"/>
              </a:rPr>
              <a:t>Read-only by construction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The roles contain zero git-write calls.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820656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76688" y="1371600"/>
            <a:ext cx="1563624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6415" y="1463040"/>
            <a:ext cx="13624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68128" y="1682496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32136" y="1737360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CC0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DX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9024" y="1719072"/>
            <a:ext cx="10424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DX UIM</a:t>
            </a:r>
          </a:p>
          <a:p>
            <a:pPr algn="l">
              <a:spcAft>
                <a:spcPts val="0"/>
              </a:spcAft>
            </a:pPr>
            <a:r>
              <a:rPr sz="650" b="0">
                <a:solidFill>
                  <a:srgbClr val="40444B"/>
                </a:solidFill>
                <a:latin typeface="Consolas"/>
              </a:rPr>
              <a:t>PUT /uimapi/probes/…/config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68128" y="2304288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32136" y="235915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9024" y="2340864"/>
            <a:ext cx="10424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ELK</a:t>
            </a:r>
          </a:p>
          <a:p>
            <a:pPr algn="l">
              <a:spcAft>
                <a:spcPts val="0"/>
              </a:spcAft>
            </a:pPr>
            <a:r>
              <a:rPr sz="650" b="0">
                <a:solidFill>
                  <a:srgbClr val="40444B"/>
                </a:solidFill>
                <a:latin typeface="Consolas"/>
              </a:rPr>
              <a:t>ES Watcher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68128" y="2926080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32136" y="298094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99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SW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9024" y="2962656"/>
            <a:ext cx="10424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SolarWinds</a:t>
            </a:r>
          </a:p>
          <a:p>
            <a:pPr algn="l">
              <a:spcAft>
                <a:spcPts val="0"/>
              </a:spcAft>
            </a:pPr>
            <a:r>
              <a:rPr sz="650" b="0">
                <a:solidFill>
                  <a:srgbClr val="40444B"/>
                </a:solidFill>
                <a:latin typeface="Consolas"/>
              </a:rPr>
              <a:t>Orion API · planned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68128" y="3547872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232136" y="360273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9024" y="3584448"/>
            <a:ext cx="104241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Moogsoft</a:t>
            </a:r>
          </a:p>
          <a:p>
            <a:pPr algn="l">
              <a:spcAft>
                <a:spcPts val="0"/>
              </a:spcAft>
            </a:pPr>
            <a:r>
              <a:rPr sz="650" b="0">
                <a:solidFill>
                  <a:srgbClr val="40444B"/>
                </a:solidFill>
                <a:latin typeface="Consolas"/>
              </a:rPr>
              <a:t>events → HPSM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00784" y="4187952"/>
            <a:ext cx="9939528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eft Arrow 52"/>
          <p:cNvSpPr/>
          <p:nvPr/>
        </p:nvSpPr>
        <p:spPr>
          <a:xfrm>
            <a:off x="1792224" y="4270248"/>
            <a:ext cx="237744" cy="182880"/>
          </a:xfrm>
          <a:prstGeom prst="lef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21408" y="4242816"/>
            <a:ext cx="9418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8 · notify_requester → Backstage Notifications</a:t>
            </a:r>
            <a:r>
              <a:rPr sz="850" b="0">
                <a:solidFill>
                  <a:srgbClr val="40444B"/>
                </a:solidFill>
                <a:latin typeface="Segoe UI"/>
              </a:rPr>
              <a:t>  —  shared role, every slice reports back: success live; failure = critical severity + failed job, so git and reality never disagree silently.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00784" y="4608576"/>
            <a:ext cx="9939528" cy="457200"/>
          </a:xfrm>
          <a:prstGeom prst="rect">
            <a:avLst/>
          </a:prstGeom>
          <a:solidFill>
            <a:srgbClr val="FDF6EA"/>
          </a:solidFill>
          <a:ln w="9525">
            <a:solidFill>
              <a:srgbClr val="F0D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eft Arrow 55"/>
          <p:cNvSpPr/>
          <p:nvPr/>
        </p:nvSpPr>
        <p:spPr>
          <a:xfrm>
            <a:off x="1792224" y="4745736"/>
            <a:ext cx="237744" cy="182880"/>
          </a:xfrm>
          <a:prstGeom prst="leftArrow">
            <a:avLst/>
          </a:prstGeom>
          <a:solidFill>
            <a:srgbClr val="F59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21408" y="4654296"/>
            <a:ext cx="9418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9 · Drift detector — continuous read-back from the targets. </a:t>
            </a:r>
            <a:r>
              <a:rPr sz="800" b="0">
                <a:solidFill>
                  <a:srgbClr val="40444B"/>
                </a:solidFill>
                <a:latin typeface="Segoe UI"/>
              </a:rPr>
              <a:t>A scheduled reconciliation reads the live config from each target API and diffs it against main. Any configuration mutated directly on a tool surfaces as drift: the platform owner is notified in Backstage, the Reports service shows the delta, and the fix is governed — an idempotent full re-sync or an approved change. Never a silent overwrite.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10916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5120640"/>
            <a:ext cx="45720" cy="5120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3232" y="5230368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5" y="5175504"/>
            <a:ext cx="10515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10 · TechDocs — the living document. </a:t>
            </a:r>
            <a:r>
              <a:rPr sz="800" b="0">
                <a:solidFill>
                  <a:srgbClr val="40444B"/>
                </a:solidFill>
                <a:latin typeface="Segoe UI"/>
              </a:rPr>
              <a:t>Docs-as-code in the same repos; catalog-info.yaml registers every asset; Backstage renders documentation from the very files Ansible applies — so it cannot drift from reality.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687568"/>
            <a:ext cx="11064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INVARIANTS:  </a:t>
            </a:r>
            <a:r>
              <a:rPr sz="750" b="0">
                <a:solidFill>
                  <a:srgbClr val="7A808A"/>
                </a:solidFill>
                <a:latin typeface="Segoe UI"/>
              </a:rPr>
              <a:t>data flows one way (Backstage writes git; Ansible reads git, writes tools)  ·  idempotent everywhere (desired state, not diffs)  ·  empty ≠ delete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888736"/>
            <a:ext cx="11091672" cy="5303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13232" y="601675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OB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" y="5925312"/>
            <a:ext cx="10424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11 · Observability Brain — the oracle at the front door. </a:t>
            </a:r>
            <a:r>
              <a:rPr sz="750" b="0">
                <a:solidFill>
                  <a:srgbClr val="C9D2DD"/>
                </a:solidFill>
                <a:latin typeface="Segoe UI"/>
              </a:rPr>
              <a:t>Backstage — the yellow pages of everything monitored — carries the Brain as its chatbot interface, wired to Bitbucket: the overall config source of truth, holding a decade of refined gold from every target tool — TechDocs, configurations, behavioural schedules. The Brain reads it to answer, guide, and propose for every user seeking assistance — grounded, cited, always under the approval gate.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From person-dependent process to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526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E4C63"/>
                </a:solidFill>
                <a:latin typeface="Segoe UI"/>
              </a:rPr>
              <a:t>AS-IS —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Ping / call
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6232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Confluence
free-form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25496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Jira ticket
raised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9624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4488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Manual
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3752" y="210312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8616" y="2157984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3E4C63"/>
                </a:solidFill>
                <a:latin typeface="Segoe UI"/>
              </a:rPr>
              <a:t>Slow review
&amp;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7889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Requests start by pinging or calling an engineer — the queue is a person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47287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447287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Requirements land in a massive, free-flow Confluence page with no structure (before 2022: Word documents — maintenance was a nightmare)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05655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105655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A Jira ticket hands the work to a platform engineer — repetitive, and massive at 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64023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764023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Approval workflow and reviews consume days of elapsed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422391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Senior engineers are consumed by documentation upkeep and liaising — little capacity left for capacity management and improvement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600200"/>
            <a:ext cx="52578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2512" y="1600200"/>
            <a:ext cx="5257800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Segoe UI"/>
              </a:rPr>
              <a:t>TO-BE — with the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1112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5976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Portal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18704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One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1432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Automated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69296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2157984"/>
            <a:ext cx="9509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Requester notified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7889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touchpoint consolidated into one portal — self-service by default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333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33756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Target services are transparent to the user — the portal routes each request automatically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88620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Fewer human touchpoints: one approval, then proper automation end to 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434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43484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step auditable and scalable by construction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98347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98347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One single source of truth for all configuration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553211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53211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Next-level automation enables the Observability Brain — the estate answers questions and proposes changes, under the same approval gate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Same work, structurally different: </a:t>
            </a:r>
            <a:r>
              <a:rPr sz="1150" b="0">
                <a:solidFill>
                  <a:srgbClr val="40444B"/>
                </a:solidFill>
                <a:latin typeface="Segoe UI"/>
              </a:rPr>
              <a:t>the process moves from people’s heads and inboxes into a governed platform — recorded by default, faster by design.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The self-service catalogue, phased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A808A"/>
                </a:solidFill>
                <a:latin typeface="Segoe UI"/>
              </a:rPr>
              <a:t>Every service below is already designed and demoable in the portal prototype — the roadmap is activation order, not invention.</a:t>
            </a:r>
          </a:p>
        </p:txBody>
      </p:sp>
      <p:pic>
        <p:nvPicPr>
          <p:cNvPr id="6" name="Picture 5" descr="selfservice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074920" cy="2637503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The prototype today — 11 services, one design language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source: docs/ui-ux-design/mockups/backstage-catalog-v2.html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10512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Q3 2026 — 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103120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2048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Add Monitoring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CMD, log &amp; process alerts, auto-routed — DX UIM live; production hardening due 30 Sep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368296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23134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Register Asset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ad-hoc registration of servers and dashboards into the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70048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Q4 2026 — LOGS &amp;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962656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9077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ELK Log Onboarding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agents, Kafka topic, parsers, indices — one request, one engineer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227832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31729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Install Agent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the right agents per host — ELK, DX UIM robot, OTel — only what is missing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493008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4381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Request Log Access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read-only ELK index access — see what each index holds, request the 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94760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Q1 2027 — VISIBILITY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087368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40325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Reports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daily reconciliation — assets missing from ELK, unmonitored, or drifted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352544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4297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Dashboard Inventory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every dashboard described and linked — one page, always current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617720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45628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Data Dictionary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what lives in ELK — every index and its 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919472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Q2 2027 — ASSURANCE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212079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51572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Observability Score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scorecard and certification level per asset, with remediation links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5477255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5422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Synthetic Alerting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fire-drill an alert end to end — synthetic event in, [DRILL] ticket 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5742431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56875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Alert Suppression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governed change windows — approved, recorded, always auto-expiring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6044183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H2 2027 — INTELLIGENCE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6336791"/>
            <a:ext cx="73152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628192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Observability Brain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grounded search and answers over the second brain — AI proposes, humans approve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822960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D2DD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 need from this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Endorse the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07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Portal as the single front door for observability, and self-service as the default way of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Hold teams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50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New monitoring requests go through the Portal as slices come live — not around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Protect the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93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platform team finishes the current milestone (30 September 2026) and onboards the next tool — rather than being absorbed back into the queue the Portal is retiring.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9D2DD"/>
                </a:solidFill>
                <a:latin typeface="Segoe UI"/>
              </a:rPr>
              <a:t>The cost of the old way is so familiar it has become invisible. The Portal makes it visible — and then removes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