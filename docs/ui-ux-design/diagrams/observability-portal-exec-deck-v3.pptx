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The Observability Portal — what it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7A808A"/>
                </a:solidFill>
                <a:latin typeface="Segoe UI"/>
              </a:rPr>
              <a:t>A self-service portal, built on open-source Backstage, that turns every monitoring request into a governed, automated pipeline — users see services, never tools.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3520440" cy="25603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02536"/>
            <a:ext cx="3520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A41"/>
                </a:solidFill>
                <a:latin typeface="Segoe UI"/>
              </a:rPr>
              <a:t>Enable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3230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7744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Add Monitoring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alerts, auto-routed to the right platform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8094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92608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ELK Log Onboarding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agents, topic, parsers, indices — one request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2958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47472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Access &amp; Asset Registry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permissions and registration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9976" y="1874519"/>
            <a:ext cx="3520440" cy="25603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9976" y="2002536"/>
            <a:ext cx="3520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A41"/>
                </a:solidFill>
                <a:latin typeface="Segoe UI"/>
              </a:rPr>
              <a:t>Assure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9976" y="243230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1144" y="237744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Observability Score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scorecard &amp; certification per asset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9976" y="298094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292608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Synthetic Alerting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fire-drill an alert end to end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9976" y="352958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81144" y="347472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Reconciliation Reports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expected vs reality, daily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11312" y="1874519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2002536"/>
            <a:ext cx="3520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A41"/>
                </a:solidFill>
                <a:latin typeface="Segoe UI"/>
              </a:rPr>
              <a:t>Observability Brain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11312" y="243230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37744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Search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configs, runbooks, specs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11312" y="298094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292608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Ask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answers cite their sources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11312" y="352958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347472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Act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links into governed services, never around them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160520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EVERY CHANGE — HUMAN OR AI — TAKES ONE PATH</a:t>
            </a:r>
          </a:p>
        </p:txBody>
      </p:sp>
      <p:sp>
        <p:nvSpPr>
          <p:cNvPr id="31" name="Chevron 30"/>
          <p:cNvSpPr/>
          <p:nvPr/>
        </p:nvSpPr>
        <p:spPr>
          <a:xfrm>
            <a:off x="548640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Request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maker</a:t>
            </a:r>
          </a:p>
        </p:txBody>
      </p:sp>
      <p:sp>
        <p:nvSpPr>
          <p:cNvPr id="32" name="Chevron 31"/>
          <p:cNvSpPr/>
          <p:nvPr/>
        </p:nvSpPr>
        <p:spPr>
          <a:xfrm>
            <a:off x="2752344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Pull request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config as code</a:t>
            </a:r>
          </a:p>
        </p:txBody>
      </p:sp>
      <p:sp>
        <p:nvSpPr>
          <p:cNvPr id="33" name="Chevron 32"/>
          <p:cNvSpPr/>
          <p:nvPr/>
        </p:nvSpPr>
        <p:spPr>
          <a:xfrm>
            <a:off x="4956048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Approval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checker, never maker</a:t>
            </a:r>
          </a:p>
        </p:txBody>
      </p:sp>
      <p:sp>
        <p:nvSpPr>
          <p:cNvPr id="34" name="Chevron 33"/>
          <p:cNvSpPr/>
          <p:nvPr/>
        </p:nvSpPr>
        <p:spPr>
          <a:xfrm>
            <a:off x="7159752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Git — the record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main is truth</a:t>
            </a:r>
          </a:p>
        </p:txBody>
      </p:sp>
      <p:sp>
        <p:nvSpPr>
          <p:cNvPr id="35" name="Chevron 34"/>
          <p:cNvSpPr/>
          <p:nvPr/>
        </p:nvSpPr>
        <p:spPr>
          <a:xfrm>
            <a:off x="9363456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Automation applies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read-only from git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23951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E74B5"/>
                </a:solidFill>
                <a:latin typeface="Segoe UI"/>
              </a:rPr>
              <a:t>AI proposes, humans approve, git records</a:t>
            </a:r>
            <a:r>
              <a:rPr sz="1100" b="0">
                <a:solidFill>
                  <a:srgbClr val="40444B"/>
                </a:solidFill>
                <a:latin typeface="Segoe UI"/>
              </a:rPr>
              <a:t>  —  no one, and nothing, writes to a platform directly.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650992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76072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Grounded in two systems of record:  </a:t>
            </a:r>
            <a:r>
              <a:rPr sz="1050" b="1">
                <a:solidFill>
                  <a:srgbClr val="1B2A41"/>
                </a:solidFill>
                <a:latin typeface="Segoe UI"/>
              </a:rPr>
              <a:t>CMDB</a:t>
            </a:r>
            <a:r>
              <a:rPr sz="1050" b="0">
                <a:solidFill>
                  <a:srgbClr val="40444B"/>
                </a:solidFill>
                <a:latin typeface="Segoe UI"/>
              </a:rPr>
              <a:t> (what exists)  ·  </a:t>
            </a:r>
            <a:r>
              <a:rPr sz="1050" b="1">
                <a:solidFill>
                  <a:srgbClr val="1B2A41"/>
                </a:solidFill>
                <a:latin typeface="Segoe UI"/>
              </a:rPr>
              <a:t>Git — the second brain</a:t>
            </a:r>
            <a:r>
              <a:rPr sz="1050" b="0">
                <a:solidFill>
                  <a:srgbClr val="40444B"/>
                </a:solidFill>
                <a:latin typeface="Segoe UI"/>
              </a:rPr>
              <a:t> (what is configured, and why)</a:t>
            </a:r>
          </a:p>
          <a:p>
            <a:pPr algn="l">
              <a:spcAft>
                <a:spcPts val="5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Runs the tools we already own — invisible to requesters:  </a:t>
            </a:r>
            <a:r>
              <a:rPr sz="1050" b="0">
                <a:solidFill>
                  <a:srgbClr val="40444B"/>
                </a:solidFill>
                <a:latin typeface="Segoe UI"/>
              </a:rPr>
              <a:t>ELK + Kafka  ·  DX UIM  ·  SolarWinds  ·  Grafana / Kibana  ·  Moogsoft → HPSM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Why do we need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7A808A"/>
                </a:solidFill>
                <a:latin typeface="Segoe UI"/>
              </a:rPr>
              <a:t>A decade of interrupt-driven operations — find an engineer, ask, wait — does not scale to thousands of hosts, hundreds of applications, and four monitoring tools.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Every request is a conversation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The queue is really a person — days of waiting for minutes of change.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9976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9976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Documentation drifts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9976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Inventories go stale the week they are written; nobody trusts them, so requests fall back to the engineers — the cycle sustains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11312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Approvals and audit are informal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Hand-made changes leave no record of who asked, who approved, what changed.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3580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3E4C63"/>
                </a:solidFill>
                <a:latin typeface="Segoe UI"/>
              </a:rPr>
              <a:t>Manual work has a scaling law: errors accumulate into operational drift — more volume, more drift, same small team.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19856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529584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THE OPERATING-MODEL SHIFT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0390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Requests wait on individual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3803904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03904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Governed self-service — fulfilled within minutes of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18795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Documentation maintained by hand, trusted by no 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18795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187952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One source of truth, generated from the config that runs the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572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Approvals informal; audit reconstructed from 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45720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57200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Approval, record, and activation built into every 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047488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15721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THE RETURN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431536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B2A41"/>
                </a:solidFill>
                <a:latin typeface="Segoe UI"/>
              </a:rPr>
              <a:t>~75 engineer-hours a month per 100 requests — roughly half an FTE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before counting requesters’ waiting time or audit preparation; a one-quarter baseline makes it measured fact.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157216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WHY NOW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431536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Already working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first slice runs end to end today.  </a:t>
            </a:r>
            <a:r>
              <a:rPr sz="1050" b="1">
                <a:solidFill>
                  <a:srgbClr val="1B2A41"/>
                </a:solidFill>
                <a:latin typeface="Segoe UI"/>
              </a:rPr>
              <a:t>Nothing new to buy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Backstage + tools we own.  </a:t>
            </a:r>
            <a:r>
              <a:rPr sz="1050" b="1">
                <a:solidFill>
                  <a:srgbClr val="1B2A41"/>
                </a:solidFill>
                <a:latin typeface="Segoe UI"/>
              </a:rPr>
              <a:t>AI-ready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 plain-text estate makes AI safe by construction.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HOW — THE PIPELINE IN FULL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B2A41"/>
                </a:solidFill>
                <a:latin typeface="Segoe U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2331720"/>
            <a:ext cx="868680" cy="8229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2487168"/>
            <a:ext cx="7223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Users</a:t>
            </a:r>
          </a:p>
          <a:p>
            <a:pPr algn="l">
              <a:spcAft>
                <a:spcPts val="0"/>
              </a:spcAft>
            </a:pPr>
            <a:r>
              <a:rPr sz="750" b="0">
                <a:solidFill>
                  <a:srgbClr val="C9D2DD"/>
                </a:solidFill>
                <a:latin typeface="Segoe UI"/>
              </a:rPr>
              <a:t>any team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444752" y="2651760"/>
            <a:ext cx="219456" cy="182880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00784" y="1371600"/>
            <a:ext cx="2651760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10512" y="1444752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36B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1408" y="1463040"/>
            <a:ext cx="21396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7A808A"/>
                </a:solidFill>
                <a:latin typeface="Segoe UI"/>
              </a:rPr>
              <a:t>BACKSTAGE · YELLOW PAGES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0512" y="1719072"/>
            <a:ext cx="2432304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01952" y="1783080"/>
            <a:ext cx="2249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1 · </a:t>
            </a:r>
            <a:r>
              <a:rPr sz="950" b="1">
                <a:solidFill>
                  <a:srgbClr val="1B2A41"/>
                </a:solidFill>
                <a:latin typeface="Segoe UI"/>
              </a:rPr>
              <a:t>Scaffolder wizard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Template collects the form; emits a tool-neutral domain-model JSON + catalog-info.yaml.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10512" y="2523744"/>
            <a:ext cx="2432304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1952" y="2587751"/>
            <a:ext cx="2249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2 · </a:t>
            </a:r>
            <a:r>
              <a:rPr sz="950" b="1">
                <a:solidFill>
                  <a:srgbClr val="1B2A41"/>
                </a:solidFill>
                <a:latin typeface="Segoe UI"/>
              </a:rPr>
              <a:t>publish:bitbucketServer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All git plumbing: branch staging/&lt;env&gt;-&lt;asset&gt;, two generated commits. No human git.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10512" y="3328416"/>
            <a:ext cx="2432304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01952" y="3392424"/>
            <a:ext cx="22494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3 · </a:t>
            </a:r>
            <a:r>
              <a:rPr sz="950" b="1">
                <a:solidFill>
                  <a:srgbClr val="1B2A41"/>
                </a:solidFill>
                <a:latin typeface="Segoe UI"/>
              </a:rPr>
              <a:t>Approval workflow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Maker–checker: approver reviews a human-readable diff, never raw tool keys.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389120" y="2651760"/>
            <a:ext cx="219456" cy="182880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1371600"/>
            <a:ext cx="2377440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54880" y="1444752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Bb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1463040"/>
            <a:ext cx="18653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7A808A"/>
                </a:solidFill>
                <a:latin typeface="Segoe UI"/>
              </a:rPr>
              <a:t>BITBUCKET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1719072"/>
            <a:ext cx="215798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783080"/>
            <a:ext cx="1975103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4 · </a:t>
            </a:r>
            <a:r>
              <a:rPr sz="950" b="1">
                <a:solidFill>
                  <a:srgbClr val="1B2A41"/>
                </a:solidFill>
                <a:latin typeface="Segoe UI"/>
              </a:rPr>
              <a:t>PR → merge to main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main = production truth; staging deleted after merge. The merge IS the approval; git IS the audit trail (who, what, when).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2578608"/>
            <a:ext cx="2157984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2642615"/>
            <a:ext cx="1975103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5 · </a:t>
            </a:r>
            <a:r>
              <a:rPr sz="950" b="1">
                <a:solidFill>
                  <a:srgbClr val="1B2A41"/>
                </a:solidFill>
                <a:latin typeface="Segoe UI"/>
              </a:rPr>
              <a:t>repo:refs_changed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Push webhook fires on main with fromHash/toHash — the only bridge between phases.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383280"/>
            <a:ext cx="2157984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3447288"/>
            <a:ext cx="19751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 · </a:t>
            </a:r>
            <a:r>
              <a:rPr sz="950" b="1">
                <a:solidFill>
                  <a:srgbClr val="1B2A41"/>
                </a:solidFill>
                <a:latin typeface="Segoe UI"/>
              </a:rPr>
              <a:t>One repo per tool</a:t>
            </a:r>
          </a:p>
          <a:p>
            <a:pPr algn="l">
              <a:spcAft>
                <a:spcPts val="100"/>
              </a:spcAft>
            </a:pPr>
            <a:r>
              <a:rPr sz="750" b="0">
                <a:solidFill>
                  <a:srgbClr val="40444B"/>
                </a:solidFill>
                <a:latin typeface="Segoe UI"/>
              </a:rPr>
              <a:t>dxuim-config · elk-watchers · solarwinds-config — same folder + metadata conventions.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059168" y="2651760"/>
            <a:ext cx="219456" cy="182880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0" y="1371600"/>
            <a:ext cx="2468880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424927" y="1444752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5823" y="1463040"/>
            <a:ext cx="19568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7A808A"/>
                </a:solidFill>
                <a:latin typeface="Segoe UI"/>
              </a:rPr>
              <a:t>ANSIBLE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24927" y="1719072"/>
            <a:ext cx="224942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7" y="1783080"/>
            <a:ext cx="206654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6 · </a:t>
            </a:r>
            <a:r>
              <a:rPr sz="950" b="1">
                <a:solidFill>
                  <a:srgbClr val="1B2A41"/>
                </a:solidFill>
                <a:latin typeface="Segoe UI"/>
              </a:rPr>
              <a:t>No clone — REST reads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compare/changes + raw file reads via Bitbucket API. Three triggers: webhook range · single file · full re-sync (drift repair).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24927" y="2651760"/>
            <a:ext cx="224942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16367" y="2715768"/>
            <a:ext cx="2066543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7 · </a:t>
            </a:r>
            <a:r>
              <a:rPr sz="950" b="1">
                <a:solidFill>
                  <a:srgbClr val="1B2A41"/>
                </a:solidFill>
                <a:latin typeface="Segoe UI"/>
              </a:rPr>
              <a:t>Translate &amp; activate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Neutral JSON → per-tool format; metadata block stripped; idempotent PUT, 3 retries; Vault creds, no_log on secrets.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24927" y="3511296"/>
            <a:ext cx="2249424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3575303"/>
            <a:ext cx="2066543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 · </a:t>
            </a:r>
            <a:r>
              <a:rPr sz="950" b="1">
                <a:solidFill>
                  <a:srgbClr val="1B2A41"/>
                </a:solidFill>
                <a:latin typeface="Segoe UI"/>
              </a:rPr>
              <a:t>Read-only by construction</a:t>
            </a:r>
          </a:p>
          <a:p>
            <a:pPr algn="l">
              <a:spcAft>
                <a:spcPts val="100"/>
              </a:spcAft>
            </a:pPr>
            <a:r>
              <a:rPr sz="750" b="0">
                <a:solidFill>
                  <a:srgbClr val="40444B"/>
                </a:solidFill>
                <a:latin typeface="Segoe UI"/>
              </a:rPr>
              <a:t>The roles contain zero git-write calls.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820656" y="2651760"/>
            <a:ext cx="219456" cy="182880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76688" y="1371600"/>
            <a:ext cx="1563624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86415" y="1463040"/>
            <a:ext cx="13624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7A808A"/>
                </a:solidFill>
                <a:latin typeface="Segoe UI"/>
              </a:rPr>
              <a:t>TARGETS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68128" y="1682496"/>
            <a:ext cx="13807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232136" y="1737360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CC0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DX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79024" y="1719072"/>
            <a:ext cx="104241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B2A41"/>
                </a:solidFill>
                <a:latin typeface="Segoe UI"/>
              </a:rPr>
              <a:t>DX UIM</a:t>
            </a:r>
          </a:p>
          <a:p>
            <a:pPr algn="l">
              <a:spcAft>
                <a:spcPts val="0"/>
              </a:spcAft>
            </a:pPr>
            <a:r>
              <a:rPr sz="650" b="0">
                <a:solidFill>
                  <a:srgbClr val="40444B"/>
                </a:solidFill>
                <a:latin typeface="Consolas"/>
              </a:rPr>
              <a:t>PUT /uimapi/probes/…/config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68128" y="2304288"/>
            <a:ext cx="13807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232136" y="2359152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00B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9024" y="2340864"/>
            <a:ext cx="104241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B2A41"/>
                </a:solidFill>
                <a:latin typeface="Segoe UI"/>
              </a:rPr>
              <a:t>ELK</a:t>
            </a:r>
          </a:p>
          <a:p>
            <a:pPr algn="l">
              <a:spcAft>
                <a:spcPts val="0"/>
              </a:spcAft>
            </a:pPr>
            <a:r>
              <a:rPr sz="650" b="0">
                <a:solidFill>
                  <a:srgbClr val="40444B"/>
                </a:solidFill>
                <a:latin typeface="Consolas"/>
              </a:rPr>
              <a:t>ES Watcher API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68128" y="2926080"/>
            <a:ext cx="13807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232136" y="2980944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F99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SW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79024" y="2962656"/>
            <a:ext cx="104241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B2A41"/>
                </a:solidFill>
                <a:latin typeface="Segoe UI"/>
              </a:rPr>
              <a:t>SolarWinds</a:t>
            </a:r>
          </a:p>
          <a:p>
            <a:pPr algn="l">
              <a:spcAft>
                <a:spcPts val="0"/>
              </a:spcAft>
            </a:pPr>
            <a:r>
              <a:rPr sz="650" b="0">
                <a:solidFill>
                  <a:srgbClr val="40444B"/>
                </a:solidFill>
                <a:latin typeface="Consolas"/>
              </a:rPr>
              <a:t>Orion API · planned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68128" y="3547872"/>
            <a:ext cx="13807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232136" y="3602736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79024" y="3584448"/>
            <a:ext cx="104241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B2A41"/>
                </a:solidFill>
                <a:latin typeface="Segoe UI"/>
              </a:rPr>
              <a:t>Moogsoft</a:t>
            </a:r>
          </a:p>
          <a:p>
            <a:pPr algn="l">
              <a:spcAft>
                <a:spcPts val="0"/>
              </a:spcAft>
            </a:pPr>
            <a:r>
              <a:rPr sz="650" b="0">
                <a:solidFill>
                  <a:srgbClr val="40444B"/>
                </a:solidFill>
                <a:latin typeface="Consolas"/>
              </a:rPr>
              <a:t>events → HPSM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00784" y="4187952"/>
            <a:ext cx="9939528" cy="34747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eft Arrow 52"/>
          <p:cNvSpPr/>
          <p:nvPr/>
        </p:nvSpPr>
        <p:spPr>
          <a:xfrm>
            <a:off x="1792224" y="4270248"/>
            <a:ext cx="237744" cy="182880"/>
          </a:xfrm>
          <a:prstGeom prst="lef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21408" y="4242816"/>
            <a:ext cx="9418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1B2A41"/>
                </a:solidFill>
                <a:latin typeface="Segoe UI"/>
              </a:rPr>
              <a:t>8 · notify_requester → Backstage Notifications</a:t>
            </a:r>
            <a:r>
              <a:rPr sz="850" b="0">
                <a:solidFill>
                  <a:srgbClr val="40444B"/>
                </a:solidFill>
                <a:latin typeface="Segoe UI"/>
              </a:rPr>
              <a:t>  —  shared role, every slice reports back: success live; failure = critical severity + failed job, so git and reality never disagree silently.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00784" y="4608576"/>
            <a:ext cx="9939528" cy="457200"/>
          </a:xfrm>
          <a:prstGeom prst="rect">
            <a:avLst/>
          </a:prstGeom>
          <a:solidFill>
            <a:srgbClr val="FDF6EA"/>
          </a:solidFill>
          <a:ln w="9525">
            <a:solidFill>
              <a:srgbClr val="F0D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Left Arrow 55"/>
          <p:cNvSpPr/>
          <p:nvPr/>
        </p:nvSpPr>
        <p:spPr>
          <a:xfrm>
            <a:off x="1792224" y="4745736"/>
            <a:ext cx="237744" cy="182880"/>
          </a:xfrm>
          <a:prstGeom prst="leftArrow">
            <a:avLst/>
          </a:prstGeom>
          <a:solidFill>
            <a:srgbClr val="F59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121408" y="4654296"/>
            <a:ext cx="94183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B2A41"/>
                </a:solidFill>
                <a:latin typeface="Segoe UI"/>
              </a:rPr>
              <a:t>9 · Drift detector — continuous read-back from the targets. </a:t>
            </a:r>
            <a:r>
              <a:rPr sz="800" b="0">
                <a:solidFill>
                  <a:srgbClr val="40444B"/>
                </a:solidFill>
                <a:latin typeface="Segoe UI"/>
              </a:rPr>
              <a:t>A scheduled reconciliation reads the live config from each target API and diffs it against main. Any configuration mutated directly on a tool surfaces as drift: the platform owner is notified in Backstage, the Reports service shows the delta, and the fix is governed — an idempotent full re-sync or an approved change. Never a silent overwrite.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5120640"/>
            <a:ext cx="1109167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48640" y="5120640"/>
            <a:ext cx="45720" cy="51206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13232" y="5230368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TD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2415" y="5175504"/>
            <a:ext cx="105156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B2A41"/>
                </a:solidFill>
                <a:latin typeface="Segoe UI"/>
              </a:rPr>
              <a:t>10 · TechDocs — the living document. </a:t>
            </a:r>
            <a:r>
              <a:rPr sz="800" b="0">
                <a:solidFill>
                  <a:srgbClr val="40444B"/>
                </a:solidFill>
                <a:latin typeface="Segoe UI"/>
              </a:rPr>
              <a:t>Docs-as-code in the same repos; catalog-info.yaml registers every asset; Backstage renders documentation from the very files Ansible applies — so it cannot drift from reality.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5687568"/>
            <a:ext cx="11064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7A808A"/>
                </a:solidFill>
                <a:latin typeface="Segoe UI"/>
              </a:rPr>
              <a:t>INVARIANTS:  </a:t>
            </a:r>
            <a:r>
              <a:rPr sz="750" b="0">
                <a:solidFill>
                  <a:srgbClr val="7A808A"/>
                </a:solidFill>
                <a:latin typeface="Segoe UI"/>
              </a:rPr>
              <a:t>data flows one way (Backstage writes git; Ansible reads git, writes tools)  ·  idempotent everywhere (desired state, not diffs)  ·  empty ≠ delete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5888736"/>
            <a:ext cx="11091672" cy="5303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13232" y="6016752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OB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15568" y="5925312"/>
            <a:ext cx="104241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11 · Observability Brain — the oracle at the front door. </a:t>
            </a:r>
            <a:r>
              <a:rPr sz="750" b="0">
                <a:solidFill>
                  <a:srgbClr val="C9D2DD"/>
                </a:solidFill>
                <a:latin typeface="Segoe UI"/>
              </a:rPr>
              <a:t>Backstage — the yellow pages of everything monitored — carries the Brain as its chatbot interface, wired to Bitbucket: the overall config source of truth, holding a decade of refined gold from every target tool — TechDocs, configurations, behavioural schedules. The Brain reads it to answer, guide, and propose for every user seeking assistance — grounded, cited, always under the approval gate.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THE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From person-dependent process to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5440680" cy="45262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E4C63"/>
                </a:solidFill>
                <a:latin typeface="Segoe UI"/>
              </a:rPr>
              <a:t>AS-IS —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Ping / call
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01368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56232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Confluence
free-form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25496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Jira ticket
raised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8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9624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04488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Manual
implementation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3752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8616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Slow review
&amp;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78892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2788920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Requests start by pinging or calling an engineer — the queue is a person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447287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3447287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Requirements land in a massive, free-flow Confluence page with no structure (before 2022: Word documents — maintenance was a nightmare)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105655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105655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A Jira ticket hands the work to a platform engineer — repetitive, and massive at volume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764023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4764023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Approval workflow and reviews consume days of elapsed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22391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422391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Senior engineers are consumed by documentation upkeep and liaising — little capacity left for capacity management and improvement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1600200"/>
            <a:ext cx="525780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1600200"/>
            <a:ext cx="5257800" cy="45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11112" y="175564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Segoe UI"/>
              </a:rPr>
              <a:t>TO-BE — with the portal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11112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5976" y="2157984"/>
            <a:ext cx="9509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Portal request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3840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18704" y="2157984"/>
            <a:ext cx="9509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One approval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33688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16568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71432" y="2157984"/>
            <a:ext cx="9509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Automated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6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69296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24160" y="2157984"/>
            <a:ext cx="9509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Requester notified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278892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78892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Every touchpoint consolidated into one portal — self-service by default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11112" y="33375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33756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Target services are transparent to the user — the portal routes each request automatically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11112" y="388620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388620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Fewer human touchpoints: one approval, then proper automation end to end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1112" y="443484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443484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Every step auditable and scalable by construction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4983479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4983479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One single source of truth for all configuration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1112" y="5532119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5532119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Next-level automation enables the Observability Brain — the estate answers questions and proposes changes, under the same approval gate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2362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B2A41"/>
                </a:solidFill>
                <a:latin typeface="Segoe UI"/>
              </a:rPr>
              <a:t>Same work, structurally different: </a:t>
            </a:r>
            <a:r>
              <a:rPr sz="1150" b="0">
                <a:solidFill>
                  <a:srgbClr val="40444B"/>
                </a:solidFill>
                <a:latin typeface="Segoe UI"/>
              </a:rPr>
              <a:t>the process moves from people’s heads and inboxes into a governed platform — recorded by default, faster by design.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B2A41"/>
                </a:solidFill>
                <a:latin typeface="Segoe UI"/>
              </a:rPr>
              <a:t>The self-service catalogue, phased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16736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7A808A"/>
                </a:solidFill>
                <a:latin typeface="Segoe UI"/>
              </a:rPr>
              <a:t>Eleven services, one design language — every one already designed and demoable in the portal prototype. The roadmap is activation order, not invention.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212848"/>
            <a:ext cx="10607040" cy="20116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11192256" y="2148840"/>
            <a:ext cx="256032" cy="164592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21214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29968"/>
            <a:ext cx="21214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>
                <a:solidFill>
                  <a:srgbClr val="7A808A"/>
                </a:solidFill>
                <a:latin typeface="Segoe UI"/>
              </a:rPr>
              <a:t>FOUNDATION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12848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95728"/>
            <a:ext cx="212140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395728"/>
            <a:ext cx="2121408" cy="36576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505456"/>
            <a:ext cx="186537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B2A41"/>
                </a:solidFill>
                <a:latin typeface="Segoe UI"/>
              </a:rPr>
              <a:t>Add Monitoring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CMD, log &amp; process alerts, auto-routed — DX UIM live; production 30 Sep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584448"/>
            <a:ext cx="212140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584448"/>
            <a:ext cx="2121408" cy="36576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3694176"/>
            <a:ext cx="186537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B2A41"/>
                </a:solidFill>
                <a:latin typeface="Segoe UI"/>
              </a:rPr>
              <a:t>Register Asset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Ad-hoc registration of servers and dashboards into the catalog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1810512"/>
            <a:ext cx="21214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Q4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029968"/>
            <a:ext cx="21214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>
                <a:solidFill>
                  <a:srgbClr val="7A808A"/>
                </a:solidFill>
                <a:latin typeface="Segoe UI"/>
              </a:rPr>
              <a:t>LOGS &amp; AGENTS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88920" y="2212848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88920" y="2395728"/>
            <a:ext cx="212140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88920" y="2395728"/>
            <a:ext cx="2121408" cy="36576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16936" y="2505456"/>
            <a:ext cx="186537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B2A41"/>
                </a:solidFill>
                <a:latin typeface="Segoe UI"/>
              </a:rPr>
              <a:t>ELK Log Onboarding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Agents, Kafka topic, parsers, indices — one request, one review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3584448"/>
            <a:ext cx="212140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88920" y="3584448"/>
            <a:ext cx="2121408" cy="36576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16936" y="3694176"/>
            <a:ext cx="186537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B2A41"/>
                </a:solidFill>
                <a:latin typeface="Segoe UI"/>
              </a:rPr>
              <a:t>Install Agent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The right agents per host — ELK, DX UIM, OTel; only what is missing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4773168"/>
            <a:ext cx="212140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88920" y="4773168"/>
            <a:ext cx="2121408" cy="36576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16936" y="4882896"/>
            <a:ext cx="186537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B2A41"/>
                </a:solidFill>
                <a:latin typeface="Segoe UI"/>
              </a:rPr>
              <a:t>Request Log Access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Read-only ELK index access — see what each index holds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199" y="1810512"/>
            <a:ext cx="21214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Q1 2027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199" y="2029968"/>
            <a:ext cx="21214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>
                <a:solidFill>
                  <a:srgbClr val="7A808A"/>
                </a:solidFill>
                <a:latin typeface="Segoe UI"/>
              </a:rPr>
              <a:t>VISIBILITY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199" y="2212848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199" y="2395728"/>
            <a:ext cx="212140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199" y="2395728"/>
            <a:ext cx="2121408" cy="36576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57215" y="2505456"/>
            <a:ext cx="186537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B2A41"/>
                </a:solidFill>
                <a:latin typeface="Segoe UI"/>
              </a:rPr>
              <a:t>Reports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Daily reconciliation — missing from ELK, unmonitored, drifted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199" y="3584448"/>
            <a:ext cx="212140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199" y="3584448"/>
            <a:ext cx="2121408" cy="36576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57215" y="3694176"/>
            <a:ext cx="186537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B2A41"/>
                </a:solidFill>
                <a:latin typeface="Segoe UI"/>
              </a:rPr>
              <a:t>Dashboard Inventory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Every dashboard described and linked — one page, always current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199" y="4773168"/>
            <a:ext cx="212140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199" y="4773168"/>
            <a:ext cx="2121408" cy="36576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57215" y="4882896"/>
            <a:ext cx="186537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B2A41"/>
                </a:solidFill>
                <a:latin typeface="Segoe UI"/>
              </a:rPr>
              <a:t>Data Dictionary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What lives in ELK — every index and its function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79" y="1810512"/>
            <a:ext cx="21214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Q2 2027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69479" y="2029968"/>
            <a:ext cx="21214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>
                <a:solidFill>
                  <a:srgbClr val="7A808A"/>
                </a:solidFill>
                <a:latin typeface="Segoe UI"/>
              </a:rPr>
              <a:t>ASSURANCE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69479" y="2212848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269479" y="2395728"/>
            <a:ext cx="212140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69479" y="2395728"/>
            <a:ext cx="2121408" cy="36576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97496" y="2505456"/>
            <a:ext cx="186537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B2A41"/>
                </a:solidFill>
                <a:latin typeface="Segoe UI"/>
              </a:rPr>
              <a:t>Observability Score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Scorecard and certification level per asset, with remediation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79" y="3584448"/>
            <a:ext cx="212140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69479" y="3584448"/>
            <a:ext cx="2121408" cy="36576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97496" y="3694176"/>
            <a:ext cx="186537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B2A41"/>
                </a:solidFill>
                <a:latin typeface="Segoe UI"/>
              </a:rPr>
              <a:t>Synthetic Alerting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Fire-drill an alert end to end — [DRILL] ticket out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69479" y="4773168"/>
            <a:ext cx="212140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269479" y="4773168"/>
            <a:ext cx="2121408" cy="36576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97496" y="4882896"/>
            <a:ext cx="186537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B2A41"/>
                </a:solidFill>
                <a:latin typeface="Segoe UI"/>
              </a:rPr>
              <a:t>Alert Suppression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Governed change windows — approved, recorded, auto-expiring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09759" y="1810512"/>
            <a:ext cx="21214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H2 2027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09759" y="2029968"/>
            <a:ext cx="21214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>
                <a:solidFill>
                  <a:srgbClr val="7A808A"/>
                </a:solidFill>
                <a:latin typeface="Segoe UI"/>
              </a:rPr>
              <a:t>INTELLIGENCE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509759" y="2212848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509759" y="2395728"/>
            <a:ext cx="2121408" cy="1060704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37776" y="2505456"/>
            <a:ext cx="186537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Observability Brain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C9D2DD"/>
                </a:solidFill>
                <a:latin typeface="Segoe UI"/>
              </a:rPr>
              <a:t>The oracle at the front door — grounded, cited answers over the second brain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Why this order: </a:t>
            </a:r>
            <a:r>
              <a:rPr sz="900" b="0">
                <a:solidFill>
                  <a:srgbClr val="40444B"/>
                </a:solidFill>
                <a:latin typeface="Segoe UI"/>
              </a:rPr>
              <a:t>harden the live slice first · land the log stack together · visibility needs the reconciliation plumbing · assurance needs assets worth scoring · the Brain reads everything the earlier phases record.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822960" cy="4114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D2DD"/>
                </a:solidFill>
                <a:latin typeface="Segoe U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What we need from this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23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Endorse the direction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807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The Portal as the single front door for observability, and self-service as the default way of working.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66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Hold teams to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50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New monitoring requests go through the Portal as slices come live — not around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709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Protect the 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093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The platform team finishes the current milestone (30 September 2026) and onboards the next tool — rather than being absorbed back into the queue the Portal is retiring.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C9D2DD"/>
                </a:solidFill>
                <a:latin typeface="Segoe UI"/>
              </a:rPr>
              <a:t>The cost of the old way is so familiar it has become invisible. The Portal makes it visible — and then removes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C9D2DD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C9D2DD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