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The Observability Portal — what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7A808A"/>
                </a:solidFill>
                <a:latin typeface="Segoe UI"/>
              </a:rPr>
              <a:t>A self-service portal, built on open-source Backstage, that turns every monitoring request into a governed, automated pipeline — users see services, never tools.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Enable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Add Monitoring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alerts, auto-routed to the right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ELK Log Onboarding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agents, topic, parsers, indices — one request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Access &amp; Asset Registry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permissions and registration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9976" y="1874519"/>
            <a:ext cx="3520440" cy="25603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Assure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9976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144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Observability Score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scorecard &amp; certification per asset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Synthetic Alerting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fire-drill an alert end to end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9976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1144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Reconciliation Reports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expected vs reality, daily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11312" y="1874519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2002536"/>
            <a:ext cx="3520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A41"/>
                </a:solidFill>
                <a:latin typeface="Segoe UI"/>
              </a:rPr>
              <a:t>Observability Brain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11312" y="243230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37744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Search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configs, runbooks, specs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11312" y="298094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292608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Ask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answers cite their sources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11312" y="3529584"/>
            <a:ext cx="73152" cy="73152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3474720"/>
            <a:ext cx="3319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Act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links into governed services, never around them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160520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EVERY CHANGE — HUMAN OR AI — TAKES ONE PATH</a:t>
            </a:r>
          </a:p>
        </p:txBody>
      </p:sp>
      <p:sp>
        <p:nvSpPr>
          <p:cNvPr id="31" name="Chevron 30"/>
          <p:cNvSpPr/>
          <p:nvPr/>
        </p:nvSpPr>
        <p:spPr>
          <a:xfrm>
            <a:off x="548640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Request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maker</a:t>
            </a:r>
          </a:p>
        </p:txBody>
      </p:sp>
      <p:sp>
        <p:nvSpPr>
          <p:cNvPr id="32" name="Chevron 31"/>
          <p:cNvSpPr/>
          <p:nvPr/>
        </p:nvSpPr>
        <p:spPr>
          <a:xfrm>
            <a:off x="2752344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Pull request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config as code</a:t>
            </a:r>
          </a:p>
        </p:txBody>
      </p:sp>
      <p:sp>
        <p:nvSpPr>
          <p:cNvPr id="33" name="Chevron 32"/>
          <p:cNvSpPr/>
          <p:nvPr/>
        </p:nvSpPr>
        <p:spPr>
          <a:xfrm>
            <a:off x="4956048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Approval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checker, never maker</a:t>
            </a:r>
          </a:p>
        </p:txBody>
      </p:sp>
      <p:sp>
        <p:nvSpPr>
          <p:cNvPr id="34" name="Chevron 33"/>
          <p:cNvSpPr/>
          <p:nvPr/>
        </p:nvSpPr>
        <p:spPr>
          <a:xfrm>
            <a:off x="7159752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Git — the record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main is truth</a:t>
            </a:r>
          </a:p>
        </p:txBody>
      </p:sp>
      <p:sp>
        <p:nvSpPr>
          <p:cNvPr id="35" name="Chevron 34"/>
          <p:cNvSpPr/>
          <p:nvPr/>
        </p:nvSpPr>
        <p:spPr>
          <a:xfrm>
            <a:off x="9363456" y="4453128"/>
            <a:ext cx="2377440" cy="658368"/>
          </a:xfrm>
          <a:prstGeom prst="chevron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Automation applies</a:t>
            </a:r>
          </a:p>
          <a:p>
            <a:r>
              <a:rPr sz="800">
                <a:solidFill>
                  <a:srgbClr val="C9D2DD"/>
                </a:solidFill>
                <a:latin typeface="Segoe UI"/>
              </a:rPr>
              <a:t>read-only from git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23951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E74B5"/>
                </a:solidFill>
                <a:latin typeface="Segoe UI"/>
              </a:rPr>
              <a:t>AI proposes, humans approve, git records</a:t>
            </a:r>
            <a:r>
              <a:rPr sz="1100" b="0">
                <a:solidFill>
                  <a:srgbClr val="40444B"/>
                </a:solidFill>
                <a:latin typeface="Segoe UI"/>
              </a:rPr>
              <a:t>  —  no one, and nothing, writes to a platform directly.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650992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76072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Grounded in two systems of record:  </a:t>
            </a:r>
            <a:r>
              <a:rPr sz="1050" b="1">
                <a:solidFill>
                  <a:srgbClr val="1B2A41"/>
                </a:solidFill>
                <a:latin typeface="Segoe UI"/>
              </a:rPr>
              <a:t>CMDB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exists)  ·  </a:t>
            </a:r>
            <a:r>
              <a:rPr sz="1050" b="1">
                <a:solidFill>
                  <a:srgbClr val="1B2A41"/>
                </a:solidFill>
                <a:latin typeface="Segoe UI"/>
              </a:rPr>
              <a:t>Git — the second brain</a:t>
            </a:r>
            <a:r>
              <a:rPr sz="1050" b="0">
                <a:solidFill>
                  <a:srgbClr val="40444B"/>
                </a:solidFill>
                <a:latin typeface="Segoe UI"/>
              </a:rPr>
              <a:t> (what is configured, and why)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Runs the tools we already own — invisible to requesters:  </a:t>
            </a:r>
            <a:r>
              <a:rPr sz="1050" b="0">
                <a:solidFill>
                  <a:srgbClr val="40444B"/>
                </a:solidFill>
                <a:latin typeface="Segoe UI"/>
              </a:rPr>
              <a:t>ELK + Kafka  ·  DX UIM  ·  SolarWinds  ·  Grafana / Kibana  ·  Moogsoft → HPSM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Why do we need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7A808A"/>
                </a:solidFill>
                <a:latin typeface="Segoe UI"/>
              </a:rPr>
              <a:t>A decade of interrupt-driven operations — find an engineer, ask, wait — does not scale to thousands of hosts, hundreds of applications, and four monitoring tools.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Every request is a conversation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The queue is really a person — days of waiting for minutes of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9976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9976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Documentation drifts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9976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Inventories go stale the week they are written; nobody trusts them, so requests fall back to the engineers — the cycle sustains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11312" y="1810512"/>
            <a:ext cx="3520440" cy="25603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19385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A41"/>
                </a:solidFill>
                <a:latin typeface="Segoe UI"/>
              </a:rPr>
              <a:t>Approvals and audit are informal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231136"/>
            <a:ext cx="3520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Hand-made changes leave no record of who asked, who approved, what changed.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3E4C63"/>
                </a:solidFill>
                <a:latin typeface="Segoe UI"/>
              </a:rPr>
              <a:t>Manual work has a scaling law: errors accumulate into operational drift — more volume, more drift, same small team.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19856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2958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THE OPERATING-MODEL SHIFT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Requests wait on individual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80390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03904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Governed self-service — fulfilled within minutes of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8795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Documentation maintained by hand, trusted by no 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18795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87952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One source of truth, generated from the config that runs the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7A808A"/>
                </a:solidFill>
                <a:latin typeface="Segoe UI"/>
              </a:rPr>
              <a:t>Approvals informal; audit reconstructed from 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5720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E74B5"/>
                </a:solidFill>
                <a:latin typeface="Segoe U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57200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Approval, record, and activation built into every 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047488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15721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THE RETURN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A41"/>
                </a:solidFill>
                <a:latin typeface="Segoe UI"/>
              </a:rPr>
              <a:t>~75 engineer-hours a month per 100 requests — roughly half an FTE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40444B"/>
                </a:solidFill>
                <a:latin typeface="Segoe UI"/>
              </a:rPr>
              <a:t>before counting requesters’ waiting time or audit preparation; a one-quarter baseline makes it measured fact.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57216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WHY NOW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431536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Already working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first slice runs end to end today.  </a:t>
            </a:r>
            <a:r>
              <a:rPr sz="1050" b="1">
                <a:solidFill>
                  <a:srgbClr val="1B2A41"/>
                </a:solidFill>
                <a:latin typeface="Segoe UI"/>
              </a:rPr>
              <a:t>Nothing new to buy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Backstage + tools we own.  </a:t>
            </a:r>
            <a:r>
              <a:rPr sz="1050" b="1">
                <a:solidFill>
                  <a:srgbClr val="1B2A41"/>
                </a:solidFill>
                <a:latin typeface="Segoe UI"/>
              </a:rPr>
              <a:t>AI-ready</a:t>
            </a:r>
            <a:r>
              <a:rPr sz="1000" b="0">
                <a:solidFill>
                  <a:srgbClr val="40444B"/>
                </a:solidFill>
                <a:latin typeface="Segoe UI"/>
              </a:rPr>
              <a:t> — a plain-text estate makes AI safe by construction.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7A808A"/>
                </a:solidFill>
                <a:latin typeface="Segoe UI"/>
              </a:rPr>
              <a:t>One pipeline from request to activation — one config repo per tool, one neutral request format, per-tool translators. Nothing reaches a platform service that is not in git first.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1097280" cy="96012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Users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any team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682496" y="3108960"/>
            <a:ext cx="274320" cy="219456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93392" y="1874519"/>
            <a:ext cx="2468880" cy="2697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12264" y="1965960"/>
            <a:ext cx="22311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7A808A"/>
                </a:solidFill>
                <a:latin typeface="Segoe UI"/>
              </a:rPr>
              <a:t>BACKSTAGE — USER LAYER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12264" y="2231136"/>
            <a:ext cx="223113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31136" y="2322576"/>
            <a:ext cx="1993391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1 · </a:t>
            </a:r>
            <a:r>
              <a:rPr sz="1050" b="1">
                <a:solidFill>
                  <a:srgbClr val="1B2A41"/>
                </a:solidFill>
                <a:latin typeface="Segoe UI"/>
              </a:rPr>
              <a:t>Portal wizard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40444B"/>
                </a:solidFill>
                <a:latin typeface="Segoe UI"/>
              </a:rPr>
              <a:t>The request is described in a form — not a ticket, not a chat.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12264" y="3401568"/>
            <a:ext cx="223113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31136" y="3493008"/>
            <a:ext cx="1993391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2 · </a:t>
            </a:r>
            <a:r>
              <a:rPr sz="1050" b="1">
                <a:solidFill>
                  <a:srgbClr val="1B2A41"/>
                </a:solidFill>
                <a:latin typeface="Segoe UI"/>
              </a:rPr>
              <a:t>Approval workflow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40444B"/>
                </a:solidFill>
                <a:latin typeface="Segoe UI"/>
              </a:rPr>
              <a:t>Maker–checker; approver reviews a readable change.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498848" y="3108960"/>
            <a:ext cx="274320" cy="219456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09744" y="1874519"/>
            <a:ext cx="2697480" cy="2697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28616" y="1965960"/>
            <a:ext cx="2459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7A808A"/>
                </a:solidFill>
                <a:latin typeface="Segoe UI"/>
              </a:rPr>
              <a:t>BITBUCKET — SYSTEM OF RECORD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28616" y="2231136"/>
            <a:ext cx="245973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47488" y="2322576"/>
            <a:ext cx="2221991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3 · </a:t>
            </a:r>
            <a:r>
              <a:rPr sz="1050" b="1">
                <a:solidFill>
                  <a:srgbClr val="1B2A41"/>
                </a:solidFill>
                <a:latin typeface="Segoe UI"/>
              </a:rPr>
              <a:t>Staging branch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40444B"/>
                </a:solidFill>
                <a:latin typeface="Segoe UI"/>
              </a:rPr>
              <a:t>One branch per request; main is production truth.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28616" y="3401568"/>
            <a:ext cx="245973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7488" y="3493008"/>
            <a:ext cx="2221991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4 · </a:t>
            </a:r>
            <a:r>
              <a:rPr sz="1050" b="1">
                <a:solidFill>
                  <a:srgbClr val="1B2A41"/>
                </a:solidFill>
                <a:latin typeface="Segoe UI"/>
              </a:rPr>
              <a:t>PR merged to main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40444B"/>
                </a:solidFill>
                <a:latin typeface="Segoe UI"/>
              </a:rPr>
              <a:t>The merge IS the approval; git IS the audit trail.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543800" y="3108960"/>
            <a:ext cx="274320" cy="219456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54696" y="1874519"/>
            <a:ext cx="1691640" cy="2697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73568" y="1965960"/>
            <a:ext cx="1453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7A808A"/>
                </a:solidFill>
                <a:latin typeface="Segoe UI"/>
              </a:rPr>
              <a:t>ANSIBLE — ACTIVATION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3568" y="2377440"/>
            <a:ext cx="145389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2468880"/>
            <a:ext cx="1216152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5 · </a:t>
            </a:r>
            <a:r>
              <a:rPr sz="1050" b="1">
                <a:solidFill>
                  <a:srgbClr val="1B2A41"/>
                </a:solidFill>
                <a:latin typeface="Segoe UI"/>
              </a:rPr>
              <a:t>Webhook fires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40444B"/>
                </a:solidFill>
                <a:latin typeface="Segoe UI"/>
              </a:rPr>
              <a:t>Commit to main triggers the sync — idempotent, stateless, reads git via API only.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582912" y="3108960"/>
            <a:ext cx="274320" cy="219456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93808" y="1874519"/>
            <a:ext cx="1746504" cy="2697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12680" y="1965960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7A808A"/>
                </a:solidFill>
                <a:latin typeface="Segoe UI"/>
              </a:rPr>
              <a:t>TARGETS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12680" y="2231136"/>
            <a:ext cx="1508760" cy="512064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85832" y="2295144"/>
            <a:ext cx="1371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DX UIM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C9D2DD"/>
                </a:solidFill>
                <a:latin typeface="Segoe UI"/>
              </a:rPr>
              <a:t>built · verified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12680" y="2816352"/>
            <a:ext cx="1508760" cy="512064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85832" y="2880360"/>
            <a:ext cx="1371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ELK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C9D2DD"/>
                </a:solidFill>
                <a:latin typeface="Segoe UI"/>
              </a:rPr>
              <a:t>pattern proven · next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12680" y="3401568"/>
            <a:ext cx="1508760" cy="512064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85832" y="3465576"/>
            <a:ext cx="1371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SolarWinds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C9D2DD"/>
                </a:solidFill>
                <a:latin typeface="Segoe UI"/>
              </a:rPr>
              <a:t>planned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12680" y="3986784"/>
            <a:ext cx="1508760" cy="512064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4050792"/>
            <a:ext cx="1371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Moogsoft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C9D2DD"/>
                </a:solidFill>
                <a:latin typeface="Segoe UI"/>
              </a:rPr>
              <a:t>events → tickets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4590288"/>
            <a:ext cx="17465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7A808A"/>
                </a:solidFill>
                <a:latin typeface="Segoe UI"/>
              </a:rPr>
              <a:t>6 · configured automatically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93392" y="4864608"/>
            <a:ext cx="9646920" cy="457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Left Arrow 39"/>
          <p:cNvSpPr/>
          <p:nvPr/>
        </p:nvSpPr>
        <p:spPr>
          <a:xfrm>
            <a:off x="2103120" y="4983480"/>
            <a:ext cx="274320" cy="219456"/>
          </a:xfrm>
          <a:prstGeom prst="lef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87168" y="4974336"/>
            <a:ext cx="9052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B2A41"/>
                </a:solidFill>
                <a:latin typeface="Segoe UI"/>
              </a:rPr>
              <a:t>7 · Outcome notified back to the requester</a:t>
            </a:r>
            <a:r>
              <a:rPr sz="950" b="0">
                <a:solidFill>
                  <a:srgbClr val="40444B"/>
                </a:solidFill>
                <a:latin typeface="Segoe UI"/>
              </a:rPr>
              <a:t>  —  success live; failure loud (critical notification, red job) so git and reality can never disagree silently.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486400"/>
            <a:ext cx="11064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7A808A"/>
                </a:solidFill>
                <a:latin typeface="Segoe UI"/>
              </a:rPr>
              <a:t>EACH COMPONENT HAS EXACTLY ONE JOB — DATA FLOWS ONE WAY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760720"/>
            <a:ext cx="3611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Backstage</a:t>
            </a:r>
            <a:r>
              <a:rPr sz="950" b="0">
                <a:solidFill>
                  <a:srgbClr val="40444B"/>
                </a:solidFill>
                <a:latin typeface="Segoe UI"/>
              </a:rPr>
              <a:t>  —  wizard, catalog, notifications — never talks to a monitoring tool directly.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79976" y="5760720"/>
            <a:ext cx="3611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Bitbucket</a:t>
            </a:r>
            <a:r>
              <a:rPr sz="950" b="0">
                <a:solidFill>
                  <a:srgbClr val="40444B"/>
                </a:solidFill>
                <a:latin typeface="Segoe UI"/>
              </a:rPr>
              <a:t>  —  record + approval — human-reviewable text only; one config repo per tool.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5760720"/>
            <a:ext cx="3611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B2A41"/>
                </a:solidFill>
                <a:latin typeface="Segoe UI"/>
              </a:rPr>
              <a:t>Ansible</a:t>
            </a:r>
            <a:r>
              <a:rPr sz="950" b="0">
                <a:solidFill>
                  <a:srgbClr val="40444B"/>
                </a:solidFill>
                <a:latin typeface="Segoe UI"/>
              </a:rPr>
              <a:t>  —  reads approved config, pushes to tools — never writes to git. Ever.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THE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From person-dependent process to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440680" cy="45262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E4C63"/>
                </a:solidFill>
                <a:latin typeface="Segoe UI"/>
              </a:rPr>
              <a:t>AS-IS —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Ping / call
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1368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56232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Confluence
free-form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5496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Jira ticket
raised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04488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Manual
implementation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3752" y="210312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8616" y="2157984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3E4C63"/>
                </a:solidFill>
                <a:latin typeface="Segoe UI"/>
              </a:rPr>
              <a:t>Slow review
&amp;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788920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Requests start by pinging or calling an engineer — the queue is a person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447287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447287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Requirements land in a massive, free-flow Confluence page with no structure (before 2022: Word documents — maintenance was a nightmare)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105655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105655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A Jira ticket hands the work to a platform engineer — repetitive, and massive at volume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64023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764023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Approval workflow and reviews consume days of elapsed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22391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0544A"/>
                </a:solidFill>
                <a:latin typeface="Segoe UI"/>
              </a:rPr>
              <a:t>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22391"/>
            <a:ext cx="4800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Senior engineers are consumed by documentation upkeep and liaising — little capacity left for capacity management and improvement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1600200"/>
            <a:ext cx="525780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1600200"/>
            <a:ext cx="5257800" cy="45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11112" y="17556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Segoe UI"/>
              </a:rPr>
              <a:t>TO-BE — with the portal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11112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5976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Portal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18704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One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16568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71432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Automated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6" y="2212848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69296" y="2103120"/>
            <a:ext cx="1060704" cy="4572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24160" y="2157984"/>
            <a:ext cx="9509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Requester notified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78892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78892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touchpoint consolidated into one portal — self-service by default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33375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33756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Target services are transparent to the user — the portal routes each request automatically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388620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388620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Fewer human touchpoints: one approval, then proper automation end to end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443484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4434840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Every step auditable and scalable by construction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498347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498347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One single source of truth for all configuration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112" y="5532119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E74B5"/>
                </a:solidFill>
                <a:latin typeface="Segoe U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5532119"/>
            <a:ext cx="4617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0">
                <a:solidFill>
                  <a:srgbClr val="40444B"/>
                </a:solidFill>
                <a:latin typeface="Segoe UI"/>
              </a:rPr>
              <a:t>Next-level automation enables the Observability Brain — the estate answers questions and proposes changes, under the same approval gate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2362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B2A41"/>
                </a:solidFill>
                <a:latin typeface="Segoe UI"/>
              </a:rPr>
              <a:t>Same work, structurally different: </a:t>
            </a:r>
            <a:r>
              <a:rPr sz="1150" b="0">
                <a:solidFill>
                  <a:srgbClr val="40444B"/>
                </a:solidFill>
                <a:latin typeface="Segoe UI"/>
              </a:rPr>
              <a:t>the process moves from people’s heads and inboxes into a governed platform — recorded by default, faster by design.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7A808A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B2A41"/>
                </a:solidFill>
                <a:latin typeface="Segoe UI"/>
              </a:rPr>
              <a:t>The self-service catalogue, phased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914400" cy="32004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7A808A"/>
                </a:solidFill>
                <a:latin typeface="Segoe UI"/>
              </a:rPr>
              <a:t>Every service below is already designed and demoable in the portal prototype — the roadmap is activation order, not invention.</a:t>
            </a:r>
          </a:p>
        </p:txBody>
      </p:sp>
      <p:pic>
        <p:nvPicPr>
          <p:cNvPr id="6" name="Picture 5" descr="selfservice_snipp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5074920" cy="2637503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548640" y="4572000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The prototype today — 11 services, one design language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source: docs/ui-ux-design/mockups/backstage-catalog-v2.html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10512"/>
            <a:ext cx="5669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Q3 2026 — FOUNDATION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103120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204825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Add Monitoring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CMD, log &amp; process alerts, auto-routed — DX UIM live; production hardening due 30 Sep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2368296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3134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Register Asset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ad-hoc registration of servers and dashboards into the catalog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670048"/>
            <a:ext cx="5669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Q4 2026 — LOGS &amp;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962656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29077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ELK Log Onboarding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agents, Kafka topic, parsers, indices — one request, one engineer review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3227832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31729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Install Agent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the right agents per host — ELK, DX UIM robot, OTel — only what is missing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3493008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34381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Request Log Access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read-only ELK index access — see what each index holds, request the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94760"/>
            <a:ext cx="5669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Q1 2027 — VISIBILITY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4087368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4032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Reports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daily reconciliation — assets missing from ELK, unmonitored, or drifted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4352544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42976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Dashboard Inventory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every dashboard described and linked — one page, always current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4617720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456285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Data Dictionary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what lives in ELK — every index and its function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919472"/>
            <a:ext cx="5669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Q2 2027 — ASSURANCE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5212079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4768" y="51572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Observability Score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scorecard and certification level per asset, with remediation links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5477255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4768" y="5422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Synthetic Alerting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fire-drill an alert end to end — synthetic event in, [DRILL] ticket out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5742431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4768" y="5687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Alert Suppression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governed change windows — approved, recorded, always auto-expiring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6044183"/>
            <a:ext cx="5669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E74B5"/>
                </a:solidFill>
                <a:latin typeface="Segoe UI"/>
              </a:rPr>
              <a:t>H2 2027 — INTELLIGENCE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6336791"/>
            <a:ext cx="73152" cy="7315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44768" y="628192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B2A41"/>
                </a:solidFill>
                <a:latin typeface="Segoe UI"/>
              </a:rPr>
              <a:t>Observability Brain</a:t>
            </a:r>
            <a:r>
              <a:rPr sz="900" b="0">
                <a:solidFill>
                  <a:srgbClr val="40444B"/>
                </a:solidFill>
                <a:latin typeface="Segoe UI"/>
              </a:rPr>
              <a:t> — grounded search and answers over the second brain — AI proposes, humans approve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7A808A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822960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D2DD"/>
                </a:solidFill>
                <a:latin typeface="Segoe U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What we need from this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Endorse the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807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Portal as the single front door for observability, and self-service as the default way of working.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Hold teams to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50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New monitoring requests go through the Portal as slices come live — not around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2E74B5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709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Protect the 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09320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C9D2DD"/>
                </a:solidFill>
                <a:latin typeface="Segoe UI"/>
              </a:rPr>
              <a:t>The platform team finishes the current milestone (30 September 2026) and onboards the next tool — rather than being absorbed back into the queue the Portal is retiring.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C9D2DD"/>
                </a:solidFill>
                <a:latin typeface="Segoe UI"/>
              </a:rPr>
              <a:t>The cost of the old way is so familiar it has become invisible. The Portal makes it visible — and then removes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Observability Portal — Executive Briefing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C9D2D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