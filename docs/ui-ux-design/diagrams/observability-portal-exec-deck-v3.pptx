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4B5"/>
                </a:solidFill>
                <a:latin typeface="Segoe UI"/>
              </a:rPr>
              <a:t>An Observability Transformation</a:t>
            </a:r>
            <a:r>
              <a:rPr sz="1150" b="0">
                <a:solidFill>
                  <a:srgbClr val="7A808A"/>
                </a:solidFill>
                <a:latin typeface="Segoe UI"/>
              </a:rPr>
              <a:t> — not a tool rollout: one self-service portal, built on open-source Backstage, that turns every monitoring request into a governed, automated pipeline. Users see services, never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1312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Ask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Act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1" name="Chevron 30"/>
          <p:cNvSpPr/>
          <p:nvPr/>
        </p:nvSpPr>
        <p:spPr>
          <a:xfrm>
            <a:off x="548640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maker</a:t>
            </a:r>
          </a:p>
        </p:txBody>
      </p:sp>
      <p:sp>
        <p:nvSpPr>
          <p:cNvPr id="32" name="Chevron 31"/>
          <p:cNvSpPr/>
          <p:nvPr/>
        </p:nvSpPr>
        <p:spPr>
          <a:xfrm>
            <a:off x="2752344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Pull 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config as code</a:t>
            </a:r>
          </a:p>
        </p:txBody>
      </p:sp>
      <p:sp>
        <p:nvSpPr>
          <p:cNvPr id="33" name="Chevron 32"/>
          <p:cNvSpPr/>
          <p:nvPr/>
        </p:nvSpPr>
        <p:spPr>
          <a:xfrm>
            <a:off x="4956048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Approval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checker, never maker</a:t>
            </a:r>
          </a:p>
        </p:txBody>
      </p:sp>
      <p:sp>
        <p:nvSpPr>
          <p:cNvPr id="34" name="Chevron 33"/>
          <p:cNvSpPr/>
          <p:nvPr/>
        </p:nvSpPr>
        <p:spPr>
          <a:xfrm>
            <a:off x="7159752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Git — the record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main is truth</a:t>
            </a:r>
          </a:p>
        </p:txBody>
      </p:sp>
      <p:sp>
        <p:nvSpPr>
          <p:cNvPr id="35" name="Chevron 34"/>
          <p:cNvSpPr/>
          <p:nvPr/>
        </p:nvSpPr>
        <p:spPr>
          <a:xfrm>
            <a:off x="9363456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read-only from 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3951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proposes,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50992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08A"/>
                </a:solidFill>
                <a:latin typeface="Segoe UI"/>
              </a:rPr>
              <a:t>A decade of interrupt-driven operations — find an engineer, ask, wait — does not scale to thousands of hosts, hundreds of applications, and four monitoring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Every request is a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queue is really a person — days of waiting for minutes of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Documentation 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Inventories go stale the week they are written; nobody trusts them, so requests fall back to the engineers — the cycle sustains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Approvals and audit are informal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Hand-made changes leave no record of who asked, who approved, what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A41"/>
                </a:solidFill>
                <a:latin typeface="Segoe UI"/>
              </a:rPr>
              <a:t>~75 engineer-hours a month per 100 requests — roughly half an FTE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before counting requesters’ waiting time or audit preparation; a one-quarter baseline makes it measured fact.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78308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Scaffolder wizard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Template collects the form; emits a tool-neutral domain-model JSON + catalog-info.yaml.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1952" y="2587751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publish:bitbucketServer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All git plumbing: branch staging/&lt;env&gt;-&lt;asset&gt;, two generated commits. No human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3392424"/>
            <a:ext cx="22494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783080"/>
            <a:ext cx="197510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PR → merge to main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main = production truth; staging deleted after merge. The merge IS the approval; git IS the audit trail (who, what, when).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642615"/>
            <a:ext cx="197510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repo:refs_changed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Push webhook fires on main with fromHash/toHash — the only bridge between phases.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447288"/>
            <a:ext cx="19751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 · </a:t>
            </a: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dxuim-config · elk-watchers · solarwinds-config — same folder + metadata conventions.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7" y="1783080"/>
            <a:ext cx="206654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No clone — REST reads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compare/changes + raw file reads via Bitbucket API. Three triggers: webhook range · single file · full re-sync (drift repair).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7" y="2715768"/>
            <a:ext cx="206654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Neutral JSON → per-tool format; metadata block stripped; idempotent PUT, 3 retries; Vault creds, no_log on secrets.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575303"/>
            <a:ext cx="206654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The roles contain zero git-write calls.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7373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9024" y="1719072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PUT /uimapi/probes/…/config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35915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9024" y="2340864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ES Watcher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298094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9024" y="2962656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Orion API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60273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3584448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events → HPSM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242816"/>
            <a:ext cx="9418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notify_requester → Backstage Notifications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shared role, every slice reports back: success live; failure = critical severity + failed job, so git and reality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54296"/>
            <a:ext cx="9418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reconciliation reads the live config from each target API and diffs it against main. Any configuration mutated directly on a tool surfaces as drift: the platform owner is notified in Backstage, the Reports service shows the delta, and the fix is governed — an idempotent full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3036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75504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Docs-as-code in the same repos; catalog-info.yaml registers every asset; Backstage renders documentation from the very files Ansible applies — so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(Backstage writes git; Ansible reads git, writes tools)  ·  idempotent everywhere (desired state, not diffs)  ·  empty ≠ delete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1675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92531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Ping / call
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2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Confluence
free-form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Jira ticket
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Manual
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3752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Slow review
&amp;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Requests start by pinging or calling an engineer — the queue is a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Requirements land in a massive, free-flow Confluence page with no structure (before 2022: Word documents — maintenance was a nightmare)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 Jira ticket hands the work to a platform engineer — repetitive, and massive at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Approval workflow and reviews consume days of elapsed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Senior engineers are consumed by documentation upkeep and liaising — little capacity left for capacity management and 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10607040" cy="20116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192256" y="1636776"/>
            <a:ext cx="256032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121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7A808A"/>
                </a:solidFill>
                <a:latin typeface="Segoe UI"/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47672"/>
            <a:ext cx="329184" cy="329184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676656" y="2350008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Add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60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CMD, log &amp; process alerts — auto-routed to the right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907791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55264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gister-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374136"/>
            <a:ext cx="329184" cy="329184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76656" y="3776472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Register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986784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Ad-hoc registration into the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4334256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0ADE4"/>
                </a:solidFill>
                <a:latin typeface="Segoe UI"/>
              </a:rPr>
              <a:t>Register now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298448"/>
            <a:ext cx="2121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508760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7A808A"/>
                </a:solidFill>
                <a:latin typeface="Segoe UI"/>
              </a:rPr>
              <a:t>LOGS &amp;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88920" y="1828800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lk-log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1947672"/>
            <a:ext cx="329184" cy="32918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2916936" y="2350008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ELK Log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936" y="2560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Agents, Kafka, parsers, indices — one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6936" y="2907791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278D5"/>
                </a:solidFill>
                <a:latin typeface="Segoe UI"/>
              </a:rPr>
              <a:t>Start onboarding 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3255264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nstall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3374136"/>
            <a:ext cx="329184" cy="32918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2916936" y="3776472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Install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3986784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The right agents per host — only what is missing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6936" y="4334256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E8074"/>
                </a:solidFill>
                <a:latin typeface="Segoe UI"/>
              </a:rPr>
              <a:t>Install agents 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468172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request-log-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" y="4800600"/>
            <a:ext cx="329184" cy="32918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2916936" y="5202936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Request Log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6936" y="541324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Read-only ELK index access, on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16936" y="5760720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938F2"/>
                </a:solidFill>
                <a:latin typeface="Segoe UI"/>
              </a:rPr>
              <a:t>Request access 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199" y="1298448"/>
            <a:ext cx="2121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Q1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199" y="1508760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7A808A"/>
                </a:solidFill>
                <a:latin typeface="Segoe UI"/>
              </a:rPr>
              <a:t>VISIBILITY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199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199" y="1828800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5" y="1947672"/>
            <a:ext cx="329184" cy="329184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5157215" y="2350008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5" y="2560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Daily reconciliation — gaps, unmonitored, drift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5" y="2907791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00B8A9"/>
                </a:solidFill>
                <a:latin typeface="Segoe UI"/>
              </a:rPr>
              <a:t>View reports  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199" y="3255264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ashboard-inven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215" y="3374136"/>
            <a:ext cx="329184" cy="329184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5157215" y="3776472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Dashboard Inventory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57215" y="3986784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Every dashboard described and linked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7215" y="4334256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Segoe UI"/>
              </a:rPr>
              <a:t>Browse dashboards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199" y="468172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-diction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5" y="4800600"/>
            <a:ext cx="329184" cy="329184"/>
          </a:xfrm>
          <a:prstGeom prst="rect">
            <a:avLst/>
          </a:prstGeom>
          <a:effectLst/>
        </p:spPr>
      </p:pic>
      <p:sp>
        <p:nvSpPr>
          <p:cNvPr id="53" name="TextBox 52"/>
          <p:cNvSpPr txBox="1"/>
          <p:nvPr/>
        </p:nvSpPr>
        <p:spPr>
          <a:xfrm>
            <a:off x="5157215" y="5202936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Data Dictionary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57215" y="541324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Every ELK index and its function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7215" y="5760720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4F46E5"/>
                </a:solidFill>
                <a:latin typeface="Segoe UI"/>
              </a:rPr>
              <a:t>Browse dictionary  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79" y="1298448"/>
            <a:ext cx="2121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Q2 2027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79" y="1508760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7A808A"/>
                </a:solidFill>
                <a:latin typeface="Segoe UI"/>
              </a:rPr>
              <a:t>ASSURANCE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79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269479" y="1828800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observability-s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496" y="1947672"/>
            <a:ext cx="329184" cy="329184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7397496" y="2350008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Observability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97496" y="2560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Scorecard &amp; certification per asset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97496" y="2907791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F59300"/>
                </a:solidFill>
                <a:latin typeface="Segoe UI"/>
              </a:rPr>
              <a:t>View scorecard  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69479" y="3255264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7496" y="3374136"/>
            <a:ext cx="329184" cy="329184"/>
          </a:xfrm>
          <a:prstGeom prst="rect">
            <a:avLst/>
          </a:prstGeom>
          <a:effectLst/>
        </p:spPr>
      </p:pic>
      <p:sp>
        <p:nvSpPr>
          <p:cNvPr id="66" name="TextBox 65"/>
          <p:cNvSpPr txBox="1"/>
          <p:nvPr/>
        </p:nvSpPr>
        <p:spPr>
          <a:xfrm>
            <a:off x="7397496" y="3776472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Synthetic Alerting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97496" y="3986784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End-to-end fire drills — [DRILL] ticket out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97496" y="4334256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CF2E8D"/>
                </a:solidFill>
                <a:latin typeface="Segoe UI"/>
              </a:rPr>
              <a:t>Run a drill  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9479" y="468172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7496" y="4800600"/>
            <a:ext cx="329184" cy="329184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7397496" y="5202936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Alert Suppression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97496" y="541324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Governed change windows, auto-expiring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97496" y="5760720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D9F5F"/>
                </a:solidFill>
                <a:latin typeface="Segoe UI"/>
              </a:rPr>
              <a:t>Schedule window  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59" y="1298448"/>
            <a:ext cx="2121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H2 2027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9759" y="1508760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7A808A"/>
                </a:solidFill>
                <a:latin typeface="Segoe UI"/>
              </a:rPr>
              <a:t>INTELLIGENCE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9759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509759" y="1828800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observability-br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7776" y="1947672"/>
            <a:ext cx="329184" cy="329184"/>
          </a:xfrm>
          <a:prstGeom prst="rect">
            <a:avLst/>
          </a:prstGeom>
          <a:effectLst/>
        </p:spPr>
      </p:pic>
      <p:sp>
        <p:nvSpPr>
          <p:cNvPr id="79" name="TextBox 78"/>
          <p:cNvSpPr txBox="1"/>
          <p:nvPr/>
        </p:nvSpPr>
        <p:spPr>
          <a:xfrm>
            <a:off x="9637776" y="2350008"/>
            <a:ext cx="1865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0182B"/>
                </a:solidFill>
                <a:latin typeface="Segoe UI"/>
              </a:rPr>
              <a:t>Observability Brain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37776" y="2560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5637D"/>
                </a:solidFill>
                <a:latin typeface="Segoe UI"/>
              </a:rPr>
              <a:t>The oracle — grounded answers over the second brain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37776" y="2907791"/>
            <a:ext cx="18653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938F2"/>
                </a:solidFill>
                <a:latin typeface="Segoe UI"/>
              </a:rPr>
              <a:t>Ask the Brain  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Eleven services, one design language — all designed and demoable today; the roadmap is activation order. </a:t>
            </a:r>
            <a:r>
              <a:rPr sz="850" b="0">
                <a:solidFill>
                  <a:srgbClr val="40444B"/>
                </a:solidFill>
                <a:latin typeface="Segoe UI"/>
              </a:rPr>
              <a:t>Why this order: harden the live slice → land the log stack together → visibility needs reconciliation → assurance needs assets worth scoring → the Brain reads everything recorded before it.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