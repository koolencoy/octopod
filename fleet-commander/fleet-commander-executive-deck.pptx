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orth Star" id="{e10eb1b4-319e-78fe-bcf2-d69ab374068f}">
          <p14:sldIdLst>
            <p14:sldId id="256"/>
            <p14:sldId id="257"/>
          </p14:sldIdLst>
        </p14:section>
        <p14:section name="Path and current state" id="{191e0738-e6d6-0dbc-a6dd-9810912f9125}">
          <p14:sldIdLst>
            <p14:sldId id="258"/>
          </p14:sldIdLst>
        </p14:section>
        <p14:section name="The ask" id="{9e91dc18-e89d-9e46-325b-2a6e86099b2a}">
          <p14:sldIdLst>
            <p14:sldId id="259"/>
          </p14:sldIdLst>
        </p14:section>
        <p14:section name="Architecture" id="{dc7d097b-227d-66f3-1015-e8b98a99b027}">
          <p14:sldIdLst>
            <p14:sldId id="260"/>
          </p14:sldIdLst>
        </p14:section>
        <p14:section name="Timeline" id="{2d7984bf-9a83-256a-a169-6c1980325921}">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North Star, part one. The point to land: today the TCC works a ticket queue; the North Star is a cockpit that ranks the whole fleet of business services by how fast each one is burning its error budget, admits incidents to the bridge by impact rather than by arrival, and keeps the MAS clocks running beside every incident. What you see on the right is the working prototype of the Bridge, twenty services, simulated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North Star, part two. Three layers because they run on three clocks and have three different people in the seat. The Bridge is awareness in seconds for the shift lead. A Mission is one incident worked in minutes by an incident commander with the squads, and it is where every action lives — nothing is executed from the Bridge. The Debrief is where the three MAS obligations are settled in days and where the RCA report is assembled from the record we already wrote. The grey strips are the behavioural shift we are buying.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are: honestly, at step zero. The tools and the automation plumbing exist and the prototype has settled what we want to build, but there are no fleet SLOs, no SLI store, and incidents are still worked from the queue. The path is three steps — instrument, command, assure — and the next slide is what the platform team needs to walk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deliberately specific. Six people for two years, kept off BAU for the first four quarters so the foundations get built rather than squeezed between incidents; a commander in the product-owner seat so we build what the TCC will actually use; the budget lines we will size in the business case this quarter; and three decisions that only this table can make — SLO ownership, the automation policy, and ServiceNow as the record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Read it top to bottom: the sensors we already own feed Kafka and Elasticsearch; two new stores sit on that cluster — the SLI store that makes burn rate computable, and a write-once audit stream. Above them, burn-rate rules, the correlator and ServiceNow as the record. The cockpit is the new command plane, and the action plane runs through the event-driven Ansible we have already proven, from a signed catalogue, through the gates on the right. The governance rail is not a slide decoration: every item on it is a control the cockpit enforces and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years, nine quarters. Year one is about getting Tier-1 onto the Bridge: SLOs and the SLI store first, a read-only board in the TCC by Q1, Bridge general availability for the twenty Tier-1 services by Q2 — that is the year-one go-live. The second half of 2027 is the Mission: diagnose first, then controlled remediation once CAB has approved the automation policy. 2028 is assurance: the Debrief with MAS clocks and the report from the record, the seven-year audit stream and risk sign-off, then the rest of the fleet. Each green bar is a demo to this forum and a stop / continue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960120"/>
          </a:xfrm>
          <a:prstGeom prst="rect">
            <a:avLst/>
          </a:prstGeom>
          <a:noFill/>
          <a:ln/>
        </p:spPr>
        <p:txBody>
          <a:bodyPr wrap="square" rtlCol="0"/>
          <a:lstStyle>
            <a:lvl1pPr algn="l" indent="0" marL="0">
              <a:lnSpc>
                <a:spcPct val="100000"/>
              </a:lnSpc>
              <a:buNone/>
              <a:defRPr lang="en-US" sz="2600" b="1" dirty="0">
                <a:solidFill>
                  <a:schemeClr val="tx1"/>
                </a:solidFill>
              </a:defRPr>
            </a:lvl1pPr>
          </a:lstStyle>
          <a:p>
            <a:pPr algn="l" indent="0" marL="0">
              <a:lnSpc>
                <a:spcPct val="100000"/>
              </a:lnSpc>
              <a:buNone/>
            </a:pPr>
            <a:r>
              <a:rPr lang="en-US" sz="2600" b="1" dirty="0">
                <a:solidFill>
                  <a:schemeClr val="tx1"/>
                </a:solidFill>
              </a:rPr>
              <a:t>Title</a:t>
            </a:r>
            <a:endParaRPr lang="en-US" sz="2600" dirty="0"/>
          </a:p>
        </p:txBody>
      </p:sp>
      <p:sp>
        <p:nvSpPr>
          <p:cNvPr id="3"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800" dirty="0">
                <a:solidFill>
                  <a:schemeClr val="accent5"/>
                </a:solidFill>
                <a:latin typeface="Courier New" pitchFamily="34" charset="0"/>
                <a:ea typeface="Courier New" pitchFamily="34" charset="-122"/>
                <a:cs typeface="Courier New" pitchFamily="34" charset="-120"/>
              </a:rPr>
              <a:t>Fleet Commander · SLO Mission Control  —  Platform Engineering &amp; Observability  —  October 2026  —  Internal, draft for discussion</a:t>
            </a:r>
            <a:endParaRPr lang="en-US" sz="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C0D0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96012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r>
              <a:rPr lang="en-US" sz="2600" b="1" dirty="0">
                <a:solidFill>
                  <a:schemeClr val="bg1"/>
                </a:solidFill>
              </a:rPr>
              <a:t>Title</a:t>
            </a:r>
            <a:endParaRPr lang="en-US" sz="2600" dirty="0"/>
          </a:p>
        </p:txBody>
      </p:sp>
      <p:sp>
        <p:nvSpPr>
          <p:cNvPr id="3"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800" dirty="0">
                <a:solidFill>
                  <a:srgbClr val="94979E"/>
                </a:solidFill>
                <a:latin typeface="Courier New" pitchFamily="34" charset="0"/>
                <a:ea typeface="Courier New" pitchFamily="34" charset="-122"/>
                <a:cs typeface="Courier New" pitchFamily="34" charset="-120"/>
              </a:rPr>
              <a:t>Fleet Commander · SLO Mission Control  —  Platform Engineering &amp; Observability  —  October 2026  —  Internal, draft for discussion</a:t>
            </a:r>
            <a:endParaRPr lang="en-US" sz="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4979E"/>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mark"/>
          <p:cNvSpPr/>
          <p:nvPr/>
        </p:nvSpPr>
        <p:spPr>
          <a:xfrm>
            <a:off x="548640" y="452628"/>
            <a:ext cx="91440" cy="91440"/>
          </a:xfrm>
          <a:prstGeom prst="rect">
            <a:avLst/>
          </a:prstGeom>
          <a:solidFill>
            <a:schemeClr val="accent1"/>
          </a:solidFill>
          <a:ln w="12700">
            <a:solidFill>
              <a:schemeClr val="accent1"/>
            </a:solidFill>
            <a:prstDash val="solid"/>
          </a:ln>
        </p:spPr>
      </p:sp>
      <p:sp>
        <p:nvSpPr>
          <p:cNvPr id="3" name="eyebrow NORTH STAR · 1 OF 2"/>
          <p:cNvSpPr txBox="1"/>
          <p:nvPr/>
        </p:nvSpPr>
        <p:spPr>
          <a:xfrm>
            <a:off x="713232" y="384048"/>
            <a:ext cx="5486400" cy="228600"/>
          </a:xfrm>
          <a:prstGeom prst="rect">
            <a:avLst/>
          </a:prstGeom>
          <a:noFill/>
          <a:ln/>
        </p:spPr>
        <p:txBody>
          <a:bodyPr wrap="square" lIns="0" tIns="0" rIns="0" bIns="0" rtlCol="0" anchor="ctr"/>
          <a:lstStyle/>
          <a:p>
            <a:pPr indent="0" marL="0">
              <a:buNone/>
            </a:pPr>
            <a:r>
              <a:rPr lang="en-US" sz="950" b="1" spc="150" kern="0" dirty="0">
                <a:solidFill>
                  <a:srgbClr val="AFB1B6"/>
                </a:solidFill>
                <a:latin typeface="Courier New" pitchFamily="34" charset="0"/>
                <a:ea typeface="Courier New" pitchFamily="34" charset="-122"/>
                <a:cs typeface="Courier New" pitchFamily="34" charset="-120"/>
              </a:rPr>
              <a:t>NORTH STAR · 1 OF 2</a:t>
            </a:r>
            <a:endParaRPr lang="en-US" sz="950" dirty="0"/>
          </a:p>
        </p:txBody>
      </p:sp>
      <p:sp>
        <p:nvSpPr>
          <p:cNvPr id="4"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buNone/>
            </a:pPr>
            <a:r>
              <a:rPr lang="en-US" sz="2600" b="1" dirty="0">
                <a:solidFill>
                  <a:schemeClr val="bg1"/>
                </a:solidFill>
              </a:rPr>
              <a:t>One cockpit where the Technology Command Center commands the fleet of business services by error budget, not by ticket queue</a:t>
            </a:r>
            <a:endParaRPr lang="en-US" sz="2600" dirty="0"/>
          </a:p>
        </p:txBody>
      </p:sp>
      <p:sp>
        <p:nvSpPr>
          <p:cNvPr id="5" name="mark 1"/>
          <p:cNvSpPr/>
          <p:nvPr/>
        </p:nvSpPr>
        <p:spPr>
          <a:xfrm>
            <a:off x="548640" y="1956816"/>
            <a:ext cx="91440" cy="91440"/>
          </a:xfrm>
          <a:prstGeom prst="rect">
            <a:avLst/>
          </a:prstGeom>
          <a:solidFill>
            <a:schemeClr val="accent1"/>
          </a:solidFill>
          <a:ln w="12700">
            <a:solidFill>
              <a:schemeClr val="accent1"/>
            </a:solidFill>
            <a:prstDash val="solid"/>
          </a:ln>
        </p:spPr>
      </p:sp>
      <p:sp>
        <p:nvSpPr>
          <p:cNvPr id="6" name="statement head 1"/>
          <p:cNvSpPr txBox="1"/>
          <p:nvPr/>
        </p:nvSpPr>
        <p:spPr>
          <a:xfrm>
            <a:off x="749808" y="1874520"/>
            <a:ext cx="3867912" cy="274320"/>
          </a:xfrm>
          <a:prstGeom prst="rect">
            <a:avLst/>
          </a:prstGeom>
          <a:noFill/>
          <a:ln/>
        </p:spPr>
        <p:txBody>
          <a:bodyPr wrap="square" lIns="0" tIns="0" rIns="0" bIns="0" rtlCol="0" anchor="t"/>
          <a:lstStyle/>
          <a:p>
            <a:pPr indent="0" marL="0">
              <a:buNone/>
            </a:pPr>
            <a:r>
              <a:rPr lang="en-US" sz="1500" b="1" dirty="0">
                <a:solidFill>
                  <a:schemeClr val="bg1"/>
                </a:solidFill>
              </a:rPr>
              <a:t>Every service on one screen</a:t>
            </a:r>
            <a:endParaRPr lang="en-US" sz="1500" dirty="0"/>
          </a:p>
        </p:txBody>
      </p:sp>
      <p:sp>
        <p:nvSpPr>
          <p:cNvPr id="7" name="statement body 1"/>
          <p:cNvSpPr txBox="1"/>
          <p:nvPr/>
        </p:nvSpPr>
        <p:spPr>
          <a:xfrm>
            <a:off x="749808" y="2167128"/>
            <a:ext cx="3867912" cy="749808"/>
          </a:xfrm>
          <a:prstGeom prst="rect">
            <a:avLst/>
          </a:prstGeom>
          <a:noFill/>
          <a:ln/>
        </p:spPr>
        <p:txBody>
          <a:bodyPr wrap="square" lIns="0" tIns="0" rIns="0" bIns="0" rtlCol="0" anchor="t"/>
          <a:lstStyle/>
          <a:p>
            <a:pPr indent="0" marL="0">
              <a:buNone/>
            </a:pPr>
            <a:r>
              <a:rPr lang="en-US" sz="1250" dirty="0">
                <a:solidFill>
                  <a:srgbClr val="AFB1B6"/>
                </a:solidFill>
              </a:rPr>
              <a:t>Twenty business services ranked by how fast each is burning its error budget, with the regulator's view of impact beside it.</a:t>
            </a:r>
            <a:endParaRPr lang="en-US" sz="1250" dirty="0"/>
          </a:p>
        </p:txBody>
      </p:sp>
      <p:sp>
        <p:nvSpPr>
          <p:cNvPr id="8" name="mark 2"/>
          <p:cNvSpPr/>
          <p:nvPr/>
        </p:nvSpPr>
        <p:spPr>
          <a:xfrm>
            <a:off x="548640" y="3072384"/>
            <a:ext cx="91440" cy="91440"/>
          </a:xfrm>
          <a:prstGeom prst="rect">
            <a:avLst/>
          </a:prstGeom>
          <a:solidFill>
            <a:schemeClr val="accent1"/>
          </a:solidFill>
          <a:ln w="12700">
            <a:solidFill>
              <a:schemeClr val="accent1"/>
            </a:solidFill>
            <a:prstDash val="solid"/>
          </a:ln>
        </p:spPr>
      </p:sp>
      <p:sp>
        <p:nvSpPr>
          <p:cNvPr id="9" name="statement head 2"/>
          <p:cNvSpPr txBox="1"/>
          <p:nvPr/>
        </p:nvSpPr>
        <p:spPr>
          <a:xfrm>
            <a:off x="749808" y="2990088"/>
            <a:ext cx="3867912" cy="274320"/>
          </a:xfrm>
          <a:prstGeom prst="rect">
            <a:avLst/>
          </a:prstGeom>
          <a:noFill/>
          <a:ln/>
        </p:spPr>
        <p:txBody>
          <a:bodyPr wrap="square" lIns="0" tIns="0" rIns="0" bIns="0" rtlCol="0" anchor="t"/>
          <a:lstStyle/>
          <a:p>
            <a:pPr indent="0" marL="0">
              <a:buNone/>
            </a:pPr>
            <a:r>
              <a:rPr lang="en-US" sz="1500" b="1" dirty="0">
                <a:solidFill>
                  <a:schemeClr val="bg1"/>
                </a:solidFill>
              </a:rPr>
              <a:t>Impact decides who reaches the bridge</a:t>
            </a:r>
            <a:endParaRPr lang="en-US" sz="1500" dirty="0"/>
          </a:p>
        </p:txBody>
      </p:sp>
      <p:sp>
        <p:nvSpPr>
          <p:cNvPr id="10" name="statement body 2"/>
          <p:cNvSpPr txBox="1"/>
          <p:nvPr/>
        </p:nvSpPr>
        <p:spPr>
          <a:xfrm>
            <a:off x="749808" y="3282696"/>
            <a:ext cx="3867912" cy="749808"/>
          </a:xfrm>
          <a:prstGeom prst="rect">
            <a:avLst/>
          </a:prstGeom>
          <a:noFill/>
          <a:ln/>
        </p:spPr>
        <p:txBody>
          <a:bodyPr wrap="square" lIns="0" tIns="0" rIns="0" bIns="0" rtlCol="0" anchor="t"/>
          <a:lstStyle/>
          <a:p>
            <a:pPr indent="0" marL="0">
              <a:buNone/>
            </a:pPr>
            <a:r>
              <a:rPr lang="en-US" sz="1250" dirty="0">
                <a:solidFill>
                  <a:srgbClr val="AFB1B6"/>
                </a:solidFill>
              </a:rPr>
              <a:t>Tickets are admitted by business impact; the noise is held below the line where the commander can still see it.</a:t>
            </a:r>
            <a:endParaRPr lang="en-US" sz="1250" dirty="0"/>
          </a:p>
        </p:txBody>
      </p:sp>
      <p:sp>
        <p:nvSpPr>
          <p:cNvPr id="11" name="mark 3"/>
          <p:cNvSpPr/>
          <p:nvPr/>
        </p:nvSpPr>
        <p:spPr>
          <a:xfrm>
            <a:off x="548640" y="4187952"/>
            <a:ext cx="91440" cy="91440"/>
          </a:xfrm>
          <a:prstGeom prst="rect">
            <a:avLst/>
          </a:prstGeom>
          <a:solidFill>
            <a:schemeClr val="accent1"/>
          </a:solidFill>
          <a:ln w="12700">
            <a:solidFill>
              <a:schemeClr val="accent1"/>
            </a:solidFill>
            <a:prstDash val="solid"/>
          </a:ln>
        </p:spPr>
      </p:sp>
      <p:sp>
        <p:nvSpPr>
          <p:cNvPr id="12" name="statement head 3"/>
          <p:cNvSpPr txBox="1"/>
          <p:nvPr/>
        </p:nvSpPr>
        <p:spPr>
          <a:xfrm>
            <a:off x="749808" y="4105656"/>
            <a:ext cx="3867912" cy="274320"/>
          </a:xfrm>
          <a:prstGeom prst="rect">
            <a:avLst/>
          </a:prstGeom>
          <a:noFill/>
          <a:ln/>
        </p:spPr>
        <p:txBody>
          <a:bodyPr wrap="square" lIns="0" tIns="0" rIns="0" bIns="0" rtlCol="0" anchor="t"/>
          <a:lstStyle/>
          <a:p>
            <a:pPr indent="0" marL="0">
              <a:buNone/>
            </a:pPr>
            <a:r>
              <a:rPr lang="en-US" sz="1500" b="1" dirty="0">
                <a:solidFill>
                  <a:schemeClr val="bg1"/>
                </a:solidFill>
              </a:rPr>
              <a:t>The regulator's three clocks run live</a:t>
            </a:r>
            <a:endParaRPr lang="en-US" sz="1500" dirty="0"/>
          </a:p>
        </p:txBody>
      </p:sp>
      <p:sp>
        <p:nvSpPr>
          <p:cNvPr id="13" name="statement body 3"/>
          <p:cNvSpPr txBox="1"/>
          <p:nvPr/>
        </p:nvSpPr>
        <p:spPr>
          <a:xfrm>
            <a:off x="749808" y="4398264"/>
            <a:ext cx="3867912" cy="749808"/>
          </a:xfrm>
          <a:prstGeom prst="rect">
            <a:avLst/>
          </a:prstGeom>
          <a:noFill/>
          <a:ln/>
        </p:spPr>
        <p:txBody>
          <a:bodyPr wrap="square" lIns="0" tIns="0" rIns="0" bIns="0" rtlCol="0" anchor="t"/>
          <a:lstStyle/>
          <a:p>
            <a:pPr indent="0" marL="0">
              <a:buNone/>
            </a:pPr>
            <a:r>
              <a:rPr lang="en-US" sz="1250" dirty="0">
                <a:solidFill>
                  <a:srgbClr val="AFB1B6"/>
                </a:solidFill>
              </a:rPr>
              <a:t>Notify within 1 hour, recover within 4, report within 14 days — counting down beside every incident, from detection to debrief.</a:t>
            </a:r>
            <a:endParaRPr lang="en-US" sz="1250" dirty="0"/>
          </a:p>
        </p:txBody>
      </p:sp>
      <p:sp>
        <p:nvSpPr>
          <p:cNvPr id="14" name="layers lines"/>
          <p:cNvSpPr txBox="1"/>
          <p:nvPr/>
        </p:nvSpPr>
        <p:spPr>
          <a:xfrm>
            <a:off x="548640" y="5230368"/>
            <a:ext cx="4069080" cy="566928"/>
          </a:xfrm>
          <a:prstGeom prst="rect">
            <a:avLst/>
          </a:prstGeom>
          <a:noFill/>
          <a:ln/>
        </p:spPr>
        <p:txBody>
          <a:bodyPr wrap="square" lIns="0" tIns="0" rIns="0" bIns="0" rtlCol="0" anchor="t"/>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BRIDGE   </a:t>
            </a:r>
            <a:pPr indent="0" marL="0">
              <a:buNone/>
            </a:pPr>
            <a:r>
              <a:rPr lang="en-US" sz="1000" spc="100" kern="0" dirty="0">
                <a:solidFill>
                  <a:srgbClr val="AFB1B6"/>
                </a:solidFill>
                <a:latin typeface="Courier New" pitchFamily="34" charset="0"/>
                <a:ea typeface="Courier New" pitchFamily="34" charset="-122"/>
                <a:cs typeface="Courier New" pitchFamily="34" charset="-120"/>
              </a:rPr>
              <a:t>seconds</a:t>
            </a:r>
            <a:endParaRPr lang="en-US" sz="1000" dirty="0"/>
          </a:p>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MISSION  </a:t>
            </a:r>
            <a:pPr indent="0" marL="0">
              <a:buNone/>
            </a:pPr>
            <a:r>
              <a:rPr lang="en-US" sz="1000" spc="100" kern="0" dirty="0">
                <a:solidFill>
                  <a:srgbClr val="AFB1B6"/>
                </a:solidFill>
                <a:latin typeface="Courier New" pitchFamily="34" charset="0"/>
                <a:ea typeface="Courier New" pitchFamily="34" charset="-122"/>
                <a:cs typeface="Courier New" pitchFamily="34" charset="-120"/>
              </a:rPr>
              <a:t>minutes</a:t>
            </a:r>
            <a:endParaRPr lang="en-US" sz="1000" dirty="0"/>
          </a:p>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DEBRIEF  </a:t>
            </a:r>
            <a:pPr indent="0" marL="0">
              <a:buNone/>
            </a:pPr>
            <a:r>
              <a:rPr lang="en-US" sz="1000" spc="100" kern="0" dirty="0">
                <a:solidFill>
                  <a:srgbClr val="AFB1B6"/>
                </a:solidFill>
                <a:latin typeface="Courier New" pitchFamily="34" charset="0"/>
                <a:ea typeface="Courier New" pitchFamily="34" charset="-122"/>
                <a:cs typeface="Courier New" pitchFamily="34" charset="-120"/>
              </a:rPr>
              <a:t>days</a:t>
            </a:r>
            <a:endParaRPr lang="en-US" sz="1000" dirty="0"/>
          </a:p>
        </p:txBody>
      </p:sp>
      <p:sp>
        <p:nvSpPr>
          <p:cNvPr id="15" name="layers note"/>
          <p:cNvSpPr txBox="1"/>
          <p:nvPr/>
        </p:nvSpPr>
        <p:spPr>
          <a:xfrm>
            <a:off x="548640" y="5852160"/>
            <a:ext cx="4069080" cy="457200"/>
          </a:xfrm>
          <a:prstGeom prst="rect">
            <a:avLst/>
          </a:prstGeom>
          <a:noFill/>
          <a:ln/>
        </p:spPr>
        <p:txBody>
          <a:bodyPr wrap="square" lIns="0" tIns="0" rIns="0" bIns="0" rtlCol="0" anchor="t"/>
          <a:lstStyle/>
          <a:p>
            <a:pPr indent="0" marL="0">
              <a:buNone/>
            </a:pPr>
            <a:r>
              <a:rPr lang="en-US" sz="1150" i="1" dirty="0">
                <a:solidFill>
                  <a:srgbClr val="94979E"/>
                </a:solidFill>
              </a:rPr>
              <a:t>Three layers, one record: every command, approval and attestation is written once and kept for seven years.</a:t>
            </a:r>
            <a:endParaRPr lang="en-US" sz="1150" dirty="0"/>
          </a:p>
        </p:txBody>
      </p:sp>
      <p:sp>
        <p:nvSpPr>
          <p:cNvPr id="16" name="Bridge screenshot frame"/>
          <p:cNvSpPr/>
          <p:nvPr/>
        </p:nvSpPr>
        <p:spPr>
          <a:xfrm>
            <a:off x="4812487" y="1856232"/>
            <a:ext cx="6848856" cy="3868484"/>
          </a:xfrm>
          <a:prstGeom prst="rect">
            <a:avLst/>
          </a:prstGeom>
          <a:solidFill>
            <a:srgbClr val="0C0D0D"/>
          </a:solidFill>
          <a:ln w="9525">
            <a:solidFill>
              <a:srgbClr val="303236"/>
            </a:solidFill>
            <a:prstDash val="solid"/>
          </a:ln>
        </p:spPr>
      </p:sp>
      <p:pic>
        <p:nvPicPr>
          <p:cNvPr id="17" name="Bridge screenshot" descr="shots/bridge.png">    </p:cNvPr>
          <p:cNvPicPr>
            <a:picLocks noChangeAspect="1"/>
          </p:cNvPicPr>
          <p:nvPr/>
        </p:nvPicPr>
        <p:blipFill>
          <a:blip r:embed="rId1"/>
          <a:stretch>
            <a:fillRect/>
          </a:stretch>
        </p:blipFill>
        <p:spPr>
          <a:xfrm>
            <a:off x="4830775" y="1874520"/>
            <a:ext cx="6812280" cy="3831908"/>
          </a:xfrm>
          <a:prstGeom prst="rect">
            <a:avLst/>
          </a:prstGeom>
        </p:spPr>
      </p:pic>
      <p:sp>
        <p:nvSpPr>
          <p:cNvPr id="18" name="hero caption"/>
          <p:cNvSpPr txBox="1"/>
          <p:nvPr/>
        </p:nvSpPr>
        <p:spPr>
          <a:xfrm>
            <a:off x="4830775" y="5797867"/>
            <a:ext cx="6812280" cy="274320"/>
          </a:xfrm>
          <a:prstGeom prst="rect">
            <a:avLst/>
          </a:prstGeom>
          <a:noFill/>
          <a:ln/>
        </p:spPr>
        <p:txBody>
          <a:bodyPr wrap="square" lIns="0" tIns="0" rIns="0" bIns="0" rtlCol="0" anchor="ctr"/>
          <a:lstStyle/>
          <a:p>
            <a:pPr indent="0" marL="0">
              <a:buNone/>
            </a:pPr>
            <a:r>
              <a:rPr lang="en-US" sz="850" dirty="0">
                <a:solidFill>
                  <a:srgbClr val="94979E"/>
                </a:solidFill>
                <a:latin typeface="Courier New" pitchFamily="34" charset="0"/>
                <a:ea typeface="Courier New" pitchFamily="34" charset="-122"/>
                <a:cs typeface="Courier New" pitchFamily="34" charset="-120"/>
              </a:rPr>
              <a:t>The Bridge — fleet SLO board, error-budget radar, ranked incidents with bridge admission, squadron dispatch, audit stream</a:t>
            </a:r>
            <a:endParaRPr lang="en-US" sz="8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94979E"/>
                </a:solidFill>
                <a:latin typeface="Courier New"/>
                <a:ea typeface="Courier New"/>
                <a:cs typeface="Courier New"/>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mark"/>
          <p:cNvSpPr/>
          <p:nvPr/>
        </p:nvSpPr>
        <p:spPr>
          <a:xfrm>
            <a:off x="548640" y="452628"/>
            <a:ext cx="91440" cy="91440"/>
          </a:xfrm>
          <a:prstGeom prst="rect">
            <a:avLst/>
          </a:prstGeom>
          <a:solidFill>
            <a:schemeClr val="accent1"/>
          </a:solidFill>
          <a:ln w="12700">
            <a:solidFill>
              <a:schemeClr val="accent1"/>
            </a:solidFill>
            <a:prstDash val="solid"/>
          </a:ln>
        </p:spPr>
      </p:sp>
      <p:sp>
        <p:nvSpPr>
          <p:cNvPr id="3" name="eyebrow NORTH STAR · 2 OF 2"/>
          <p:cNvSpPr txBox="1"/>
          <p:nvPr/>
        </p:nvSpPr>
        <p:spPr>
          <a:xfrm>
            <a:off x="713232" y="384048"/>
            <a:ext cx="5486400" cy="228600"/>
          </a:xfrm>
          <a:prstGeom prst="rect">
            <a:avLst/>
          </a:prstGeom>
          <a:noFill/>
          <a:ln/>
        </p:spPr>
        <p:txBody>
          <a:bodyPr wrap="square" lIns="0" tIns="0" rIns="0" bIns="0" rtlCol="0" anchor="ctr"/>
          <a:lstStyle/>
          <a:p>
            <a:pPr indent="0" marL="0">
              <a:buNone/>
            </a:pPr>
            <a:r>
              <a:rPr lang="en-US" sz="950" b="1" spc="150" kern="0" dirty="0">
                <a:solidFill>
                  <a:schemeClr val="accent5"/>
                </a:solidFill>
                <a:latin typeface="Courier New" pitchFamily="34" charset="0"/>
                <a:ea typeface="Courier New" pitchFamily="34" charset="-122"/>
                <a:cs typeface="Courier New" pitchFamily="34" charset="-120"/>
              </a:rPr>
              <a:t>NORTH STAR · 2 OF 2</a:t>
            </a:r>
            <a:endParaRPr lang="en-US" sz="950" dirty="0"/>
          </a:p>
        </p:txBody>
      </p:sp>
      <p:sp>
        <p:nvSpPr>
          <p:cNvPr id="4"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lnSpc>
                <a:spcPct val="100000"/>
              </a:lnSpc>
              <a:buNone/>
            </a:pPr>
            <a:r>
              <a:rPr lang="en-US" sz="2600" b="1" dirty="0">
                <a:solidFill>
                  <a:schemeClr val="tx1"/>
                </a:solidFill>
              </a:rPr>
              <a:t>Three layers, three clocks: the Bridge watches in seconds, a Mission runs in minutes, the Debrief settles in days</a:t>
            </a:r>
            <a:endParaRPr lang="en-US" sz="2600" dirty="0"/>
          </a:p>
        </p:txBody>
      </p:sp>
      <p:sp>
        <p:nvSpPr>
          <p:cNvPr id="5" name="Fleet awareness screenshot frame"/>
          <p:cNvSpPr/>
          <p:nvPr/>
        </p:nvSpPr>
        <p:spPr>
          <a:xfrm>
            <a:off x="530352" y="1737360"/>
            <a:ext cx="3557016" cy="2016824"/>
          </a:xfrm>
          <a:prstGeom prst="rect">
            <a:avLst/>
          </a:prstGeom>
          <a:solidFill>
            <a:srgbClr val="FFFFFF"/>
          </a:solidFill>
          <a:ln w="9525">
            <a:solidFill>
              <a:srgbClr val="C9CBCF"/>
            </a:solidFill>
            <a:prstDash val="solid"/>
          </a:ln>
        </p:spPr>
      </p:sp>
      <p:pic>
        <p:nvPicPr>
          <p:cNvPr id="6" name="Fleet awareness screenshot" descr="shots/bridge.png">    </p:cNvPr>
          <p:cNvPicPr>
            <a:picLocks noChangeAspect="1"/>
          </p:cNvPicPr>
          <p:nvPr/>
        </p:nvPicPr>
        <p:blipFill>
          <a:blip r:embed="rId1"/>
          <a:stretch>
            <a:fillRect/>
          </a:stretch>
        </p:blipFill>
        <p:spPr>
          <a:xfrm>
            <a:off x="548640" y="1755648"/>
            <a:ext cx="3520440" cy="1980248"/>
          </a:xfrm>
          <a:prstGeom prst="rect">
            <a:avLst/>
          </a:prstGeom>
        </p:spPr>
      </p:pic>
      <p:sp>
        <p:nvSpPr>
          <p:cNvPr id="7" name="eyebrow mark"/>
          <p:cNvSpPr/>
          <p:nvPr/>
        </p:nvSpPr>
        <p:spPr>
          <a:xfrm>
            <a:off x="548640" y="3932492"/>
            <a:ext cx="91440" cy="91440"/>
          </a:xfrm>
          <a:prstGeom prst="rect">
            <a:avLst/>
          </a:prstGeom>
          <a:solidFill>
            <a:schemeClr val="accent1"/>
          </a:solidFill>
          <a:ln w="12700">
            <a:solidFill>
              <a:schemeClr val="accent1"/>
            </a:solidFill>
            <a:prstDash val="solid"/>
          </a:ln>
        </p:spPr>
      </p:sp>
      <p:sp>
        <p:nvSpPr>
          <p:cNvPr id="8" name="eyebrow 01  BRIDGE · SECONDS"/>
          <p:cNvSpPr txBox="1"/>
          <p:nvPr/>
        </p:nvSpPr>
        <p:spPr>
          <a:xfrm>
            <a:off x="713232" y="3863912"/>
            <a:ext cx="3520440" cy="228600"/>
          </a:xfrm>
          <a:prstGeom prst="rect">
            <a:avLst/>
          </a:prstGeom>
          <a:noFill/>
          <a:ln/>
        </p:spPr>
        <p:txBody>
          <a:bodyPr wrap="square" lIns="0" tIns="0" rIns="0" bIns="0" rtlCol="0" anchor="ctr"/>
          <a:lstStyle/>
          <a:p>
            <a:pPr indent="0" marL="0">
              <a:buNone/>
            </a:pPr>
            <a:r>
              <a:rPr lang="en-US" sz="950" b="1" spc="150" kern="0" dirty="0">
                <a:solidFill>
                  <a:schemeClr val="accent5"/>
                </a:solidFill>
                <a:latin typeface="Courier New" pitchFamily="34" charset="0"/>
                <a:ea typeface="Courier New" pitchFamily="34" charset="-122"/>
                <a:cs typeface="Courier New" pitchFamily="34" charset="-120"/>
              </a:rPr>
              <a:t>01  BRIDGE · SECONDS</a:t>
            </a:r>
            <a:endParaRPr lang="en-US" sz="950" dirty="0"/>
          </a:p>
        </p:txBody>
      </p:sp>
      <p:sp>
        <p:nvSpPr>
          <p:cNvPr id="9" name="Fleet awareness"/>
          <p:cNvSpPr txBox="1"/>
          <p:nvPr/>
        </p:nvSpPr>
        <p:spPr>
          <a:xfrm>
            <a:off x="548640" y="4101656"/>
            <a:ext cx="3520440" cy="292608"/>
          </a:xfrm>
          <a:prstGeom prst="rect">
            <a:avLst/>
          </a:prstGeom>
          <a:noFill/>
          <a:ln/>
        </p:spPr>
        <p:txBody>
          <a:bodyPr wrap="square" lIns="0" tIns="0" rIns="0" bIns="0" rtlCol="0" anchor="t"/>
          <a:lstStyle/>
          <a:p>
            <a:pPr indent="0" marL="0">
              <a:buNone/>
            </a:pPr>
            <a:r>
              <a:rPr lang="en-US" sz="1700" b="1" dirty="0">
                <a:solidFill>
                  <a:schemeClr val="tx1"/>
                </a:solidFill>
              </a:rPr>
              <a:t>Fleet awareness</a:t>
            </a:r>
            <a:endParaRPr lang="en-US" sz="1700" dirty="0"/>
          </a:p>
        </p:txBody>
      </p:sp>
      <p:sp>
        <p:nvSpPr>
          <p:cNvPr id="10" name="Fleet awareness who"/>
          <p:cNvSpPr txBox="1"/>
          <p:nvPr/>
        </p:nvSpPr>
        <p:spPr>
          <a:xfrm>
            <a:off x="548640" y="4394264"/>
            <a:ext cx="3520440" cy="219456"/>
          </a:xfrm>
          <a:prstGeom prst="rect">
            <a:avLst/>
          </a:prstGeom>
          <a:noFill/>
          <a:ln/>
        </p:spPr>
        <p:txBody>
          <a:bodyPr wrap="square" lIns="0" tIns="0" rIns="0" bIns="0" rtlCol="0" anchor="t"/>
          <a:lstStyle/>
          <a:p>
            <a:pPr indent="0" marL="0">
              <a:buNone/>
            </a:pPr>
            <a:r>
              <a:rPr lang="en-US" sz="1150" dirty="0">
                <a:solidFill>
                  <a:schemeClr val="accent5"/>
                </a:solidFill>
              </a:rPr>
              <a:t>Fleet Commander — the TCC shift lead</a:t>
            </a:r>
            <a:endParaRPr lang="en-US" sz="1150" dirty="0"/>
          </a:p>
        </p:txBody>
      </p:sp>
      <p:sp>
        <p:nvSpPr>
          <p:cNvPr id="11" name="Fleet awareness question"/>
          <p:cNvSpPr txBox="1"/>
          <p:nvPr/>
        </p:nvSpPr>
        <p:spPr>
          <a:xfrm>
            <a:off x="548640" y="4632008"/>
            <a:ext cx="3520440" cy="237744"/>
          </a:xfrm>
          <a:prstGeom prst="rect">
            <a:avLst/>
          </a:prstGeom>
          <a:noFill/>
          <a:ln/>
        </p:spPr>
        <p:txBody>
          <a:bodyPr wrap="square" lIns="0" tIns="0" rIns="0" bIns="0" rtlCol="0" anchor="t"/>
          <a:lstStyle/>
          <a:p>
            <a:pPr indent="0" marL="0">
              <a:buNone/>
            </a:pPr>
            <a:r>
              <a:rPr lang="en-US" sz="1250" i="1" dirty="0">
                <a:solidFill>
                  <a:schemeClr val="accent2"/>
                </a:solidFill>
              </a:rPr>
              <a:t>“Where do I spend my attention right now?”</a:t>
            </a:r>
            <a:endParaRPr lang="en-US" sz="1250" dirty="0"/>
          </a:p>
        </p:txBody>
      </p:sp>
      <p:sp>
        <p:nvSpPr>
          <p:cNvPr id="12" name="Fleet awareness points"/>
          <p:cNvSpPr txBox="1"/>
          <p:nvPr/>
        </p:nvSpPr>
        <p:spPr>
          <a:xfrm>
            <a:off x="548640" y="4924616"/>
            <a:ext cx="3520440" cy="78638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Fleet SLO board — twenty services ranked by burn</a:t>
            </a:r>
            <a:endParaRPr lang="en-US" sz="1200" dirty="0"/>
          </a:p>
          <a:p>
            <a:pPr marL="152400" indent="-152400">
              <a:spcAft>
                <a:spcPts val="300"/>
              </a:spcAft>
              <a:buSzPct val="100000"/>
              <a:buChar char="•"/>
            </a:pPr>
            <a:r>
              <a:rPr lang="en-US" sz="1200" dirty="0">
                <a:solidFill>
                  <a:schemeClr val="tx1"/>
                </a:solidFill>
              </a:rPr>
              <a:t>Error-budget radar with six-hour projections</a:t>
            </a:r>
            <a:endParaRPr lang="en-US" sz="1200" dirty="0"/>
          </a:p>
          <a:p>
            <a:pPr marL="152400" indent="-152400">
              <a:spcAft>
                <a:spcPts val="300"/>
              </a:spcAft>
              <a:buSzPct val="100000"/>
              <a:buChar char="•"/>
            </a:pPr>
            <a:r>
              <a:rPr lang="en-US" sz="1200" dirty="0">
                <a:solidFill>
                  <a:schemeClr val="tx1"/>
                </a:solidFill>
              </a:rPr>
              <a:t>Incidents admitted by impact; squadrons dispatched</a:t>
            </a:r>
            <a:endParaRPr lang="en-US" sz="1200" dirty="0"/>
          </a:p>
        </p:txBody>
      </p:sp>
      <p:sp>
        <p:nvSpPr>
          <p:cNvPr id="13" name="Fleet awareness shift card"/>
          <p:cNvSpPr/>
          <p:nvPr/>
        </p:nvSpPr>
        <p:spPr>
          <a:xfrm>
            <a:off x="548640" y="5760720"/>
            <a:ext cx="3520440" cy="512064"/>
          </a:xfrm>
          <a:prstGeom prst="rect">
            <a:avLst/>
          </a:prstGeom>
          <a:solidFill>
            <a:schemeClr val="bg2"/>
          </a:solidFill>
          <a:ln w="12700">
            <a:solidFill>
              <a:schemeClr val="bg2"/>
            </a:solidFill>
            <a:prstDash val="solid"/>
          </a:ln>
        </p:spPr>
      </p:sp>
      <p:sp>
        <p:nvSpPr>
          <p:cNvPr id="14" name="Fleet awareness shift"/>
          <p:cNvSpPr txBox="1"/>
          <p:nvPr/>
        </p:nvSpPr>
        <p:spPr>
          <a:xfrm>
            <a:off x="676656" y="5760720"/>
            <a:ext cx="3264408" cy="512064"/>
          </a:xfrm>
          <a:prstGeom prst="rect">
            <a:avLst/>
          </a:prstGeom>
          <a:noFill/>
          <a:ln/>
        </p:spPr>
        <p:txBody>
          <a:bodyPr wrap="square" lIns="0" tIns="0" rIns="0" bIns="0" rtlCol="0" anchor="ctr"/>
          <a:lstStyle/>
          <a:p>
            <a:pPr indent="0" marL="0">
              <a:buNone/>
            </a:pPr>
            <a:r>
              <a:rPr lang="en-US" sz="1150" dirty="0">
                <a:solidFill>
                  <a:schemeClr val="accent5"/>
                </a:solidFill>
              </a:rPr>
              <a:t>Ticket queue</a:t>
            </a:r>
            <a:pPr indent="0" marL="0">
              <a:buNone/>
            </a:pPr>
            <a:r>
              <a:rPr lang="en-US" sz="1150" b="1" dirty="0">
                <a:solidFill>
                  <a:schemeClr val="accent2"/>
                </a:solidFill>
              </a:rPr>
              <a:t>  →  </a:t>
            </a:r>
            <a:pPr indent="0" marL="0">
              <a:buNone/>
            </a:pPr>
            <a:r>
              <a:rPr lang="en-US" sz="1150" b="1" dirty="0">
                <a:solidFill>
                  <a:schemeClr val="tx1"/>
                </a:solidFill>
              </a:rPr>
              <a:t>error-budget priority</a:t>
            </a:r>
            <a:endParaRPr lang="en-US" sz="1150" dirty="0"/>
          </a:p>
        </p:txBody>
      </p:sp>
      <p:sp>
        <p:nvSpPr>
          <p:cNvPr id="15" name="One incident, commanded screenshot frame"/>
          <p:cNvSpPr/>
          <p:nvPr/>
        </p:nvSpPr>
        <p:spPr>
          <a:xfrm>
            <a:off x="4317340" y="1737360"/>
            <a:ext cx="3557016" cy="2016824"/>
          </a:xfrm>
          <a:prstGeom prst="rect">
            <a:avLst/>
          </a:prstGeom>
          <a:solidFill>
            <a:srgbClr val="FFFFFF"/>
          </a:solidFill>
          <a:ln w="9525">
            <a:solidFill>
              <a:srgbClr val="C9CBCF"/>
            </a:solidFill>
            <a:prstDash val="solid"/>
          </a:ln>
        </p:spPr>
      </p:sp>
      <p:pic>
        <p:nvPicPr>
          <p:cNvPr id="16" name="One incident, commanded screenshot" descr="shots/mission.png">    </p:cNvPr>
          <p:cNvPicPr>
            <a:picLocks noChangeAspect="1"/>
          </p:cNvPicPr>
          <p:nvPr/>
        </p:nvPicPr>
        <p:blipFill>
          <a:blip r:embed="rId2"/>
          <a:stretch>
            <a:fillRect/>
          </a:stretch>
        </p:blipFill>
        <p:spPr>
          <a:xfrm>
            <a:off x="4335628" y="1755648"/>
            <a:ext cx="3520440" cy="1980248"/>
          </a:xfrm>
          <a:prstGeom prst="rect">
            <a:avLst/>
          </a:prstGeom>
        </p:spPr>
      </p:pic>
      <p:sp>
        <p:nvSpPr>
          <p:cNvPr id="17" name="eyebrow mark"/>
          <p:cNvSpPr/>
          <p:nvPr/>
        </p:nvSpPr>
        <p:spPr>
          <a:xfrm>
            <a:off x="4335628" y="3932492"/>
            <a:ext cx="91440" cy="91440"/>
          </a:xfrm>
          <a:prstGeom prst="rect">
            <a:avLst/>
          </a:prstGeom>
          <a:solidFill>
            <a:schemeClr val="accent1"/>
          </a:solidFill>
          <a:ln w="12700">
            <a:solidFill>
              <a:schemeClr val="accent1"/>
            </a:solidFill>
            <a:prstDash val="solid"/>
          </a:ln>
        </p:spPr>
      </p:sp>
      <p:sp>
        <p:nvSpPr>
          <p:cNvPr id="18" name="eyebrow 02  MISSION · MINUTES"/>
          <p:cNvSpPr txBox="1"/>
          <p:nvPr/>
        </p:nvSpPr>
        <p:spPr>
          <a:xfrm>
            <a:off x="4500220" y="3863912"/>
            <a:ext cx="3520440" cy="228600"/>
          </a:xfrm>
          <a:prstGeom prst="rect">
            <a:avLst/>
          </a:prstGeom>
          <a:noFill/>
          <a:ln/>
        </p:spPr>
        <p:txBody>
          <a:bodyPr wrap="square" lIns="0" tIns="0" rIns="0" bIns="0" rtlCol="0" anchor="ctr"/>
          <a:lstStyle/>
          <a:p>
            <a:pPr indent="0" marL="0">
              <a:buNone/>
            </a:pPr>
            <a:r>
              <a:rPr lang="en-US" sz="950" b="1" spc="150" kern="0" dirty="0">
                <a:solidFill>
                  <a:schemeClr val="accent5"/>
                </a:solidFill>
                <a:latin typeface="Courier New" pitchFamily="34" charset="0"/>
                <a:ea typeface="Courier New" pitchFamily="34" charset="-122"/>
                <a:cs typeface="Courier New" pitchFamily="34" charset="-120"/>
              </a:rPr>
              <a:t>02  MISSION · MINUTES</a:t>
            </a:r>
            <a:endParaRPr lang="en-US" sz="950" dirty="0"/>
          </a:p>
        </p:txBody>
      </p:sp>
      <p:sp>
        <p:nvSpPr>
          <p:cNvPr id="19" name="One incident, commanded"/>
          <p:cNvSpPr txBox="1"/>
          <p:nvPr/>
        </p:nvSpPr>
        <p:spPr>
          <a:xfrm>
            <a:off x="4335628" y="4101656"/>
            <a:ext cx="3520440" cy="292608"/>
          </a:xfrm>
          <a:prstGeom prst="rect">
            <a:avLst/>
          </a:prstGeom>
          <a:noFill/>
          <a:ln/>
        </p:spPr>
        <p:txBody>
          <a:bodyPr wrap="square" lIns="0" tIns="0" rIns="0" bIns="0" rtlCol="0" anchor="t"/>
          <a:lstStyle/>
          <a:p>
            <a:pPr indent="0" marL="0">
              <a:buNone/>
            </a:pPr>
            <a:r>
              <a:rPr lang="en-US" sz="1700" b="1" dirty="0">
                <a:solidFill>
                  <a:schemeClr val="tx1"/>
                </a:solidFill>
              </a:rPr>
              <a:t>One incident, commanded</a:t>
            </a:r>
            <a:endParaRPr lang="en-US" sz="1700" dirty="0"/>
          </a:p>
        </p:txBody>
      </p:sp>
      <p:sp>
        <p:nvSpPr>
          <p:cNvPr id="20" name="One incident, commanded who"/>
          <p:cNvSpPr txBox="1"/>
          <p:nvPr/>
        </p:nvSpPr>
        <p:spPr>
          <a:xfrm>
            <a:off x="4335628" y="4394264"/>
            <a:ext cx="3520440" cy="219456"/>
          </a:xfrm>
          <a:prstGeom prst="rect">
            <a:avLst/>
          </a:prstGeom>
          <a:noFill/>
          <a:ln/>
        </p:spPr>
        <p:txBody>
          <a:bodyPr wrap="square" lIns="0" tIns="0" rIns="0" bIns="0" rtlCol="0" anchor="t"/>
          <a:lstStyle/>
          <a:p>
            <a:pPr indent="0" marL="0">
              <a:buNone/>
            </a:pPr>
            <a:r>
              <a:rPr lang="en-US" sz="1150" dirty="0">
                <a:solidFill>
                  <a:schemeClr val="accent5"/>
                </a:solidFill>
              </a:rPr>
              <a:t>Incident Commander with the SME squads</a:t>
            </a:r>
            <a:endParaRPr lang="en-US" sz="1150" dirty="0"/>
          </a:p>
        </p:txBody>
      </p:sp>
      <p:sp>
        <p:nvSpPr>
          <p:cNvPr id="21" name="One incident, commanded question"/>
          <p:cNvSpPr txBox="1"/>
          <p:nvPr/>
        </p:nvSpPr>
        <p:spPr>
          <a:xfrm>
            <a:off x="4335628" y="4632008"/>
            <a:ext cx="3520440" cy="237744"/>
          </a:xfrm>
          <a:prstGeom prst="rect">
            <a:avLst/>
          </a:prstGeom>
          <a:noFill/>
          <a:ln/>
        </p:spPr>
        <p:txBody>
          <a:bodyPr wrap="square" lIns="0" tIns="0" rIns="0" bIns="0" rtlCol="0" anchor="t"/>
          <a:lstStyle/>
          <a:p>
            <a:pPr indent="0" marL="0">
              <a:buNone/>
            </a:pPr>
            <a:r>
              <a:rPr lang="en-US" sz="1250" i="1" dirty="0">
                <a:solidFill>
                  <a:schemeClr val="accent2"/>
                </a:solidFill>
              </a:rPr>
              <a:t>“What is broken, why, and what do we do — safely?”</a:t>
            </a:r>
            <a:endParaRPr lang="en-US" sz="1250" dirty="0"/>
          </a:p>
        </p:txBody>
      </p:sp>
      <p:sp>
        <p:nvSpPr>
          <p:cNvPr id="22" name="One incident, commanded points"/>
          <p:cNvSpPr txBox="1"/>
          <p:nvPr/>
        </p:nvSpPr>
        <p:spPr>
          <a:xfrm>
            <a:off x="4335628" y="4924616"/>
            <a:ext cx="3520440" cy="78638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Detect → Diagnose → Recover, one phase in focus</a:t>
            </a:r>
            <a:endParaRPr lang="en-US" sz="1200" dirty="0"/>
          </a:p>
          <a:p>
            <a:pPr marL="152400" indent="-152400">
              <a:spcAft>
                <a:spcPts val="300"/>
              </a:spcAft>
              <a:buSzPct val="100000"/>
              <a:buChar char="•"/>
            </a:pPr>
            <a:r>
              <a:rPr lang="en-US" sz="1200" dirty="0">
                <a:solidFill>
                  <a:schemeClr val="tx1"/>
                </a:solidFill>
              </a:rPr>
              <a:t>Evidence and hypotheses to a locked root cause</a:t>
            </a:r>
            <a:endParaRPr lang="en-US" sz="1200" dirty="0"/>
          </a:p>
          <a:p>
            <a:pPr marL="152400" indent="-152400">
              <a:spcAft>
                <a:spcPts val="300"/>
              </a:spcAft>
              <a:buSzPct val="100000"/>
              <a:buChar char="•"/>
            </a:pPr>
            <a:r>
              <a:rPr lang="en-US" sz="1200" dirty="0">
                <a:solidFill>
                  <a:schemeClr val="tx1"/>
                </a:solidFill>
              </a:rPr>
              <a:t>Signed runbooks · four-eyes · every step audited</a:t>
            </a:r>
            <a:endParaRPr lang="en-US" sz="1200" dirty="0"/>
          </a:p>
        </p:txBody>
      </p:sp>
      <p:sp>
        <p:nvSpPr>
          <p:cNvPr id="23" name="One incident, commanded shift card"/>
          <p:cNvSpPr/>
          <p:nvPr/>
        </p:nvSpPr>
        <p:spPr>
          <a:xfrm>
            <a:off x="4335628" y="5760720"/>
            <a:ext cx="3520440" cy="512064"/>
          </a:xfrm>
          <a:prstGeom prst="rect">
            <a:avLst/>
          </a:prstGeom>
          <a:solidFill>
            <a:schemeClr val="bg2"/>
          </a:solidFill>
          <a:ln w="12700">
            <a:solidFill>
              <a:schemeClr val="bg2"/>
            </a:solidFill>
            <a:prstDash val="solid"/>
          </a:ln>
        </p:spPr>
      </p:sp>
      <p:sp>
        <p:nvSpPr>
          <p:cNvPr id="24" name="One incident, commanded shift"/>
          <p:cNvSpPr txBox="1"/>
          <p:nvPr/>
        </p:nvSpPr>
        <p:spPr>
          <a:xfrm>
            <a:off x="4463644" y="5760720"/>
            <a:ext cx="3264408" cy="512064"/>
          </a:xfrm>
          <a:prstGeom prst="rect">
            <a:avLst/>
          </a:prstGeom>
          <a:noFill/>
          <a:ln/>
        </p:spPr>
        <p:txBody>
          <a:bodyPr wrap="square" lIns="0" tIns="0" rIns="0" bIns="0" rtlCol="0" anchor="ctr"/>
          <a:lstStyle/>
          <a:p>
            <a:pPr indent="0" marL="0">
              <a:buNone/>
            </a:pPr>
            <a:r>
              <a:rPr lang="en-US" sz="1150" dirty="0">
                <a:solidFill>
                  <a:schemeClr val="accent5"/>
                </a:solidFill>
              </a:rPr>
              <a:t>Bridge call from memory</a:t>
            </a:r>
            <a:pPr indent="0" marL="0">
              <a:buNone/>
            </a:pPr>
            <a:r>
              <a:rPr lang="en-US" sz="1150" b="1" dirty="0">
                <a:solidFill>
                  <a:schemeClr val="accent2"/>
                </a:solidFill>
              </a:rPr>
              <a:t>  →  </a:t>
            </a:r>
            <a:pPr indent="0" marL="0">
              <a:buNone/>
            </a:pPr>
            <a:r>
              <a:rPr lang="en-US" sz="1150" b="1" dirty="0">
                <a:solidFill>
                  <a:schemeClr val="tx1"/>
                </a:solidFill>
              </a:rPr>
              <a:t>commanded mission with an audit trail</a:t>
            </a:r>
            <a:endParaRPr lang="en-US" sz="1150" dirty="0"/>
          </a:p>
        </p:txBody>
      </p:sp>
      <p:sp>
        <p:nvSpPr>
          <p:cNvPr id="25" name="Obligations settled screenshot frame"/>
          <p:cNvSpPr/>
          <p:nvPr/>
        </p:nvSpPr>
        <p:spPr>
          <a:xfrm>
            <a:off x="8104327" y="1737360"/>
            <a:ext cx="3557016" cy="2016824"/>
          </a:xfrm>
          <a:prstGeom prst="rect">
            <a:avLst/>
          </a:prstGeom>
          <a:solidFill>
            <a:srgbClr val="FFFFFF"/>
          </a:solidFill>
          <a:ln w="9525">
            <a:solidFill>
              <a:srgbClr val="C9CBCF"/>
            </a:solidFill>
            <a:prstDash val="solid"/>
          </a:ln>
        </p:spPr>
      </p:sp>
      <p:pic>
        <p:nvPicPr>
          <p:cNvPr id="26" name="Obligations settled screenshot" descr="shots/debrief.png">    </p:cNvPr>
          <p:cNvPicPr>
            <a:picLocks noChangeAspect="1"/>
          </p:cNvPicPr>
          <p:nvPr/>
        </p:nvPicPr>
        <p:blipFill>
          <a:blip r:embed="rId3"/>
          <a:stretch>
            <a:fillRect/>
          </a:stretch>
        </p:blipFill>
        <p:spPr>
          <a:xfrm>
            <a:off x="8122615" y="1755648"/>
            <a:ext cx="3520440" cy="1980248"/>
          </a:xfrm>
          <a:prstGeom prst="rect">
            <a:avLst/>
          </a:prstGeom>
        </p:spPr>
      </p:pic>
      <p:sp>
        <p:nvSpPr>
          <p:cNvPr id="27" name="eyebrow mark"/>
          <p:cNvSpPr/>
          <p:nvPr/>
        </p:nvSpPr>
        <p:spPr>
          <a:xfrm>
            <a:off x="8122615" y="3932492"/>
            <a:ext cx="91440" cy="91440"/>
          </a:xfrm>
          <a:prstGeom prst="rect">
            <a:avLst/>
          </a:prstGeom>
          <a:solidFill>
            <a:schemeClr val="accent1"/>
          </a:solidFill>
          <a:ln w="12700">
            <a:solidFill>
              <a:schemeClr val="accent1"/>
            </a:solidFill>
            <a:prstDash val="solid"/>
          </a:ln>
        </p:spPr>
      </p:sp>
      <p:sp>
        <p:nvSpPr>
          <p:cNvPr id="28" name="eyebrow 03  DEBRIEF · DAYS"/>
          <p:cNvSpPr txBox="1"/>
          <p:nvPr/>
        </p:nvSpPr>
        <p:spPr>
          <a:xfrm>
            <a:off x="8287207" y="3863912"/>
            <a:ext cx="3520440" cy="228600"/>
          </a:xfrm>
          <a:prstGeom prst="rect">
            <a:avLst/>
          </a:prstGeom>
          <a:noFill/>
          <a:ln/>
        </p:spPr>
        <p:txBody>
          <a:bodyPr wrap="square" lIns="0" tIns="0" rIns="0" bIns="0" rtlCol="0" anchor="ctr"/>
          <a:lstStyle/>
          <a:p>
            <a:pPr indent="0" marL="0">
              <a:buNone/>
            </a:pPr>
            <a:r>
              <a:rPr lang="en-US" sz="950" b="1" spc="150" kern="0" dirty="0">
                <a:solidFill>
                  <a:schemeClr val="accent5"/>
                </a:solidFill>
                <a:latin typeface="Courier New" pitchFamily="34" charset="0"/>
                <a:ea typeface="Courier New" pitchFamily="34" charset="-122"/>
                <a:cs typeface="Courier New" pitchFamily="34" charset="-120"/>
              </a:rPr>
              <a:t>03  DEBRIEF · DAYS</a:t>
            </a:r>
            <a:endParaRPr lang="en-US" sz="950" dirty="0"/>
          </a:p>
        </p:txBody>
      </p:sp>
      <p:sp>
        <p:nvSpPr>
          <p:cNvPr id="29" name="Obligations settled"/>
          <p:cNvSpPr txBox="1"/>
          <p:nvPr/>
        </p:nvSpPr>
        <p:spPr>
          <a:xfrm>
            <a:off x="8122615" y="4101656"/>
            <a:ext cx="3520440" cy="292608"/>
          </a:xfrm>
          <a:prstGeom prst="rect">
            <a:avLst/>
          </a:prstGeom>
          <a:noFill/>
          <a:ln/>
        </p:spPr>
        <p:txBody>
          <a:bodyPr wrap="square" lIns="0" tIns="0" rIns="0" bIns="0" rtlCol="0" anchor="t"/>
          <a:lstStyle/>
          <a:p>
            <a:pPr indent="0" marL="0">
              <a:buNone/>
            </a:pPr>
            <a:r>
              <a:rPr lang="en-US" sz="1700" b="1" dirty="0">
                <a:solidFill>
                  <a:schemeClr val="tx1"/>
                </a:solidFill>
              </a:rPr>
              <a:t>Obligations settled</a:t>
            </a:r>
            <a:endParaRPr lang="en-US" sz="1700" dirty="0"/>
          </a:p>
        </p:txBody>
      </p:sp>
      <p:sp>
        <p:nvSpPr>
          <p:cNvPr id="30" name="Obligations settled who"/>
          <p:cNvSpPr txBox="1"/>
          <p:nvPr/>
        </p:nvSpPr>
        <p:spPr>
          <a:xfrm>
            <a:off x="8122615" y="4394264"/>
            <a:ext cx="3520440" cy="219456"/>
          </a:xfrm>
          <a:prstGeom prst="rect">
            <a:avLst/>
          </a:prstGeom>
          <a:noFill/>
          <a:ln/>
        </p:spPr>
        <p:txBody>
          <a:bodyPr wrap="square" lIns="0" tIns="0" rIns="0" bIns="0" rtlCol="0" anchor="t"/>
          <a:lstStyle/>
          <a:p>
            <a:pPr indent="0" marL="0">
              <a:buNone/>
            </a:pPr>
            <a:r>
              <a:rPr lang="en-US" sz="1150" dirty="0">
                <a:solidFill>
                  <a:schemeClr val="accent5"/>
                </a:solidFill>
              </a:rPr>
              <a:t>Incident Commander with Risk &amp; Compliance</a:t>
            </a:r>
            <a:endParaRPr lang="en-US" sz="1150" dirty="0"/>
          </a:p>
        </p:txBody>
      </p:sp>
      <p:sp>
        <p:nvSpPr>
          <p:cNvPr id="31" name="Obligations settled question"/>
          <p:cNvSpPr txBox="1"/>
          <p:nvPr/>
        </p:nvSpPr>
        <p:spPr>
          <a:xfrm>
            <a:off x="8122615" y="4632008"/>
            <a:ext cx="3520440" cy="237744"/>
          </a:xfrm>
          <a:prstGeom prst="rect">
            <a:avLst/>
          </a:prstGeom>
          <a:noFill/>
          <a:ln/>
        </p:spPr>
        <p:txBody>
          <a:bodyPr wrap="square" lIns="0" tIns="0" rIns="0" bIns="0" rtlCol="0" anchor="t"/>
          <a:lstStyle/>
          <a:p>
            <a:pPr indent="0" marL="0">
              <a:buNone/>
            </a:pPr>
            <a:r>
              <a:rPr lang="en-US" sz="1250" i="1" dirty="0">
                <a:solidFill>
                  <a:schemeClr val="accent2"/>
                </a:solidFill>
              </a:rPr>
              <a:t>“Did we meet our obligations — and can we prove it?”</a:t>
            </a:r>
            <a:endParaRPr lang="en-US" sz="1250" dirty="0"/>
          </a:p>
        </p:txBody>
      </p:sp>
      <p:sp>
        <p:nvSpPr>
          <p:cNvPr id="32" name="Obligations settled points"/>
          <p:cNvSpPr txBox="1"/>
          <p:nvPr/>
        </p:nvSpPr>
        <p:spPr>
          <a:xfrm>
            <a:off x="8122615" y="4924616"/>
            <a:ext cx="3520440" cy="78638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Notify ≤ 1 h · recover ≤ 4 h · report ≤ 14 d</a:t>
            </a:r>
            <a:endParaRPr lang="en-US" sz="1200" dirty="0"/>
          </a:p>
          <a:p>
            <a:pPr marL="152400" indent="-152400">
              <a:spcAft>
                <a:spcPts val="300"/>
              </a:spcAft>
              <a:buSzPct val="100000"/>
              <a:buChar char="•"/>
            </a:pPr>
            <a:r>
              <a:rPr lang="en-US" sz="1200" dirty="0">
                <a:solidFill>
                  <a:schemeClr val="tx1"/>
                </a:solidFill>
              </a:rPr>
              <a:t>RCA report assembled from the record, not retyped</a:t>
            </a:r>
            <a:endParaRPr lang="en-US" sz="1200" dirty="0"/>
          </a:p>
          <a:p>
            <a:pPr marL="152400" indent="-152400">
              <a:spcAft>
                <a:spcPts val="300"/>
              </a:spcAft>
              <a:buSzPct val="100000"/>
              <a:buChar char="•"/>
            </a:pPr>
            <a:r>
              <a:rPr lang="en-US" sz="1200" dirty="0">
                <a:solidFill>
                  <a:schemeClr val="tx1"/>
                </a:solidFill>
              </a:rPr>
              <a:t>Closed when settled; proof kept for seven years</a:t>
            </a:r>
            <a:endParaRPr lang="en-US" sz="1200" dirty="0"/>
          </a:p>
        </p:txBody>
      </p:sp>
      <p:sp>
        <p:nvSpPr>
          <p:cNvPr id="33" name="Obligations settled shift card"/>
          <p:cNvSpPr/>
          <p:nvPr/>
        </p:nvSpPr>
        <p:spPr>
          <a:xfrm>
            <a:off x="8122615" y="5760720"/>
            <a:ext cx="3520440" cy="512064"/>
          </a:xfrm>
          <a:prstGeom prst="rect">
            <a:avLst/>
          </a:prstGeom>
          <a:solidFill>
            <a:schemeClr val="bg2"/>
          </a:solidFill>
          <a:ln w="12700">
            <a:solidFill>
              <a:schemeClr val="bg2"/>
            </a:solidFill>
            <a:prstDash val="solid"/>
          </a:ln>
        </p:spPr>
      </p:sp>
      <p:sp>
        <p:nvSpPr>
          <p:cNvPr id="34" name="Obligations settled shift"/>
          <p:cNvSpPr txBox="1"/>
          <p:nvPr/>
        </p:nvSpPr>
        <p:spPr>
          <a:xfrm>
            <a:off x="8250631" y="5760720"/>
            <a:ext cx="3264408" cy="512064"/>
          </a:xfrm>
          <a:prstGeom prst="rect">
            <a:avLst/>
          </a:prstGeom>
          <a:noFill/>
          <a:ln/>
        </p:spPr>
        <p:txBody>
          <a:bodyPr wrap="square" lIns="0" tIns="0" rIns="0" bIns="0" rtlCol="0" anchor="ctr"/>
          <a:lstStyle/>
          <a:p>
            <a:pPr indent="0" marL="0">
              <a:buNone/>
            </a:pPr>
            <a:r>
              <a:rPr lang="en-US" sz="1150" dirty="0">
                <a:solidFill>
                  <a:schemeClr val="accent5"/>
                </a:solidFill>
              </a:rPr>
              <a:t>Report written after the fact</a:t>
            </a:r>
            <a:pPr indent="0" marL="0">
              <a:buNone/>
            </a:pPr>
            <a:r>
              <a:rPr lang="en-US" sz="1150" b="1" dirty="0">
                <a:solidFill>
                  <a:schemeClr val="accent2"/>
                </a:solidFill>
              </a:rPr>
              <a:t>  →  </a:t>
            </a:r>
            <a:pPr indent="0" marL="0">
              <a:buNone/>
            </a:pPr>
            <a:r>
              <a:rPr lang="en-US" sz="1150" b="1" dirty="0">
                <a:solidFill>
                  <a:schemeClr val="tx1"/>
                </a:solidFill>
              </a:rPr>
              <a:t>report assembled from the record</a:t>
            </a:r>
            <a:endParaRPr lang="en-US" sz="11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mark"/>
          <p:cNvSpPr/>
          <p:nvPr/>
        </p:nvSpPr>
        <p:spPr>
          <a:xfrm>
            <a:off x="548640" y="452628"/>
            <a:ext cx="91440" cy="91440"/>
          </a:xfrm>
          <a:prstGeom prst="rect">
            <a:avLst/>
          </a:prstGeom>
          <a:solidFill>
            <a:schemeClr val="accent1"/>
          </a:solidFill>
          <a:ln w="12700">
            <a:solidFill>
              <a:schemeClr val="accent1"/>
            </a:solidFill>
            <a:prstDash val="solid"/>
          </a:ln>
        </p:spPr>
      </p:sp>
      <p:sp>
        <p:nvSpPr>
          <p:cNvPr id="3" name="eyebrow HOW WE GET THERE · WHERE WE ARE NOW"/>
          <p:cNvSpPr txBox="1"/>
          <p:nvPr/>
        </p:nvSpPr>
        <p:spPr>
          <a:xfrm>
            <a:off x="713232" y="384048"/>
            <a:ext cx="5486400" cy="228600"/>
          </a:xfrm>
          <a:prstGeom prst="rect">
            <a:avLst/>
          </a:prstGeom>
          <a:noFill/>
          <a:ln/>
        </p:spPr>
        <p:txBody>
          <a:bodyPr wrap="square" lIns="0" tIns="0" rIns="0" bIns="0" rtlCol="0" anchor="ctr"/>
          <a:lstStyle/>
          <a:p>
            <a:pPr indent="0" marL="0">
              <a:buNone/>
            </a:pPr>
            <a:r>
              <a:rPr lang="en-US" sz="950" b="1" spc="150" kern="0" dirty="0">
                <a:solidFill>
                  <a:schemeClr val="accent5"/>
                </a:solidFill>
                <a:latin typeface="Courier New" pitchFamily="34" charset="0"/>
                <a:ea typeface="Courier New" pitchFamily="34" charset="-122"/>
                <a:cs typeface="Courier New" pitchFamily="34" charset="-120"/>
              </a:rPr>
              <a:t>HOW WE GET THERE · WHERE WE ARE NOW</a:t>
            </a:r>
            <a:endParaRPr lang="en-US" sz="950" dirty="0"/>
          </a:p>
        </p:txBody>
      </p:sp>
      <p:sp>
        <p:nvSpPr>
          <p:cNvPr id="4"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lnSpc>
                <a:spcPct val="100000"/>
              </a:lnSpc>
              <a:buNone/>
            </a:pPr>
            <a:r>
              <a:rPr lang="en-US" sz="2600" b="1" dirty="0">
                <a:solidFill>
                  <a:schemeClr val="tx1"/>
                </a:solidFill>
              </a:rPr>
              <a:t>We are at the start: the tools exist and the cockpit is a working prototype, but fleet SLOs and the command plane do not yet exist</a:t>
            </a:r>
            <a:endParaRPr lang="en-US" sz="2600" dirty="0"/>
          </a:p>
        </p:txBody>
      </p:sp>
      <p:sp>
        <p:nvSpPr>
          <p:cNvPr id="5" name="step 0"/>
          <p:cNvSpPr/>
          <p:nvPr/>
        </p:nvSpPr>
        <p:spPr>
          <a:xfrm>
            <a:off x="548640" y="3035808"/>
            <a:ext cx="2650160" cy="1188720"/>
          </a:xfrm>
          <a:prstGeom prst="roundRect">
            <a:avLst>
              <a:gd name="adj" fmla="val 3077"/>
            </a:avLst>
          </a:prstGeom>
          <a:solidFill>
            <a:srgbClr val="FFFFFF"/>
          </a:solidFill>
          <a:ln w="19050">
            <a:solidFill>
              <a:srgbClr val="FED16B"/>
            </a:solidFill>
            <a:prstDash val="solid"/>
          </a:ln>
        </p:spPr>
      </p:sp>
      <p:sp>
        <p:nvSpPr>
          <p:cNvPr id="6" name="step label 0"/>
          <p:cNvSpPr txBox="1"/>
          <p:nvPr/>
        </p:nvSpPr>
        <p:spPr>
          <a:xfrm>
            <a:off x="713232" y="3163824"/>
            <a:ext cx="1552880" cy="237744"/>
          </a:xfrm>
          <a:prstGeom prst="rect">
            <a:avLst/>
          </a:prstGeom>
          <a:noFill/>
          <a:ln/>
        </p:spPr>
        <p:txBody>
          <a:bodyPr wrap="square" lIns="0" tIns="0" rIns="0" bIns="0" rtlCol="0" anchor="ctr"/>
          <a:lstStyle/>
          <a:p>
            <a:pPr indent="0" marL="0">
              <a:buNone/>
            </a:pPr>
            <a:r>
              <a:rPr lang="en-US" sz="950" b="1" spc="100" kern="0" dirty="0">
                <a:solidFill>
                  <a:schemeClr val="tx1"/>
                </a:solidFill>
                <a:latin typeface="Courier New" pitchFamily="34" charset="0"/>
                <a:ea typeface="Courier New" pitchFamily="34" charset="-122"/>
                <a:cs typeface="Courier New" pitchFamily="34" charset="-120"/>
              </a:rPr>
              <a:t>0 · TODAY</a:t>
            </a:r>
            <a:endParaRPr lang="en-US" sz="950" dirty="0"/>
          </a:p>
        </p:txBody>
      </p:sp>
      <p:sp>
        <p:nvSpPr>
          <p:cNvPr id="7" name="step when 0"/>
          <p:cNvSpPr txBox="1"/>
          <p:nvPr/>
        </p:nvSpPr>
        <p:spPr>
          <a:xfrm>
            <a:off x="2284400" y="3163824"/>
            <a:ext cx="749808" cy="237744"/>
          </a:xfrm>
          <a:prstGeom prst="rect">
            <a:avLst/>
          </a:prstGeom>
          <a:noFill/>
          <a:ln/>
        </p:spPr>
        <p:txBody>
          <a:bodyPr wrap="square" lIns="0" tIns="0" rIns="0" bIns="0" rtlCol="0" anchor="ctr"/>
          <a:lstStyle/>
          <a:p>
            <a:pPr algn="r" indent="0" marL="0">
              <a:buNone/>
            </a:pPr>
            <a:r>
              <a:rPr lang="en-US" sz="950" dirty="0">
                <a:solidFill>
                  <a:schemeClr val="accent5"/>
                </a:solidFill>
                <a:latin typeface="Courier New" pitchFamily="34" charset="0"/>
                <a:ea typeface="Courier New" pitchFamily="34" charset="-122"/>
                <a:cs typeface="Courier New" pitchFamily="34" charset="-120"/>
              </a:rPr>
              <a:t>Q4 2026</a:t>
            </a:r>
            <a:endParaRPr lang="en-US" sz="950" dirty="0"/>
          </a:p>
        </p:txBody>
      </p:sp>
      <p:sp>
        <p:nvSpPr>
          <p:cNvPr id="8" name="step text 0"/>
          <p:cNvSpPr txBox="1"/>
          <p:nvPr/>
        </p:nvSpPr>
        <p:spPr>
          <a:xfrm>
            <a:off x="713232" y="3456432"/>
            <a:ext cx="2320976" cy="676656"/>
          </a:xfrm>
          <a:prstGeom prst="rect">
            <a:avLst/>
          </a:prstGeom>
          <a:noFill/>
          <a:ln/>
        </p:spPr>
        <p:txBody>
          <a:bodyPr wrap="square" lIns="0" tIns="0" rIns="0" bIns="0" rtlCol="0" anchor="t"/>
          <a:lstStyle/>
          <a:p>
            <a:pPr indent="0" marL="0">
              <a:buNone/>
            </a:pPr>
            <a:r>
              <a:rPr lang="en-US" sz="1200" dirty="0">
                <a:solidFill>
                  <a:schemeClr val="tx1"/>
                </a:solidFill>
              </a:rPr>
              <a:t>Tools in production. Cockpit prototype on simulated data. Incidents worked from the ticket queue.</a:t>
            </a:r>
            <a:endParaRPr lang="en-US" sz="1200" dirty="0"/>
          </a:p>
        </p:txBody>
      </p:sp>
      <p:sp>
        <p:nvSpPr>
          <p:cNvPr id="9" name="you are here tag"/>
          <p:cNvSpPr/>
          <p:nvPr/>
        </p:nvSpPr>
        <p:spPr>
          <a:xfrm>
            <a:off x="713232" y="2651760"/>
            <a:ext cx="1143000" cy="246888"/>
          </a:xfrm>
          <a:prstGeom prst="rect">
            <a:avLst/>
          </a:prstGeom>
          <a:solidFill>
            <a:schemeClr val="accent3"/>
          </a:solidFill>
          <a:ln w="12700">
            <a:solidFill>
              <a:schemeClr val="accent3"/>
            </a:solidFill>
            <a:prstDash val="solid"/>
          </a:ln>
        </p:spPr>
      </p:sp>
      <p:sp>
        <p:nvSpPr>
          <p:cNvPr id="10" name="you are here"/>
          <p:cNvSpPr txBox="1"/>
          <p:nvPr/>
        </p:nvSpPr>
        <p:spPr>
          <a:xfrm>
            <a:off x="713232" y="2651760"/>
            <a:ext cx="1143000" cy="246888"/>
          </a:xfrm>
          <a:prstGeom prst="rect">
            <a:avLst/>
          </a:prstGeom>
          <a:noFill/>
          <a:ln/>
        </p:spPr>
        <p:txBody>
          <a:bodyPr wrap="square" lIns="0" tIns="0" rIns="0" bIns="0" rtlCol="0" anchor="ctr"/>
          <a:lstStyle/>
          <a:p>
            <a:pPr algn="ctr" indent="0" marL="0">
              <a:buNone/>
            </a:pPr>
            <a:r>
              <a:rPr lang="en-US" sz="900" b="1" dirty="0">
                <a:solidFill>
                  <a:schemeClr val="tx1"/>
                </a:solidFill>
                <a:latin typeface="Courier New" pitchFamily="34" charset="0"/>
                <a:ea typeface="Courier New" pitchFamily="34" charset="-122"/>
                <a:cs typeface="Courier New" pitchFamily="34" charset="-120"/>
              </a:rPr>
              <a:t>YOU ARE HERE</a:t>
            </a:r>
            <a:endParaRPr lang="en-US" sz="900" dirty="0"/>
          </a:p>
        </p:txBody>
      </p:sp>
      <p:sp>
        <p:nvSpPr>
          <p:cNvPr id="11" name="you are here pointer"/>
          <p:cNvSpPr/>
          <p:nvPr/>
        </p:nvSpPr>
        <p:spPr>
          <a:xfrm>
            <a:off x="1280160" y="2898648"/>
            <a:ext cx="0" cy="137160"/>
          </a:xfrm>
          <a:prstGeom prst="line">
            <a:avLst/>
          </a:prstGeom>
          <a:noFill/>
          <a:ln w="19050">
            <a:solidFill>
              <a:schemeClr val="accent3"/>
            </a:solidFill>
            <a:prstDash val="solid"/>
          </a:ln>
        </p:spPr>
      </p:sp>
      <p:sp>
        <p:nvSpPr>
          <p:cNvPr id="12" name="step 1"/>
          <p:cNvSpPr/>
          <p:nvPr/>
        </p:nvSpPr>
        <p:spPr>
          <a:xfrm>
            <a:off x="3363392" y="2743200"/>
            <a:ext cx="2650160" cy="1481328"/>
          </a:xfrm>
          <a:prstGeom prst="roundRect">
            <a:avLst>
              <a:gd name="adj" fmla="val 2469"/>
            </a:avLst>
          </a:prstGeom>
          <a:solidFill>
            <a:srgbClr val="F3F4F6"/>
          </a:solidFill>
          <a:ln w="12700">
            <a:solidFill>
              <a:srgbClr val="F3F4F6"/>
            </a:solidFill>
            <a:prstDash val="solid"/>
          </a:ln>
        </p:spPr>
      </p:sp>
      <p:sp>
        <p:nvSpPr>
          <p:cNvPr id="13" name="step label 1"/>
          <p:cNvSpPr txBox="1"/>
          <p:nvPr/>
        </p:nvSpPr>
        <p:spPr>
          <a:xfrm>
            <a:off x="3527984" y="2871216"/>
            <a:ext cx="1552880" cy="237744"/>
          </a:xfrm>
          <a:prstGeom prst="rect">
            <a:avLst/>
          </a:prstGeom>
          <a:noFill/>
          <a:ln/>
        </p:spPr>
        <p:txBody>
          <a:bodyPr wrap="square" lIns="0" tIns="0" rIns="0" bIns="0" rtlCol="0" anchor="ctr"/>
          <a:lstStyle/>
          <a:p>
            <a:pPr indent="0" marL="0">
              <a:buNone/>
            </a:pPr>
            <a:r>
              <a:rPr lang="en-US" sz="950" b="1" spc="100" kern="0" dirty="0">
                <a:solidFill>
                  <a:schemeClr val="accent2"/>
                </a:solidFill>
                <a:latin typeface="Courier New" pitchFamily="34" charset="0"/>
                <a:ea typeface="Courier New" pitchFamily="34" charset="-122"/>
                <a:cs typeface="Courier New" pitchFamily="34" charset="-120"/>
              </a:rPr>
              <a:t>1 · INSTRUMENT</a:t>
            </a:r>
            <a:endParaRPr lang="en-US" sz="950" dirty="0"/>
          </a:p>
        </p:txBody>
      </p:sp>
      <p:sp>
        <p:nvSpPr>
          <p:cNvPr id="14" name="step when 1"/>
          <p:cNvSpPr txBox="1"/>
          <p:nvPr/>
        </p:nvSpPr>
        <p:spPr>
          <a:xfrm>
            <a:off x="5099152" y="2871216"/>
            <a:ext cx="749808" cy="237744"/>
          </a:xfrm>
          <a:prstGeom prst="rect">
            <a:avLst/>
          </a:prstGeom>
          <a:noFill/>
          <a:ln/>
        </p:spPr>
        <p:txBody>
          <a:bodyPr wrap="square" lIns="0" tIns="0" rIns="0" bIns="0" rtlCol="0" anchor="ctr"/>
          <a:lstStyle/>
          <a:p>
            <a:pPr algn="r" indent="0" marL="0">
              <a:buNone/>
            </a:pPr>
            <a:r>
              <a:rPr lang="en-US" sz="950" dirty="0">
                <a:solidFill>
                  <a:schemeClr val="accent5"/>
                </a:solidFill>
                <a:latin typeface="Courier New" pitchFamily="34" charset="0"/>
                <a:ea typeface="Courier New" pitchFamily="34" charset="-122"/>
                <a:cs typeface="Courier New" pitchFamily="34" charset="-120"/>
              </a:rPr>
              <a:t>H1 2027</a:t>
            </a:r>
            <a:endParaRPr lang="en-US" sz="950" dirty="0"/>
          </a:p>
        </p:txBody>
      </p:sp>
      <p:sp>
        <p:nvSpPr>
          <p:cNvPr id="15" name="step text 1"/>
          <p:cNvSpPr txBox="1"/>
          <p:nvPr/>
        </p:nvSpPr>
        <p:spPr>
          <a:xfrm>
            <a:off x="3527984" y="3163824"/>
            <a:ext cx="2320976" cy="969264"/>
          </a:xfrm>
          <a:prstGeom prst="rect">
            <a:avLst/>
          </a:prstGeom>
          <a:noFill/>
          <a:ln/>
        </p:spPr>
        <p:txBody>
          <a:bodyPr wrap="square" lIns="0" tIns="0" rIns="0" bIns="0" rtlCol="0" anchor="t"/>
          <a:lstStyle/>
          <a:p>
            <a:pPr indent="0" marL="0">
              <a:buNone/>
            </a:pPr>
            <a:r>
              <a:rPr lang="en-US" sz="1200" dirty="0">
                <a:solidFill>
                  <a:schemeClr val="tx1"/>
                </a:solidFill>
              </a:rPr>
              <a:t>SLIs and error budgets for Tier-1 services. Burn-rate alerting pages. The Bridge live in the TCC.</a:t>
            </a:r>
            <a:endParaRPr lang="en-US" sz="1200" dirty="0"/>
          </a:p>
        </p:txBody>
      </p:sp>
      <p:sp>
        <p:nvSpPr>
          <p:cNvPr id="16" name="step 2"/>
          <p:cNvSpPr/>
          <p:nvPr/>
        </p:nvSpPr>
        <p:spPr>
          <a:xfrm>
            <a:off x="6178144" y="2450592"/>
            <a:ext cx="2650160" cy="1773936"/>
          </a:xfrm>
          <a:prstGeom prst="roundRect">
            <a:avLst>
              <a:gd name="adj" fmla="val 2062"/>
            </a:avLst>
          </a:prstGeom>
          <a:solidFill>
            <a:srgbClr val="F3F4F6"/>
          </a:solidFill>
          <a:ln w="12700">
            <a:solidFill>
              <a:srgbClr val="F3F4F6"/>
            </a:solidFill>
            <a:prstDash val="solid"/>
          </a:ln>
        </p:spPr>
      </p:sp>
      <p:sp>
        <p:nvSpPr>
          <p:cNvPr id="17" name="step label 2"/>
          <p:cNvSpPr txBox="1"/>
          <p:nvPr/>
        </p:nvSpPr>
        <p:spPr>
          <a:xfrm>
            <a:off x="6342736" y="2578608"/>
            <a:ext cx="1552880" cy="237744"/>
          </a:xfrm>
          <a:prstGeom prst="rect">
            <a:avLst/>
          </a:prstGeom>
          <a:noFill/>
          <a:ln/>
        </p:spPr>
        <p:txBody>
          <a:bodyPr wrap="square" lIns="0" tIns="0" rIns="0" bIns="0" rtlCol="0" anchor="ctr"/>
          <a:lstStyle/>
          <a:p>
            <a:pPr indent="0" marL="0">
              <a:buNone/>
            </a:pPr>
            <a:r>
              <a:rPr lang="en-US" sz="950" b="1" spc="100" kern="0" dirty="0">
                <a:solidFill>
                  <a:schemeClr val="accent2"/>
                </a:solidFill>
                <a:latin typeface="Courier New" pitchFamily="34" charset="0"/>
                <a:ea typeface="Courier New" pitchFamily="34" charset="-122"/>
                <a:cs typeface="Courier New" pitchFamily="34" charset="-120"/>
              </a:rPr>
              <a:t>2 · COMMAND</a:t>
            </a:r>
            <a:endParaRPr lang="en-US" sz="950" dirty="0"/>
          </a:p>
        </p:txBody>
      </p:sp>
      <p:sp>
        <p:nvSpPr>
          <p:cNvPr id="18" name="step when 2"/>
          <p:cNvSpPr txBox="1"/>
          <p:nvPr/>
        </p:nvSpPr>
        <p:spPr>
          <a:xfrm>
            <a:off x="7913903" y="2578608"/>
            <a:ext cx="749808" cy="237744"/>
          </a:xfrm>
          <a:prstGeom prst="rect">
            <a:avLst/>
          </a:prstGeom>
          <a:noFill/>
          <a:ln/>
        </p:spPr>
        <p:txBody>
          <a:bodyPr wrap="square" lIns="0" tIns="0" rIns="0" bIns="0" rtlCol="0" anchor="ctr"/>
          <a:lstStyle/>
          <a:p>
            <a:pPr algn="r" indent="0" marL="0">
              <a:buNone/>
            </a:pPr>
            <a:r>
              <a:rPr lang="en-US" sz="950" dirty="0">
                <a:solidFill>
                  <a:schemeClr val="accent5"/>
                </a:solidFill>
                <a:latin typeface="Courier New" pitchFamily="34" charset="0"/>
                <a:ea typeface="Courier New" pitchFamily="34" charset="-122"/>
                <a:cs typeface="Courier New" pitchFamily="34" charset="-120"/>
              </a:rPr>
              <a:t>H2 2027</a:t>
            </a:r>
            <a:endParaRPr lang="en-US" sz="950" dirty="0"/>
          </a:p>
        </p:txBody>
      </p:sp>
      <p:sp>
        <p:nvSpPr>
          <p:cNvPr id="19" name="step text 2"/>
          <p:cNvSpPr txBox="1"/>
          <p:nvPr/>
        </p:nvSpPr>
        <p:spPr>
          <a:xfrm>
            <a:off x="6342736" y="2871216"/>
            <a:ext cx="2320976" cy="1261872"/>
          </a:xfrm>
          <a:prstGeom prst="rect">
            <a:avLst/>
          </a:prstGeom>
          <a:noFill/>
          <a:ln/>
        </p:spPr>
        <p:txBody>
          <a:bodyPr wrap="square" lIns="0" tIns="0" rIns="0" bIns="0" rtlCol="0" anchor="t"/>
          <a:lstStyle/>
          <a:p>
            <a:pPr indent="0" marL="0">
              <a:buNone/>
            </a:pPr>
            <a:r>
              <a:rPr lang="en-US" sz="1200" dirty="0">
                <a:solidFill>
                  <a:schemeClr val="tx1"/>
                </a:solidFill>
              </a:rPr>
              <a:t>Mission live: correlation, evidence, locked RCA. Pre-approved runbooks run through EDA under four-eyes.</a:t>
            </a:r>
            <a:endParaRPr lang="en-US" sz="1200" dirty="0"/>
          </a:p>
        </p:txBody>
      </p:sp>
      <p:sp>
        <p:nvSpPr>
          <p:cNvPr id="20" name="step 3"/>
          <p:cNvSpPr/>
          <p:nvPr/>
        </p:nvSpPr>
        <p:spPr>
          <a:xfrm>
            <a:off x="8992895" y="2157984"/>
            <a:ext cx="2650160" cy="2066544"/>
          </a:xfrm>
          <a:prstGeom prst="roundRect">
            <a:avLst>
              <a:gd name="adj" fmla="val 1770"/>
            </a:avLst>
          </a:prstGeom>
          <a:solidFill>
            <a:srgbClr val="F3F4F6"/>
          </a:solidFill>
          <a:ln w="12700">
            <a:solidFill>
              <a:srgbClr val="F3F4F6"/>
            </a:solidFill>
            <a:prstDash val="solid"/>
          </a:ln>
        </p:spPr>
      </p:sp>
      <p:sp>
        <p:nvSpPr>
          <p:cNvPr id="21" name="step label 3"/>
          <p:cNvSpPr txBox="1"/>
          <p:nvPr/>
        </p:nvSpPr>
        <p:spPr>
          <a:xfrm>
            <a:off x="9157487" y="2286000"/>
            <a:ext cx="1552880" cy="237744"/>
          </a:xfrm>
          <a:prstGeom prst="rect">
            <a:avLst/>
          </a:prstGeom>
          <a:noFill/>
          <a:ln/>
        </p:spPr>
        <p:txBody>
          <a:bodyPr wrap="square" lIns="0" tIns="0" rIns="0" bIns="0" rtlCol="0" anchor="ctr"/>
          <a:lstStyle/>
          <a:p>
            <a:pPr indent="0" marL="0">
              <a:buNone/>
            </a:pPr>
            <a:r>
              <a:rPr lang="en-US" sz="950" b="1" spc="100" kern="0" dirty="0">
                <a:solidFill>
                  <a:schemeClr val="accent2"/>
                </a:solidFill>
                <a:latin typeface="Courier New" pitchFamily="34" charset="0"/>
                <a:ea typeface="Courier New" pitchFamily="34" charset="-122"/>
                <a:cs typeface="Courier New" pitchFamily="34" charset="-120"/>
              </a:rPr>
              <a:t>3 · ASSURE</a:t>
            </a:r>
            <a:endParaRPr lang="en-US" sz="950" dirty="0"/>
          </a:p>
        </p:txBody>
      </p:sp>
      <p:sp>
        <p:nvSpPr>
          <p:cNvPr id="22" name="step when 3"/>
          <p:cNvSpPr txBox="1"/>
          <p:nvPr/>
        </p:nvSpPr>
        <p:spPr>
          <a:xfrm>
            <a:off x="10728655" y="2286000"/>
            <a:ext cx="749808" cy="237744"/>
          </a:xfrm>
          <a:prstGeom prst="rect">
            <a:avLst/>
          </a:prstGeom>
          <a:noFill/>
          <a:ln/>
        </p:spPr>
        <p:txBody>
          <a:bodyPr wrap="square" lIns="0" tIns="0" rIns="0" bIns="0" rtlCol="0" anchor="ctr"/>
          <a:lstStyle/>
          <a:p>
            <a:pPr algn="r" indent="0" marL="0">
              <a:buNone/>
            </a:pPr>
            <a:r>
              <a:rPr lang="en-US" sz="950" dirty="0">
                <a:solidFill>
                  <a:schemeClr val="accent5"/>
                </a:solidFill>
                <a:latin typeface="Courier New" pitchFamily="34" charset="0"/>
                <a:ea typeface="Courier New" pitchFamily="34" charset="-122"/>
                <a:cs typeface="Courier New" pitchFamily="34" charset="-120"/>
              </a:rPr>
              <a:t>2028</a:t>
            </a:r>
            <a:endParaRPr lang="en-US" sz="950" dirty="0"/>
          </a:p>
        </p:txBody>
      </p:sp>
      <p:sp>
        <p:nvSpPr>
          <p:cNvPr id="23" name="step text 3"/>
          <p:cNvSpPr txBox="1"/>
          <p:nvPr/>
        </p:nvSpPr>
        <p:spPr>
          <a:xfrm>
            <a:off x="9157487" y="2578608"/>
            <a:ext cx="2320976" cy="1554480"/>
          </a:xfrm>
          <a:prstGeom prst="rect">
            <a:avLst/>
          </a:prstGeom>
          <a:noFill/>
          <a:ln/>
        </p:spPr>
        <p:txBody>
          <a:bodyPr wrap="square" lIns="0" tIns="0" rIns="0" bIns="0" rtlCol="0" anchor="t"/>
          <a:lstStyle/>
          <a:p>
            <a:pPr indent="0" marL="0">
              <a:buNone/>
            </a:pPr>
            <a:r>
              <a:rPr lang="en-US" sz="1200" dirty="0">
                <a:solidFill>
                  <a:schemeClr val="tx1"/>
                </a:solidFill>
              </a:rPr>
              <a:t>Debrief live: MAS clocks, RCA from the record, seven-year audit stream. All tiers on the Bridge.</a:t>
            </a:r>
            <a:endParaRPr lang="en-US" sz="1200" dirty="0"/>
          </a:p>
        </p:txBody>
      </p:sp>
      <p:sp>
        <p:nvSpPr>
          <p:cNvPr id="24" name="path lead-in"/>
          <p:cNvSpPr txBox="1"/>
          <p:nvPr/>
        </p:nvSpPr>
        <p:spPr>
          <a:xfrm>
            <a:off x="548640" y="1828800"/>
            <a:ext cx="7498080" cy="274320"/>
          </a:xfrm>
          <a:prstGeom prst="rect">
            <a:avLst/>
          </a:prstGeom>
          <a:noFill/>
          <a:ln/>
        </p:spPr>
        <p:txBody>
          <a:bodyPr wrap="square" lIns="0" tIns="0" rIns="0" bIns="0" rtlCol="0" anchor="t"/>
          <a:lstStyle/>
          <a:p>
            <a:pPr indent="0" marL="0">
              <a:buNone/>
            </a:pPr>
            <a:r>
              <a:rPr lang="en-US" sz="1250" i="1" dirty="0">
                <a:solidFill>
                  <a:schemeClr val="accent5"/>
                </a:solidFill>
              </a:rPr>
              <a:t>Three steps from here, each ending in a demo to this forum and a stop / continue gate.</a:t>
            </a:r>
            <a:endParaRPr lang="en-US" sz="1250" dirty="0"/>
          </a:p>
        </p:txBody>
      </p:sp>
      <p:sp>
        <p:nvSpPr>
          <p:cNvPr id="25" name="In place today panel"/>
          <p:cNvSpPr/>
          <p:nvPr/>
        </p:nvSpPr>
        <p:spPr>
          <a:xfrm>
            <a:off x="548640" y="4498848"/>
            <a:ext cx="5364328" cy="1810512"/>
          </a:xfrm>
          <a:prstGeom prst="roundRect">
            <a:avLst>
              <a:gd name="adj" fmla="val 2020"/>
            </a:avLst>
          </a:prstGeom>
          <a:solidFill>
            <a:srgbClr val="FFFFFF"/>
          </a:solidFill>
          <a:ln w="9525">
            <a:solidFill>
              <a:srgbClr val="D9DBDF"/>
            </a:solidFill>
            <a:prstDash val="solid"/>
          </a:ln>
        </p:spPr>
      </p:sp>
      <p:sp>
        <p:nvSpPr>
          <p:cNvPr id="26" name="In place today"/>
          <p:cNvSpPr txBox="1"/>
          <p:nvPr/>
        </p:nvSpPr>
        <p:spPr>
          <a:xfrm>
            <a:off x="749808" y="4645152"/>
            <a:ext cx="4961992" cy="274320"/>
          </a:xfrm>
          <a:prstGeom prst="rect">
            <a:avLst/>
          </a:prstGeom>
          <a:noFill/>
          <a:ln/>
        </p:spPr>
        <p:txBody>
          <a:bodyPr wrap="square" lIns="0" tIns="0" rIns="0" bIns="0" rtlCol="0" anchor="t"/>
          <a:lstStyle/>
          <a:p>
            <a:pPr indent="0" marL="0">
              <a:buNone/>
            </a:pPr>
            <a:r>
              <a:rPr lang="en-US" sz="1500" b="1" dirty="0">
                <a:solidFill>
                  <a:schemeClr val="accent2"/>
                </a:solidFill>
              </a:rPr>
              <a:t>In place today</a:t>
            </a:r>
            <a:endParaRPr lang="en-US" sz="1500" dirty="0"/>
          </a:p>
        </p:txBody>
      </p:sp>
      <p:sp>
        <p:nvSpPr>
          <p:cNvPr id="27" name="In place today items"/>
          <p:cNvSpPr txBox="1"/>
          <p:nvPr/>
        </p:nvSpPr>
        <p:spPr>
          <a:xfrm>
            <a:off x="749808" y="4956048"/>
            <a:ext cx="4961992" cy="124358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ELK, Grafana, AppDynamics, DX UIM, SolarWinds and Moogsoft in production — the sensors and the correlator</a:t>
            </a:r>
            <a:endParaRPr lang="en-US" sz="1200" dirty="0"/>
          </a:p>
          <a:p>
            <a:pPr marL="152400" indent="-152400">
              <a:spcAft>
                <a:spcPts val="300"/>
              </a:spcAft>
              <a:buSzPct val="100000"/>
              <a:buChar char="•"/>
            </a:pPr>
            <a:r>
              <a:rPr lang="en-US" sz="1200" dirty="0">
                <a:solidFill>
                  <a:schemeClr val="tx1"/>
                </a:solidFill>
              </a:rPr>
              <a:t>Event-driven Ansible proven end to end; alert-as-code schema and RACI routing designed; Backstage IDP in use</a:t>
            </a:r>
            <a:endParaRPr lang="en-US" sz="1200" dirty="0"/>
          </a:p>
          <a:p>
            <a:pPr marL="152400" indent="-152400">
              <a:spcAft>
                <a:spcPts val="300"/>
              </a:spcAft>
              <a:buSzPct val="100000"/>
              <a:buChar char="•"/>
            </a:pPr>
            <a:r>
              <a:rPr lang="en-US" sz="1200" dirty="0">
                <a:solidFill>
                  <a:schemeClr val="tx1"/>
                </a:solidFill>
              </a:rPr>
              <a:t>Fleet Commander prototype: three pages, twenty services, admission gate, MAS clocks — a decision on what to build, not a sketch</a:t>
            </a:r>
            <a:endParaRPr lang="en-US" sz="1200" dirty="0"/>
          </a:p>
        </p:txBody>
      </p:sp>
      <p:sp>
        <p:nvSpPr>
          <p:cNvPr id="28" name="Not yet panel"/>
          <p:cNvSpPr/>
          <p:nvPr/>
        </p:nvSpPr>
        <p:spPr>
          <a:xfrm>
            <a:off x="6278728" y="4498848"/>
            <a:ext cx="5364328" cy="1810512"/>
          </a:xfrm>
          <a:prstGeom prst="roundRect">
            <a:avLst>
              <a:gd name="adj" fmla="val 2020"/>
            </a:avLst>
          </a:prstGeom>
          <a:solidFill>
            <a:srgbClr val="FFFFFF"/>
          </a:solidFill>
          <a:ln w="9525">
            <a:solidFill>
              <a:srgbClr val="D9DBDF"/>
            </a:solidFill>
            <a:prstDash val="solid"/>
          </a:ln>
        </p:spPr>
      </p:sp>
      <p:sp>
        <p:nvSpPr>
          <p:cNvPr id="29" name="Not yet"/>
          <p:cNvSpPr txBox="1"/>
          <p:nvPr/>
        </p:nvSpPr>
        <p:spPr>
          <a:xfrm>
            <a:off x="6479896" y="4645152"/>
            <a:ext cx="4961992" cy="274320"/>
          </a:xfrm>
          <a:prstGeom prst="rect">
            <a:avLst/>
          </a:prstGeom>
          <a:noFill/>
          <a:ln/>
        </p:spPr>
        <p:txBody>
          <a:bodyPr wrap="square" lIns="0" tIns="0" rIns="0" bIns="0" rtlCol="0" anchor="t"/>
          <a:lstStyle/>
          <a:p>
            <a:pPr indent="0" marL="0">
              <a:buNone/>
            </a:pPr>
            <a:r>
              <a:rPr lang="en-US" sz="1500" b="1" dirty="0">
                <a:solidFill>
                  <a:schemeClr val="accent4"/>
                </a:solidFill>
              </a:rPr>
              <a:t>Not yet</a:t>
            </a:r>
            <a:endParaRPr lang="en-US" sz="1500" dirty="0"/>
          </a:p>
        </p:txBody>
      </p:sp>
      <p:sp>
        <p:nvSpPr>
          <p:cNvPr id="30" name="Not yet items"/>
          <p:cNvSpPr txBox="1"/>
          <p:nvPr/>
        </p:nvSpPr>
        <p:spPr>
          <a:xfrm>
            <a:off x="6479896" y="4956048"/>
            <a:ext cx="4961992" cy="124358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chemeClr val="tx1"/>
                </a:solidFill>
              </a:rPr>
              <a:t>No fleet-wide SLOs or error budgets; no SLI store, so burn rate is not computed anywhere</a:t>
            </a:r>
            <a:endParaRPr lang="en-US" sz="1200" dirty="0"/>
          </a:p>
          <a:p>
            <a:pPr marL="152400" indent="-152400">
              <a:spcAft>
                <a:spcPts val="300"/>
              </a:spcAft>
              <a:buSzPct val="100000"/>
              <a:buChar char="•"/>
            </a:pPr>
            <a:r>
              <a:rPr lang="en-US" sz="1200" dirty="0">
                <a:solidFill>
                  <a:schemeClr val="tx1"/>
                </a:solidFill>
              </a:rPr>
              <a:t>Incident handling is ticket-driven — ServiceNow first, business impact second; no signed runbook catalogue or automation governance</a:t>
            </a:r>
            <a:endParaRPr lang="en-US" sz="1200" dirty="0"/>
          </a:p>
          <a:p>
            <a:pPr marL="152400" indent="-152400">
              <a:spcAft>
                <a:spcPts val="300"/>
              </a:spcAft>
              <a:buSzPct val="100000"/>
              <a:buChar char="•"/>
            </a:pPr>
            <a:r>
              <a:rPr lang="en-US" sz="1200" dirty="0">
                <a:solidFill>
                  <a:schemeClr val="tx1"/>
                </a:solidFill>
              </a:rPr>
              <a:t>No incident-record contract between ServiceNow and a cockpit; the prototype runs on simulated telemetry, not production feeds</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mark"/>
          <p:cNvSpPr/>
          <p:nvPr/>
        </p:nvSpPr>
        <p:spPr>
          <a:xfrm>
            <a:off x="548640" y="452628"/>
            <a:ext cx="91440" cy="91440"/>
          </a:xfrm>
          <a:prstGeom prst="rect">
            <a:avLst/>
          </a:prstGeom>
          <a:solidFill>
            <a:schemeClr val="accent1"/>
          </a:solidFill>
          <a:ln w="12700">
            <a:solidFill>
              <a:schemeClr val="accent1"/>
            </a:solidFill>
            <a:prstDash val="solid"/>
          </a:ln>
        </p:spPr>
      </p:sp>
      <p:sp>
        <p:nvSpPr>
          <p:cNvPr id="3" name="eyebrow WHAT THE PLATFORM TEAM NEEDS"/>
          <p:cNvSpPr txBox="1"/>
          <p:nvPr/>
        </p:nvSpPr>
        <p:spPr>
          <a:xfrm>
            <a:off x="713232" y="384048"/>
            <a:ext cx="5486400" cy="228600"/>
          </a:xfrm>
          <a:prstGeom prst="rect">
            <a:avLst/>
          </a:prstGeom>
          <a:noFill/>
          <a:ln/>
        </p:spPr>
        <p:txBody>
          <a:bodyPr wrap="square" lIns="0" tIns="0" rIns="0" bIns="0" rtlCol="0" anchor="ctr"/>
          <a:lstStyle/>
          <a:p>
            <a:pPr indent="0" marL="0">
              <a:buNone/>
            </a:pPr>
            <a:r>
              <a:rPr lang="en-US" sz="950" b="1" spc="150" kern="0" dirty="0">
                <a:solidFill>
                  <a:schemeClr val="accent5"/>
                </a:solidFill>
                <a:latin typeface="Courier New" pitchFamily="34" charset="0"/>
                <a:ea typeface="Courier New" pitchFamily="34" charset="-122"/>
                <a:cs typeface="Courier New" pitchFamily="34" charset="-120"/>
              </a:rPr>
              <a:t>WHAT THE PLATFORM TEAM NEEDS</a:t>
            </a:r>
            <a:endParaRPr lang="en-US" sz="950" dirty="0"/>
          </a:p>
        </p:txBody>
      </p:sp>
      <p:sp>
        <p:nvSpPr>
          <p:cNvPr id="4"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lnSpc>
                <a:spcPct val="100000"/>
              </a:lnSpc>
              <a:buNone/>
            </a:pPr>
            <a:r>
              <a:rPr lang="en-US" sz="2600" b="1" dirty="0">
                <a:solidFill>
                  <a:schemeClr val="tx1"/>
                </a:solidFill>
              </a:rPr>
              <a:t>To build it, the platform team needs a dedicated squad, protected time and three decisions from this table</a:t>
            </a:r>
            <a:endParaRPr lang="en-US" sz="2600" dirty="0"/>
          </a:p>
        </p:txBody>
      </p:sp>
      <p:sp>
        <p:nvSpPr>
          <p:cNvPr id="5" name="card People — a squad of six for 24 months"/>
          <p:cNvSpPr/>
          <p:nvPr/>
        </p:nvSpPr>
        <p:spPr>
          <a:xfrm>
            <a:off x="548640" y="1810512"/>
            <a:ext cx="5410048" cy="2103120"/>
          </a:xfrm>
          <a:prstGeom prst="roundRect">
            <a:avLst>
              <a:gd name="adj" fmla="val 1739"/>
            </a:avLst>
          </a:prstGeom>
          <a:solidFill>
            <a:schemeClr val="bg2"/>
          </a:solidFill>
          <a:ln w="12700">
            <a:solidFill>
              <a:srgbClr val="F3F4F6"/>
            </a:solidFill>
            <a:prstDash val="solid"/>
          </a:ln>
        </p:spPr>
      </p:sp>
      <p:sp>
        <p:nvSpPr>
          <p:cNvPr id="6" name="icon circle 0"/>
          <p:cNvSpPr/>
          <p:nvPr/>
        </p:nvSpPr>
        <p:spPr>
          <a:xfrm>
            <a:off x="749808" y="2011680"/>
            <a:ext cx="457200" cy="457200"/>
          </a:xfrm>
          <a:prstGeom prst="ellipse">
            <a:avLst/>
          </a:prstGeom>
          <a:solidFill>
            <a:schemeClr val="accent1"/>
          </a:solidFill>
          <a:ln w="12700">
            <a:solidFill>
              <a:schemeClr val="accent1"/>
            </a:solidFill>
            <a:prstDash val="solid"/>
          </a:ln>
        </p:spPr>
      </p:sp>
      <p:pic>
        <p:nvPicPr>
          <p:cNvPr id="7" name="icon 0" descr="preencoded.png">    </p:cNvPr>
          <p:cNvPicPr>
            <a:picLocks noChangeAspect="1"/>
          </p:cNvPicPr>
          <p:nvPr/>
        </p:nvPicPr>
        <p:blipFill>
          <a:blip r:embed="rId1"/>
          <a:stretch>
            <a:fillRect/>
          </a:stretch>
        </p:blipFill>
        <p:spPr>
          <a:xfrm>
            <a:off x="850392" y="2112264"/>
            <a:ext cx="256032" cy="256032"/>
          </a:xfrm>
          <a:prstGeom prst="rect">
            <a:avLst/>
          </a:prstGeom>
        </p:spPr>
      </p:pic>
      <p:sp>
        <p:nvSpPr>
          <p:cNvPr id="8" name="People — a squad of six for 24 months"/>
          <p:cNvSpPr txBox="1"/>
          <p:nvPr/>
        </p:nvSpPr>
        <p:spPr>
          <a:xfrm>
            <a:off x="1335024" y="1993392"/>
            <a:ext cx="4404208" cy="493776"/>
          </a:xfrm>
          <a:prstGeom prst="rect">
            <a:avLst/>
          </a:prstGeom>
          <a:noFill/>
          <a:ln/>
        </p:spPr>
        <p:txBody>
          <a:bodyPr wrap="square" lIns="0" tIns="0" rIns="0" bIns="0" rtlCol="0" anchor="ctr"/>
          <a:lstStyle/>
          <a:p>
            <a:pPr indent="0" marL="0">
              <a:buNone/>
            </a:pPr>
            <a:r>
              <a:rPr lang="en-US" sz="1550" b="1" dirty="0">
                <a:solidFill>
                  <a:schemeClr val="tx1"/>
                </a:solidFill>
              </a:rPr>
              <a:t>People — a squad of six for 24 months</a:t>
            </a:r>
            <a:endParaRPr lang="en-US" sz="1550" dirty="0"/>
          </a:p>
        </p:txBody>
      </p:sp>
      <p:sp>
        <p:nvSpPr>
          <p:cNvPr id="9" name="People — a squad of six for 24 months items"/>
          <p:cNvSpPr txBox="1"/>
          <p:nvPr/>
        </p:nvSpPr>
        <p:spPr>
          <a:xfrm>
            <a:off x="749808" y="2578608"/>
            <a:ext cx="5007712" cy="1225296"/>
          </a:xfrm>
          <a:prstGeom prst="rect">
            <a:avLst/>
          </a:prstGeom>
          <a:noFill/>
          <a:ln/>
        </p:spPr>
        <p:txBody>
          <a:bodyPr wrap="square" lIns="0" tIns="0" rIns="0" bIns="0" rtlCol="0" anchor="t"/>
          <a:lstStyle/>
          <a:p>
            <a:pPr marL="152400" indent="-152400">
              <a:spcAft>
                <a:spcPts val="300"/>
              </a:spcAft>
              <a:buSzPct val="100000"/>
              <a:buChar char="•"/>
            </a:pPr>
            <a:r>
              <a:rPr lang="en-US" sz="1250" dirty="0">
                <a:solidFill>
                  <a:schemeClr val="tx1"/>
                </a:solidFill>
              </a:rPr>
              <a:t>Six full-time: an SRE product lead, two SLI/SLO engineers (Elastic transforms, OpenTelemetry), a front-end engineer (React, Canvas), an automation engineer (EDA, Ansible, ArgoCD) and a data and platform engineer (Elasticsearch, Kafka)</a:t>
            </a:r>
            <a:endParaRPr lang="en-US" sz="1250" dirty="0"/>
          </a:p>
          <a:p>
            <a:pPr marL="152400" indent="-152400">
              <a:spcAft>
                <a:spcPts val="300"/>
              </a:spcAft>
              <a:buSzPct val="100000"/>
              <a:buChar char="•"/>
            </a:pPr>
            <a:r>
              <a:rPr lang="en-US" sz="1250" dirty="0">
                <a:solidFill>
                  <a:schemeClr val="tx1"/>
                </a:solidFill>
              </a:rPr>
              <a:t>Part-time: a Risk &amp; Compliance liaison, a ServiceNow engineer, and a UX designer for the first two quarters</a:t>
            </a:r>
            <a:endParaRPr lang="en-US" sz="1250" dirty="0"/>
          </a:p>
        </p:txBody>
      </p:sp>
      <p:sp>
        <p:nvSpPr>
          <p:cNvPr id="10" name="card Time — ring-fenced from BAU"/>
          <p:cNvSpPr/>
          <p:nvPr/>
        </p:nvSpPr>
        <p:spPr>
          <a:xfrm>
            <a:off x="6233008" y="1810512"/>
            <a:ext cx="5410048" cy="2103120"/>
          </a:xfrm>
          <a:prstGeom prst="roundRect">
            <a:avLst>
              <a:gd name="adj" fmla="val 1739"/>
            </a:avLst>
          </a:prstGeom>
          <a:solidFill>
            <a:schemeClr val="bg2"/>
          </a:solidFill>
          <a:ln w="12700">
            <a:solidFill>
              <a:srgbClr val="F3F4F6"/>
            </a:solidFill>
            <a:prstDash val="solid"/>
          </a:ln>
        </p:spPr>
      </p:sp>
      <p:sp>
        <p:nvSpPr>
          <p:cNvPr id="11" name="icon circle 1"/>
          <p:cNvSpPr/>
          <p:nvPr/>
        </p:nvSpPr>
        <p:spPr>
          <a:xfrm>
            <a:off x="6434176" y="2011680"/>
            <a:ext cx="457200" cy="457200"/>
          </a:xfrm>
          <a:prstGeom prst="ellipse">
            <a:avLst/>
          </a:prstGeom>
          <a:solidFill>
            <a:schemeClr val="accent1"/>
          </a:solidFill>
          <a:ln w="12700">
            <a:solidFill>
              <a:schemeClr val="accent1"/>
            </a:solidFill>
            <a:prstDash val="solid"/>
          </a:ln>
        </p:spPr>
      </p:sp>
      <p:pic>
        <p:nvPicPr>
          <p:cNvPr id="12" name="icon 1" descr="preencoded.png">    </p:cNvPr>
          <p:cNvPicPr>
            <a:picLocks noChangeAspect="1"/>
          </p:cNvPicPr>
          <p:nvPr/>
        </p:nvPicPr>
        <p:blipFill>
          <a:blip r:embed="rId2"/>
          <a:stretch>
            <a:fillRect/>
          </a:stretch>
        </p:blipFill>
        <p:spPr>
          <a:xfrm>
            <a:off x="6534760" y="2112264"/>
            <a:ext cx="256032" cy="256032"/>
          </a:xfrm>
          <a:prstGeom prst="rect">
            <a:avLst/>
          </a:prstGeom>
        </p:spPr>
      </p:pic>
      <p:sp>
        <p:nvSpPr>
          <p:cNvPr id="13" name="Time — ring-fenced from BAU"/>
          <p:cNvSpPr txBox="1"/>
          <p:nvPr/>
        </p:nvSpPr>
        <p:spPr>
          <a:xfrm>
            <a:off x="7019392" y="1993392"/>
            <a:ext cx="4404208" cy="493776"/>
          </a:xfrm>
          <a:prstGeom prst="rect">
            <a:avLst/>
          </a:prstGeom>
          <a:noFill/>
          <a:ln/>
        </p:spPr>
        <p:txBody>
          <a:bodyPr wrap="square" lIns="0" tIns="0" rIns="0" bIns="0" rtlCol="0" anchor="ctr"/>
          <a:lstStyle/>
          <a:p>
            <a:pPr indent="0" marL="0">
              <a:buNone/>
            </a:pPr>
            <a:r>
              <a:rPr lang="en-US" sz="1550" b="1" dirty="0">
                <a:solidFill>
                  <a:schemeClr val="tx1"/>
                </a:solidFill>
              </a:rPr>
              <a:t>Time — ring-fenced from BAU</a:t>
            </a:r>
            <a:endParaRPr lang="en-US" sz="1550" dirty="0"/>
          </a:p>
        </p:txBody>
      </p:sp>
      <p:sp>
        <p:nvSpPr>
          <p:cNvPr id="14" name="Time — ring-fenced from BAU items"/>
          <p:cNvSpPr txBox="1"/>
          <p:nvPr/>
        </p:nvSpPr>
        <p:spPr>
          <a:xfrm>
            <a:off x="6434176" y="2578608"/>
            <a:ext cx="5007712" cy="1225296"/>
          </a:xfrm>
          <a:prstGeom prst="rect">
            <a:avLst/>
          </a:prstGeom>
          <a:noFill/>
          <a:ln/>
        </p:spPr>
        <p:txBody>
          <a:bodyPr wrap="square" lIns="0" tIns="0" rIns="0" bIns="0" rtlCol="0" anchor="t"/>
          <a:lstStyle/>
          <a:p>
            <a:pPr marL="152400" indent="-152400">
              <a:spcAft>
                <a:spcPts val="300"/>
              </a:spcAft>
              <a:buSzPct val="100000"/>
              <a:buChar char="•"/>
            </a:pPr>
            <a:r>
              <a:rPr lang="en-US" sz="1250" dirty="0">
                <a:solidFill>
                  <a:schemeClr val="tx1"/>
                </a:solidFill>
              </a:rPr>
              <a:t>The six are off the on-call rota and BAU queues for the first four quarters</a:t>
            </a:r>
            <a:endParaRPr lang="en-US" sz="1250" dirty="0"/>
          </a:p>
          <a:p>
            <a:pPr marL="152400" indent="-152400">
              <a:spcAft>
                <a:spcPts val="300"/>
              </a:spcAft>
              <a:buSzPct val="100000"/>
              <a:buChar char="•"/>
            </a:pPr>
            <a:r>
              <a:rPr lang="en-US" sz="1250" dirty="0">
                <a:solidFill>
                  <a:schemeClr val="tx1"/>
                </a:solidFill>
              </a:rPr>
              <a:t>A TCC commander seconded one day a week as product owner</a:t>
            </a:r>
            <a:endParaRPr lang="en-US" sz="1250" dirty="0"/>
          </a:p>
          <a:p>
            <a:pPr marL="152400" indent="-152400">
              <a:spcAft>
                <a:spcPts val="300"/>
              </a:spcAft>
              <a:buSzPct val="100000"/>
              <a:buChar char="•"/>
            </a:pPr>
            <a:r>
              <a:rPr lang="en-US" sz="1250" dirty="0">
                <a:solidFill>
                  <a:schemeClr val="tx1"/>
                </a:solidFill>
              </a:rPr>
              <a:t>Quarterly demo to this forum with a stop / continue gate at each one</a:t>
            </a:r>
            <a:endParaRPr lang="en-US" sz="1250" dirty="0"/>
          </a:p>
        </p:txBody>
      </p:sp>
      <p:sp>
        <p:nvSpPr>
          <p:cNvPr id="15" name="card Budget — sized in the Q4 2026 business case"/>
          <p:cNvSpPr/>
          <p:nvPr/>
        </p:nvSpPr>
        <p:spPr>
          <a:xfrm>
            <a:off x="548640" y="4096512"/>
            <a:ext cx="5410048" cy="2103120"/>
          </a:xfrm>
          <a:prstGeom prst="roundRect">
            <a:avLst>
              <a:gd name="adj" fmla="val 1739"/>
            </a:avLst>
          </a:prstGeom>
          <a:solidFill>
            <a:schemeClr val="bg2"/>
          </a:solidFill>
          <a:ln w="12700">
            <a:solidFill>
              <a:srgbClr val="F3F4F6"/>
            </a:solidFill>
            <a:prstDash val="solid"/>
          </a:ln>
        </p:spPr>
      </p:sp>
      <p:sp>
        <p:nvSpPr>
          <p:cNvPr id="16" name="icon circle 2"/>
          <p:cNvSpPr/>
          <p:nvPr/>
        </p:nvSpPr>
        <p:spPr>
          <a:xfrm>
            <a:off x="749808" y="4297680"/>
            <a:ext cx="457200" cy="457200"/>
          </a:xfrm>
          <a:prstGeom prst="ellipse">
            <a:avLst/>
          </a:prstGeom>
          <a:solidFill>
            <a:schemeClr val="accent1"/>
          </a:solidFill>
          <a:ln w="12700">
            <a:solidFill>
              <a:schemeClr val="accent1"/>
            </a:solidFill>
            <a:prstDash val="solid"/>
          </a:ln>
        </p:spPr>
      </p:sp>
      <p:pic>
        <p:nvPicPr>
          <p:cNvPr id="17" name="icon 2" descr="preencoded.png">    </p:cNvPr>
          <p:cNvPicPr>
            <a:picLocks noChangeAspect="1"/>
          </p:cNvPicPr>
          <p:nvPr/>
        </p:nvPicPr>
        <p:blipFill>
          <a:blip r:embed="rId3"/>
          <a:stretch>
            <a:fillRect/>
          </a:stretch>
        </p:blipFill>
        <p:spPr>
          <a:xfrm>
            <a:off x="850392" y="4398264"/>
            <a:ext cx="256032" cy="256032"/>
          </a:xfrm>
          <a:prstGeom prst="rect">
            <a:avLst/>
          </a:prstGeom>
        </p:spPr>
      </p:pic>
      <p:sp>
        <p:nvSpPr>
          <p:cNvPr id="18" name="Budget — sized in the Q4 2026 business case"/>
          <p:cNvSpPr txBox="1"/>
          <p:nvPr/>
        </p:nvSpPr>
        <p:spPr>
          <a:xfrm>
            <a:off x="1335024" y="4279392"/>
            <a:ext cx="4404208" cy="493776"/>
          </a:xfrm>
          <a:prstGeom prst="rect">
            <a:avLst/>
          </a:prstGeom>
          <a:noFill/>
          <a:ln/>
        </p:spPr>
        <p:txBody>
          <a:bodyPr wrap="square" lIns="0" tIns="0" rIns="0" bIns="0" rtlCol="0" anchor="ctr"/>
          <a:lstStyle/>
          <a:p>
            <a:pPr indent="0" marL="0">
              <a:buNone/>
            </a:pPr>
            <a:r>
              <a:rPr lang="en-US" sz="1550" b="1" dirty="0">
                <a:solidFill>
                  <a:schemeClr val="tx1"/>
                </a:solidFill>
              </a:rPr>
              <a:t>Budget — sized in the Q4 2026 business case</a:t>
            </a:r>
            <a:endParaRPr lang="en-US" sz="1550" dirty="0"/>
          </a:p>
        </p:txBody>
      </p:sp>
      <p:sp>
        <p:nvSpPr>
          <p:cNvPr id="19" name="Budget — sized in the Q4 2026 business case items"/>
          <p:cNvSpPr txBox="1"/>
          <p:nvPr/>
        </p:nvSpPr>
        <p:spPr>
          <a:xfrm>
            <a:off x="749808" y="4864608"/>
            <a:ext cx="5007712" cy="1225296"/>
          </a:xfrm>
          <a:prstGeom prst="rect">
            <a:avLst/>
          </a:prstGeom>
          <a:noFill/>
          <a:ln/>
        </p:spPr>
        <p:txBody>
          <a:bodyPr wrap="square" lIns="0" tIns="0" rIns="0" bIns="0" rtlCol="0" anchor="t"/>
          <a:lstStyle/>
          <a:p>
            <a:pPr marL="152400" indent="-152400">
              <a:spcAft>
                <a:spcPts val="300"/>
              </a:spcAft>
              <a:buSzPct val="100000"/>
              <a:buChar char="•"/>
            </a:pPr>
            <a:r>
              <a:rPr lang="en-US" sz="1250" dirty="0">
                <a:solidFill>
                  <a:schemeClr val="tx1"/>
                </a:solidFill>
              </a:rPr>
              <a:t>Elasticsearch capacity for the SLI store and the seven-year audit stream (hot 30 d → cold)</a:t>
            </a:r>
            <a:endParaRPr lang="en-US" sz="1250" dirty="0"/>
          </a:p>
          <a:p>
            <a:pPr marL="152400" indent="-152400">
              <a:spcAft>
                <a:spcPts val="300"/>
              </a:spcAft>
              <a:buSzPct val="100000"/>
              <a:buChar char="•"/>
            </a:pPr>
            <a:r>
              <a:rPr lang="en-US" sz="1250" dirty="0">
                <a:solidFill>
                  <a:schemeClr val="tx1"/>
                </a:solidFill>
              </a:rPr>
              <a:t>OpenShift / ECK capacity for the SLI aggregation service</a:t>
            </a:r>
            <a:endParaRPr lang="en-US" sz="1250" dirty="0"/>
          </a:p>
          <a:p>
            <a:pPr marL="152400" indent="-152400">
              <a:spcAft>
                <a:spcPts val="300"/>
              </a:spcAft>
              <a:buSzPct val="100000"/>
              <a:buChar char="•"/>
            </a:pPr>
            <a:r>
              <a:rPr lang="en-US" sz="1250" dirty="0">
                <a:solidFill>
                  <a:schemeClr val="tx1"/>
                </a:solidFill>
              </a:rPr>
              <a:t>Vendor API enablement (AppDynamics, Moogsoft, DX UIM, SolarWinds), TCC wall display, SLO training</a:t>
            </a:r>
            <a:endParaRPr lang="en-US" sz="1250" dirty="0"/>
          </a:p>
        </p:txBody>
      </p:sp>
      <p:sp>
        <p:nvSpPr>
          <p:cNvPr id="20" name="card Decisions — three we need now"/>
          <p:cNvSpPr/>
          <p:nvPr/>
        </p:nvSpPr>
        <p:spPr>
          <a:xfrm>
            <a:off x="6233008" y="4096512"/>
            <a:ext cx="5410048" cy="2103120"/>
          </a:xfrm>
          <a:prstGeom prst="roundRect">
            <a:avLst>
              <a:gd name="adj" fmla="val 1739"/>
            </a:avLst>
          </a:prstGeom>
          <a:solidFill>
            <a:schemeClr val="bg2"/>
          </a:solidFill>
          <a:ln w="12700">
            <a:solidFill>
              <a:srgbClr val="F3F4F6"/>
            </a:solidFill>
            <a:prstDash val="solid"/>
          </a:ln>
        </p:spPr>
      </p:sp>
      <p:sp>
        <p:nvSpPr>
          <p:cNvPr id="21" name="icon circle 3"/>
          <p:cNvSpPr/>
          <p:nvPr/>
        </p:nvSpPr>
        <p:spPr>
          <a:xfrm>
            <a:off x="6434176" y="4297680"/>
            <a:ext cx="457200" cy="457200"/>
          </a:xfrm>
          <a:prstGeom prst="ellipse">
            <a:avLst/>
          </a:prstGeom>
          <a:solidFill>
            <a:schemeClr val="accent1"/>
          </a:solidFill>
          <a:ln w="12700">
            <a:solidFill>
              <a:schemeClr val="accent1"/>
            </a:solidFill>
            <a:prstDash val="solid"/>
          </a:ln>
        </p:spPr>
      </p:sp>
      <p:pic>
        <p:nvPicPr>
          <p:cNvPr id="22" name="icon 3" descr="preencoded.png">    </p:cNvPr>
          <p:cNvPicPr>
            <a:picLocks noChangeAspect="1"/>
          </p:cNvPicPr>
          <p:nvPr/>
        </p:nvPicPr>
        <p:blipFill>
          <a:blip r:embed="rId4"/>
          <a:stretch>
            <a:fillRect/>
          </a:stretch>
        </p:blipFill>
        <p:spPr>
          <a:xfrm>
            <a:off x="6534760" y="4398264"/>
            <a:ext cx="256032" cy="256032"/>
          </a:xfrm>
          <a:prstGeom prst="rect">
            <a:avLst/>
          </a:prstGeom>
        </p:spPr>
      </p:pic>
      <p:sp>
        <p:nvSpPr>
          <p:cNvPr id="23" name="Decisions — three we need now"/>
          <p:cNvSpPr txBox="1"/>
          <p:nvPr/>
        </p:nvSpPr>
        <p:spPr>
          <a:xfrm>
            <a:off x="7019392" y="4279392"/>
            <a:ext cx="4404208" cy="493776"/>
          </a:xfrm>
          <a:prstGeom prst="rect">
            <a:avLst/>
          </a:prstGeom>
          <a:noFill/>
          <a:ln/>
        </p:spPr>
        <p:txBody>
          <a:bodyPr wrap="square" lIns="0" tIns="0" rIns="0" bIns="0" rtlCol="0" anchor="ctr"/>
          <a:lstStyle/>
          <a:p>
            <a:pPr indent="0" marL="0">
              <a:buNone/>
            </a:pPr>
            <a:r>
              <a:rPr lang="en-US" sz="1550" b="1" dirty="0">
                <a:solidFill>
                  <a:schemeClr val="tx1"/>
                </a:solidFill>
              </a:rPr>
              <a:t>Decisions — three we need now</a:t>
            </a:r>
            <a:endParaRPr lang="en-US" sz="1550" dirty="0"/>
          </a:p>
        </p:txBody>
      </p:sp>
      <p:sp>
        <p:nvSpPr>
          <p:cNvPr id="24" name="Decisions — three we need now items"/>
          <p:cNvSpPr txBox="1"/>
          <p:nvPr/>
        </p:nvSpPr>
        <p:spPr>
          <a:xfrm>
            <a:off x="6434176" y="4864608"/>
            <a:ext cx="5007712" cy="1225296"/>
          </a:xfrm>
          <a:prstGeom prst="rect">
            <a:avLst/>
          </a:prstGeom>
          <a:noFill/>
          <a:ln/>
        </p:spPr>
        <p:txBody>
          <a:bodyPr wrap="square" lIns="0" tIns="0" rIns="0" bIns="0" rtlCol="0" anchor="t"/>
          <a:lstStyle/>
          <a:p>
            <a:pPr marL="152400" indent="-152400">
              <a:spcAft>
                <a:spcPts val="300"/>
              </a:spcAft>
              <a:buSzPct val="100000"/>
              <a:buChar char="•"/>
            </a:pPr>
            <a:r>
              <a:rPr lang="en-US" sz="1250" dirty="0">
                <a:solidFill>
                  <a:schemeClr val="tx1"/>
                </a:solidFill>
              </a:rPr>
              <a:t>Every Tier-1 service has a named owner and an agreed SLO by the end of Q1 2027</a:t>
            </a:r>
            <a:endParaRPr lang="en-US" sz="1250" dirty="0"/>
          </a:p>
          <a:p>
            <a:pPr marL="152400" indent="-152400">
              <a:spcAft>
                <a:spcPts val="300"/>
              </a:spcAft>
              <a:buSzPct val="100000"/>
              <a:buChar char="•"/>
            </a:pPr>
            <a:r>
              <a:rPr lang="en-US" sz="1250" dirty="0">
                <a:solidFill>
                  <a:schemeClr val="tx1"/>
                </a:solidFill>
              </a:rPr>
              <a:t>Pre-approved runbooks in a signed catalogue may execute under four-eyes without a per-run CAB; freeze windows still hard-block</a:t>
            </a:r>
            <a:endParaRPr lang="en-US" sz="1250" dirty="0"/>
          </a:p>
          <a:p>
            <a:pPr marL="152400" indent="-152400">
              <a:spcAft>
                <a:spcPts val="300"/>
              </a:spcAft>
              <a:buSzPct val="100000"/>
              <a:buChar char="•"/>
            </a:pPr>
            <a:r>
              <a:rPr lang="en-US" sz="1250" dirty="0">
                <a:solidFill>
                  <a:schemeClr val="tx1"/>
                </a:solidFill>
              </a:rPr>
              <a:t>ServiceNow remains the incident record of truth, with a published contract to the cockpit (INC, CHG, PRB, IC assignment)</a:t>
            </a:r>
            <a:endParaRPr lang="en-US" sz="12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mark"/>
          <p:cNvSpPr/>
          <p:nvPr/>
        </p:nvSpPr>
        <p:spPr>
          <a:xfrm>
            <a:off x="548640" y="452628"/>
            <a:ext cx="91440" cy="91440"/>
          </a:xfrm>
          <a:prstGeom prst="rect">
            <a:avLst/>
          </a:prstGeom>
          <a:solidFill>
            <a:schemeClr val="accent1"/>
          </a:solidFill>
          <a:ln w="12700">
            <a:solidFill>
              <a:schemeClr val="accent1"/>
            </a:solidFill>
            <a:prstDash val="solid"/>
          </a:ln>
        </p:spPr>
      </p:sp>
      <p:sp>
        <p:nvSpPr>
          <p:cNvPr id="3" name="eyebrow ARCHITECTURE AND SOLUTION"/>
          <p:cNvSpPr txBox="1"/>
          <p:nvPr/>
        </p:nvSpPr>
        <p:spPr>
          <a:xfrm>
            <a:off x="713232" y="384048"/>
            <a:ext cx="5486400" cy="228600"/>
          </a:xfrm>
          <a:prstGeom prst="rect">
            <a:avLst/>
          </a:prstGeom>
          <a:noFill/>
          <a:ln/>
        </p:spPr>
        <p:txBody>
          <a:bodyPr wrap="square" lIns="0" tIns="0" rIns="0" bIns="0" rtlCol="0" anchor="ctr"/>
          <a:lstStyle/>
          <a:p>
            <a:pPr indent="0" marL="0">
              <a:buNone/>
            </a:pPr>
            <a:r>
              <a:rPr lang="en-US" sz="950" b="1" spc="150" kern="0" dirty="0">
                <a:solidFill>
                  <a:schemeClr val="accent5"/>
                </a:solidFill>
                <a:latin typeface="Courier New" pitchFamily="34" charset="0"/>
                <a:ea typeface="Courier New" pitchFamily="34" charset="-122"/>
                <a:cs typeface="Courier New" pitchFamily="34" charset="-120"/>
              </a:rPr>
              <a:t>ARCHITECTURE AND SOLUTION</a:t>
            </a:r>
            <a:endParaRPr lang="en-US" sz="950" dirty="0"/>
          </a:p>
        </p:txBody>
      </p:sp>
      <p:sp>
        <p:nvSpPr>
          <p:cNvPr id="4"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lnSpc>
                <a:spcPct val="100000"/>
              </a:lnSpc>
              <a:buNone/>
            </a:pPr>
            <a:r>
              <a:rPr lang="en-US" sz="2600" b="1" dirty="0">
                <a:solidFill>
                  <a:schemeClr val="tx1"/>
                </a:solidFill>
              </a:rPr>
              <a:t>The solution is a command plane on top of the tools we already run: nothing is replaced, and every action takes the same governed path</a:t>
            </a:r>
            <a:endParaRPr lang="en-US" sz="2600" dirty="0"/>
          </a:p>
        </p:txBody>
      </p:sp>
      <p:sp>
        <p:nvSpPr>
          <p:cNvPr id="5" name="band SENSE"/>
          <p:cNvSpPr txBox="1"/>
          <p:nvPr/>
        </p:nvSpPr>
        <p:spPr>
          <a:xfrm>
            <a:off x="548640" y="1810512"/>
            <a:ext cx="1371600" cy="658368"/>
          </a:xfrm>
          <a:prstGeom prst="rect">
            <a:avLst/>
          </a:prstGeom>
          <a:noFill/>
          <a:ln/>
        </p:spPr>
        <p:txBody>
          <a:bodyPr wrap="square" lIns="0" tIns="0" rIns="0" bIns="0" rtlCol="0" anchor="ctr"/>
          <a:lstStyle/>
          <a:p>
            <a:pPr indent="0" marL="0">
              <a:buNone/>
            </a:pPr>
            <a:r>
              <a:rPr lang="en-US" sz="950" b="1" spc="100" kern="0" dirty="0">
                <a:solidFill>
                  <a:schemeClr val="accent5"/>
                </a:solidFill>
                <a:latin typeface="Courier New" pitchFamily="34" charset="0"/>
                <a:ea typeface="Courier New" pitchFamily="34" charset="-122"/>
                <a:cs typeface="Courier New" pitchFamily="34" charset="-120"/>
              </a:rPr>
              <a:t>SENSE</a:t>
            </a:r>
            <a:endParaRPr lang="en-US" sz="950" dirty="0"/>
          </a:p>
        </p:txBody>
      </p:sp>
      <p:sp>
        <p:nvSpPr>
          <p:cNvPr id="6" name="box DX UIM"/>
          <p:cNvSpPr/>
          <p:nvPr/>
        </p:nvSpPr>
        <p:spPr>
          <a:xfrm>
            <a:off x="2057400" y="1810512"/>
            <a:ext cx="1363005" cy="658368"/>
          </a:xfrm>
          <a:prstGeom prst="roundRect">
            <a:avLst>
              <a:gd name="adj" fmla="val 5556"/>
            </a:avLst>
          </a:prstGeom>
          <a:solidFill>
            <a:srgbClr val="F3F4F6"/>
          </a:solidFill>
          <a:ln w="12700">
            <a:solidFill>
              <a:srgbClr val="F3F4F6"/>
            </a:solidFill>
            <a:prstDash val="solid"/>
          </a:ln>
        </p:spPr>
      </p:sp>
      <p:sp>
        <p:nvSpPr>
          <p:cNvPr id="7" name="box text DX UIM"/>
          <p:cNvSpPr txBox="1"/>
          <p:nvPr/>
        </p:nvSpPr>
        <p:spPr>
          <a:xfrm>
            <a:off x="2148840" y="1847088"/>
            <a:ext cx="1180125" cy="585216"/>
          </a:xfrm>
          <a:prstGeom prst="rect">
            <a:avLst/>
          </a:prstGeom>
          <a:noFill/>
          <a:ln/>
        </p:spPr>
        <p:txBody>
          <a:bodyPr wrap="square" lIns="0" tIns="0" rIns="0" bIns="0" rtlCol="0" anchor="ctr"/>
          <a:lstStyle/>
          <a:p>
            <a:pPr indent="0" marL="0">
              <a:buNone/>
            </a:pPr>
            <a:r>
              <a:rPr lang="en-US" sz="1050" b="1" dirty="0">
                <a:solidFill>
                  <a:schemeClr val="tx1"/>
                </a:solidFill>
              </a:rPr>
              <a:t>DX UIM</a:t>
            </a:r>
            <a:endParaRPr lang="en-US" sz="1050" dirty="0"/>
          </a:p>
          <a:p>
            <a:pPr indent="0" marL="0">
              <a:buNone/>
            </a:pPr>
            <a:r>
              <a:rPr lang="en-US" sz="900" dirty="0">
                <a:solidFill>
                  <a:schemeClr val="accent5"/>
                </a:solidFill>
              </a:rPr>
              <a:t>infrastructure</a:t>
            </a:r>
            <a:endParaRPr lang="en-US" sz="1050" dirty="0"/>
          </a:p>
        </p:txBody>
      </p:sp>
      <p:sp>
        <p:nvSpPr>
          <p:cNvPr id="8" name="box AppDynamics"/>
          <p:cNvSpPr/>
          <p:nvPr/>
        </p:nvSpPr>
        <p:spPr>
          <a:xfrm>
            <a:off x="3530133" y="1810512"/>
            <a:ext cx="1363005" cy="658368"/>
          </a:xfrm>
          <a:prstGeom prst="roundRect">
            <a:avLst>
              <a:gd name="adj" fmla="val 5556"/>
            </a:avLst>
          </a:prstGeom>
          <a:solidFill>
            <a:srgbClr val="F3F4F6"/>
          </a:solidFill>
          <a:ln w="12700">
            <a:solidFill>
              <a:srgbClr val="F3F4F6"/>
            </a:solidFill>
            <a:prstDash val="solid"/>
          </a:ln>
        </p:spPr>
      </p:sp>
      <p:sp>
        <p:nvSpPr>
          <p:cNvPr id="9" name="box text AppDynamics"/>
          <p:cNvSpPr txBox="1"/>
          <p:nvPr/>
        </p:nvSpPr>
        <p:spPr>
          <a:xfrm>
            <a:off x="3621573" y="1847088"/>
            <a:ext cx="1180125" cy="585216"/>
          </a:xfrm>
          <a:prstGeom prst="rect">
            <a:avLst/>
          </a:prstGeom>
          <a:noFill/>
          <a:ln/>
        </p:spPr>
        <p:txBody>
          <a:bodyPr wrap="square" lIns="0" tIns="0" rIns="0" bIns="0" rtlCol="0" anchor="ctr"/>
          <a:lstStyle/>
          <a:p>
            <a:pPr indent="0" marL="0">
              <a:buNone/>
            </a:pPr>
            <a:r>
              <a:rPr lang="en-US" sz="1050" b="1" dirty="0">
                <a:solidFill>
                  <a:schemeClr val="tx1"/>
                </a:solidFill>
              </a:rPr>
              <a:t>AppDynamics</a:t>
            </a:r>
            <a:endParaRPr lang="en-US" sz="1050" dirty="0"/>
          </a:p>
          <a:p>
            <a:pPr indent="0" marL="0">
              <a:buNone/>
            </a:pPr>
            <a:r>
              <a:rPr lang="en-US" sz="900" dirty="0">
                <a:solidFill>
                  <a:schemeClr val="accent5"/>
                </a:solidFill>
              </a:rPr>
              <a:t>applications</a:t>
            </a:r>
            <a:endParaRPr lang="en-US" sz="1050" dirty="0"/>
          </a:p>
        </p:txBody>
      </p:sp>
      <p:sp>
        <p:nvSpPr>
          <p:cNvPr id="10" name="box SolarWinds"/>
          <p:cNvSpPr/>
          <p:nvPr/>
        </p:nvSpPr>
        <p:spPr>
          <a:xfrm>
            <a:off x="5002865" y="1810512"/>
            <a:ext cx="1363005" cy="658368"/>
          </a:xfrm>
          <a:prstGeom prst="roundRect">
            <a:avLst>
              <a:gd name="adj" fmla="val 5556"/>
            </a:avLst>
          </a:prstGeom>
          <a:solidFill>
            <a:srgbClr val="F3F4F6"/>
          </a:solidFill>
          <a:ln w="12700">
            <a:solidFill>
              <a:srgbClr val="F3F4F6"/>
            </a:solidFill>
            <a:prstDash val="solid"/>
          </a:ln>
        </p:spPr>
      </p:sp>
      <p:sp>
        <p:nvSpPr>
          <p:cNvPr id="11" name="box text SolarWinds"/>
          <p:cNvSpPr txBox="1"/>
          <p:nvPr/>
        </p:nvSpPr>
        <p:spPr>
          <a:xfrm>
            <a:off x="5094305" y="1847088"/>
            <a:ext cx="1180125" cy="585216"/>
          </a:xfrm>
          <a:prstGeom prst="rect">
            <a:avLst/>
          </a:prstGeom>
          <a:noFill/>
          <a:ln/>
        </p:spPr>
        <p:txBody>
          <a:bodyPr wrap="square" lIns="0" tIns="0" rIns="0" bIns="0" rtlCol="0" anchor="ctr"/>
          <a:lstStyle/>
          <a:p>
            <a:pPr indent="0" marL="0">
              <a:buNone/>
            </a:pPr>
            <a:r>
              <a:rPr lang="en-US" sz="1050" b="1" dirty="0">
                <a:solidFill>
                  <a:schemeClr val="tx1"/>
                </a:solidFill>
              </a:rPr>
              <a:t>SolarWinds</a:t>
            </a:r>
            <a:endParaRPr lang="en-US" sz="1050" dirty="0"/>
          </a:p>
          <a:p>
            <a:pPr indent="0" marL="0">
              <a:buNone/>
            </a:pPr>
            <a:r>
              <a:rPr lang="en-US" sz="900" dirty="0">
                <a:solidFill>
                  <a:schemeClr val="accent5"/>
                </a:solidFill>
              </a:rPr>
              <a:t>network</a:t>
            </a:r>
            <a:endParaRPr lang="en-US" sz="1050" dirty="0"/>
          </a:p>
        </p:txBody>
      </p:sp>
      <p:sp>
        <p:nvSpPr>
          <p:cNvPr id="12" name="box ELK"/>
          <p:cNvSpPr/>
          <p:nvPr/>
        </p:nvSpPr>
        <p:spPr>
          <a:xfrm>
            <a:off x="6475598" y="1810512"/>
            <a:ext cx="1363005" cy="658368"/>
          </a:xfrm>
          <a:prstGeom prst="roundRect">
            <a:avLst>
              <a:gd name="adj" fmla="val 5556"/>
            </a:avLst>
          </a:prstGeom>
          <a:solidFill>
            <a:srgbClr val="F3F4F6"/>
          </a:solidFill>
          <a:ln w="12700">
            <a:solidFill>
              <a:srgbClr val="F3F4F6"/>
            </a:solidFill>
            <a:prstDash val="solid"/>
          </a:ln>
        </p:spPr>
      </p:sp>
      <p:sp>
        <p:nvSpPr>
          <p:cNvPr id="13" name="box text ELK"/>
          <p:cNvSpPr txBox="1"/>
          <p:nvPr/>
        </p:nvSpPr>
        <p:spPr>
          <a:xfrm>
            <a:off x="6567038" y="1847088"/>
            <a:ext cx="1180125" cy="585216"/>
          </a:xfrm>
          <a:prstGeom prst="rect">
            <a:avLst/>
          </a:prstGeom>
          <a:noFill/>
          <a:ln/>
        </p:spPr>
        <p:txBody>
          <a:bodyPr wrap="square" lIns="0" tIns="0" rIns="0" bIns="0" rtlCol="0" anchor="ctr"/>
          <a:lstStyle/>
          <a:p>
            <a:pPr indent="0" marL="0">
              <a:buNone/>
            </a:pPr>
            <a:r>
              <a:rPr lang="en-US" sz="1050" b="1" dirty="0">
                <a:solidFill>
                  <a:schemeClr val="tx1"/>
                </a:solidFill>
              </a:rPr>
              <a:t>ELK</a:t>
            </a:r>
            <a:endParaRPr lang="en-US" sz="1050" dirty="0"/>
          </a:p>
          <a:p>
            <a:pPr indent="0" marL="0">
              <a:buNone/>
            </a:pPr>
            <a:r>
              <a:rPr lang="en-US" sz="900" dirty="0">
                <a:solidFill>
                  <a:schemeClr val="accent5"/>
                </a:solidFill>
              </a:rPr>
              <a:t>logs</a:t>
            </a:r>
            <a:endParaRPr lang="en-US" sz="1050" dirty="0"/>
          </a:p>
        </p:txBody>
      </p:sp>
      <p:sp>
        <p:nvSpPr>
          <p:cNvPr id="14" name="box OpenTelemetry"/>
          <p:cNvSpPr/>
          <p:nvPr/>
        </p:nvSpPr>
        <p:spPr>
          <a:xfrm>
            <a:off x="7948331" y="1810512"/>
            <a:ext cx="1363005" cy="658368"/>
          </a:xfrm>
          <a:prstGeom prst="roundRect">
            <a:avLst>
              <a:gd name="adj" fmla="val 5556"/>
            </a:avLst>
          </a:prstGeom>
          <a:solidFill>
            <a:srgbClr val="F3F4F6"/>
          </a:solidFill>
          <a:ln w="12700">
            <a:solidFill>
              <a:srgbClr val="F3F4F6"/>
            </a:solidFill>
            <a:prstDash val="solid"/>
          </a:ln>
        </p:spPr>
      </p:sp>
      <p:sp>
        <p:nvSpPr>
          <p:cNvPr id="15" name="box text OpenTelemetry"/>
          <p:cNvSpPr txBox="1"/>
          <p:nvPr/>
        </p:nvSpPr>
        <p:spPr>
          <a:xfrm>
            <a:off x="8039771" y="1847088"/>
            <a:ext cx="1180125" cy="585216"/>
          </a:xfrm>
          <a:prstGeom prst="rect">
            <a:avLst/>
          </a:prstGeom>
          <a:noFill/>
          <a:ln/>
        </p:spPr>
        <p:txBody>
          <a:bodyPr wrap="square" lIns="0" tIns="0" rIns="0" bIns="0" rtlCol="0" anchor="ctr"/>
          <a:lstStyle/>
          <a:p>
            <a:pPr indent="0" marL="0">
              <a:buNone/>
            </a:pPr>
            <a:r>
              <a:rPr lang="en-US" sz="1050" b="1" dirty="0">
                <a:solidFill>
                  <a:schemeClr val="tx1"/>
                </a:solidFill>
              </a:rPr>
              <a:t>OpenTelemetry</a:t>
            </a:r>
            <a:endParaRPr lang="en-US" sz="1050" dirty="0"/>
          </a:p>
          <a:p>
            <a:pPr indent="0" marL="0">
              <a:buNone/>
            </a:pPr>
            <a:r>
              <a:rPr lang="en-US" sz="900" dirty="0">
                <a:solidFill>
                  <a:schemeClr val="accent5"/>
                </a:solidFill>
              </a:rPr>
              <a:t>traces · metrics</a:t>
            </a:r>
            <a:endParaRPr lang="en-US" sz="1050" dirty="0"/>
          </a:p>
        </p:txBody>
      </p:sp>
      <p:sp>
        <p:nvSpPr>
          <p:cNvPr id="16" name="arrow 0-0"/>
          <p:cNvSpPr/>
          <p:nvPr/>
        </p:nvSpPr>
        <p:spPr>
          <a:xfrm>
            <a:off x="3870884" y="2496312"/>
            <a:ext cx="0" cy="146304"/>
          </a:xfrm>
          <a:prstGeom prst="line">
            <a:avLst/>
          </a:prstGeom>
          <a:noFill/>
          <a:ln w="12700">
            <a:solidFill>
              <a:srgbClr val="AFB1B6"/>
            </a:solidFill>
            <a:prstDash val="solid"/>
            <a:tailEnd type="triangle"/>
          </a:ln>
        </p:spPr>
      </p:sp>
      <p:sp>
        <p:nvSpPr>
          <p:cNvPr id="17" name="arrow 0-1"/>
          <p:cNvSpPr/>
          <p:nvPr/>
        </p:nvSpPr>
        <p:spPr>
          <a:xfrm>
            <a:off x="5684368" y="2496312"/>
            <a:ext cx="0" cy="146304"/>
          </a:xfrm>
          <a:prstGeom prst="line">
            <a:avLst/>
          </a:prstGeom>
          <a:noFill/>
          <a:ln w="12700">
            <a:solidFill>
              <a:srgbClr val="AFB1B6"/>
            </a:solidFill>
            <a:prstDash val="solid"/>
            <a:tailEnd type="triangle"/>
          </a:ln>
        </p:spPr>
      </p:sp>
      <p:sp>
        <p:nvSpPr>
          <p:cNvPr id="18" name="arrow 0-2"/>
          <p:cNvSpPr/>
          <p:nvPr/>
        </p:nvSpPr>
        <p:spPr>
          <a:xfrm>
            <a:off x="7497851" y="2496312"/>
            <a:ext cx="0" cy="146304"/>
          </a:xfrm>
          <a:prstGeom prst="line">
            <a:avLst/>
          </a:prstGeom>
          <a:noFill/>
          <a:ln w="12700">
            <a:solidFill>
              <a:srgbClr val="AFB1B6"/>
            </a:solidFill>
            <a:prstDash val="solid"/>
            <a:tailEnd type="triangle"/>
          </a:ln>
        </p:spPr>
      </p:sp>
      <p:sp>
        <p:nvSpPr>
          <p:cNvPr id="19" name="band STREAM &amp;amp; STORE"/>
          <p:cNvSpPr txBox="1"/>
          <p:nvPr/>
        </p:nvSpPr>
        <p:spPr>
          <a:xfrm>
            <a:off x="548640" y="2670048"/>
            <a:ext cx="1371600" cy="658368"/>
          </a:xfrm>
          <a:prstGeom prst="rect">
            <a:avLst/>
          </a:prstGeom>
          <a:noFill/>
          <a:ln/>
        </p:spPr>
        <p:txBody>
          <a:bodyPr wrap="square" lIns="0" tIns="0" rIns="0" bIns="0" rtlCol="0" anchor="ctr"/>
          <a:lstStyle/>
          <a:p>
            <a:pPr indent="0" marL="0">
              <a:buNone/>
            </a:pPr>
            <a:r>
              <a:rPr lang="en-US" sz="950" b="1" spc="100" kern="0" dirty="0">
                <a:solidFill>
                  <a:schemeClr val="accent5"/>
                </a:solidFill>
                <a:latin typeface="Courier New" pitchFamily="34" charset="0"/>
                <a:ea typeface="Courier New" pitchFamily="34" charset="-122"/>
                <a:cs typeface="Courier New" pitchFamily="34" charset="-120"/>
              </a:rPr>
              <a:t>STREAM &amp; STORE</a:t>
            </a:r>
            <a:endParaRPr lang="en-US" sz="950" dirty="0"/>
          </a:p>
        </p:txBody>
      </p:sp>
      <p:sp>
        <p:nvSpPr>
          <p:cNvPr id="20" name="box Kafka"/>
          <p:cNvSpPr/>
          <p:nvPr/>
        </p:nvSpPr>
        <p:spPr>
          <a:xfrm>
            <a:off x="2057400" y="2670048"/>
            <a:ext cx="1731188" cy="658368"/>
          </a:xfrm>
          <a:prstGeom prst="roundRect">
            <a:avLst>
              <a:gd name="adj" fmla="val 5556"/>
            </a:avLst>
          </a:prstGeom>
          <a:solidFill>
            <a:srgbClr val="F3F4F6"/>
          </a:solidFill>
          <a:ln w="12700">
            <a:solidFill>
              <a:srgbClr val="F3F4F6"/>
            </a:solidFill>
            <a:prstDash val="solid"/>
          </a:ln>
        </p:spPr>
      </p:sp>
      <p:sp>
        <p:nvSpPr>
          <p:cNvPr id="21" name="box text Kafka"/>
          <p:cNvSpPr txBox="1"/>
          <p:nvPr/>
        </p:nvSpPr>
        <p:spPr>
          <a:xfrm>
            <a:off x="2148840" y="2706624"/>
            <a:ext cx="1548308" cy="585216"/>
          </a:xfrm>
          <a:prstGeom prst="rect">
            <a:avLst/>
          </a:prstGeom>
          <a:noFill/>
          <a:ln/>
        </p:spPr>
        <p:txBody>
          <a:bodyPr wrap="square" lIns="0" tIns="0" rIns="0" bIns="0" rtlCol="0" anchor="ctr"/>
          <a:lstStyle/>
          <a:p>
            <a:pPr indent="0" marL="0">
              <a:buNone/>
            </a:pPr>
            <a:r>
              <a:rPr lang="en-US" sz="1050" b="1" dirty="0">
                <a:solidFill>
                  <a:schemeClr val="tx1"/>
                </a:solidFill>
              </a:rPr>
              <a:t>Kafka</a:t>
            </a:r>
            <a:endParaRPr lang="en-US" sz="1050" dirty="0"/>
          </a:p>
          <a:p>
            <a:pPr indent="0" marL="0">
              <a:buNone/>
            </a:pPr>
            <a:r>
              <a:rPr lang="en-US" sz="900" dirty="0">
                <a:solidFill>
                  <a:schemeClr val="accent5"/>
                </a:solidFill>
              </a:rPr>
              <a:t>event and telemetry streams</a:t>
            </a:r>
            <a:endParaRPr lang="en-US" sz="1050" dirty="0"/>
          </a:p>
        </p:txBody>
      </p:sp>
      <p:sp>
        <p:nvSpPr>
          <p:cNvPr id="22" name="box Elasticsearch on OpenShift (ECK)"/>
          <p:cNvSpPr/>
          <p:nvPr/>
        </p:nvSpPr>
        <p:spPr>
          <a:xfrm>
            <a:off x="3898316" y="2670048"/>
            <a:ext cx="1731188" cy="658368"/>
          </a:xfrm>
          <a:prstGeom prst="roundRect">
            <a:avLst>
              <a:gd name="adj" fmla="val 5556"/>
            </a:avLst>
          </a:prstGeom>
          <a:solidFill>
            <a:srgbClr val="F3F4F6"/>
          </a:solidFill>
          <a:ln w="12700">
            <a:solidFill>
              <a:srgbClr val="F3F4F6"/>
            </a:solidFill>
            <a:prstDash val="solid"/>
          </a:ln>
        </p:spPr>
      </p:sp>
      <p:sp>
        <p:nvSpPr>
          <p:cNvPr id="23" name="box text Elasticsearch on OpenShift (ECK)"/>
          <p:cNvSpPr txBox="1"/>
          <p:nvPr/>
        </p:nvSpPr>
        <p:spPr>
          <a:xfrm>
            <a:off x="3989756" y="2706624"/>
            <a:ext cx="1548308" cy="585216"/>
          </a:xfrm>
          <a:prstGeom prst="rect">
            <a:avLst/>
          </a:prstGeom>
          <a:noFill/>
          <a:ln/>
        </p:spPr>
        <p:txBody>
          <a:bodyPr wrap="square" lIns="0" tIns="0" rIns="0" bIns="0" rtlCol="0" anchor="ctr"/>
          <a:lstStyle/>
          <a:p>
            <a:pPr indent="0" marL="0">
              <a:buNone/>
            </a:pPr>
            <a:r>
              <a:rPr lang="en-US" sz="1050" b="1" dirty="0">
                <a:solidFill>
                  <a:schemeClr val="tx1"/>
                </a:solidFill>
              </a:rPr>
              <a:t>Elasticsearch on OpenShift (ECK)</a:t>
            </a:r>
            <a:endParaRPr lang="en-US" sz="1050" dirty="0"/>
          </a:p>
          <a:p>
            <a:pPr indent="0" marL="0">
              <a:buNone/>
            </a:pPr>
            <a:r>
              <a:rPr lang="en-US" sz="900" dirty="0">
                <a:solidFill>
                  <a:schemeClr val="accent5"/>
                </a:solidFill>
              </a:rPr>
              <a:t>the platform we already run</a:t>
            </a:r>
            <a:endParaRPr lang="en-US" sz="1050" dirty="0"/>
          </a:p>
        </p:txBody>
      </p:sp>
      <p:sp>
        <p:nvSpPr>
          <p:cNvPr id="24" name="box SLI store"/>
          <p:cNvSpPr/>
          <p:nvPr/>
        </p:nvSpPr>
        <p:spPr>
          <a:xfrm>
            <a:off x="5739232" y="2670048"/>
            <a:ext cx="1731188" cy="658368"/>
          </a:xfrm>
          <a:prstGeom prst="roundRect">
            <a:avLst>
              <a:gd name="adj" fmla="val 5556"/>
            </a:avLst>
          </a:prstGeom>
          <a:solidFill>
            <a:srgbClr val="FFFFFF"/>
          </a:solidFill>
          <a:ln w="15875">
            <a:solidFill>
              <a:srgbClr val="008F5F"/>
            </a:solidFill>
            <a:prstDash val="solid"/>
          </a:ln>
        </p:spPr>
      </p:sp>
      <p:sp>
        <p:nvSpPr>
          <p:cNvPr id="25" name="box text SLI store"/>
          <p:cNvSpPr txBox="1"/>
          <p:nvPr/>
        </p:nvSpPr>
        <p:spPr>
          <a:xfrm>
            <a:off x="5830672" y="2706624"/>
            <a:ext cx="1548308" cy="585216"/>
          </a:xfrm>
          <a:prstGeom prst="rect">
            <a:avLst/>
          </a:prstGeom>
          <a:noFill/>
          <a:ln/>
        </p:spPr>
        <p:txBody>
          <a:bodyPr wrap="square" lIns="0" tIns="0" rIns="0" bIns="0" rtlCol="0" anchor="ctr"/>
          <a:lstStyle/>
          <a:p>
            <a:pPr indent="0" marL="0">
              <a:buNone/>
            </a:pPr>
            <a:r>
              <a:rPr lang="en-US" sz="1050" b="1" dirty="0">
                <a:solidFill>
                  <a:schemeClr val="accent2"/>
                </a:solidFill>
              </a:rPr>
              <a:t>SLI store</a:t>
            </a:r>
            <a:endParaRPr lang="en-US" sz="1050" dirty="0"/>
          </a:p>
          <a:p>
            <a:pPr indent="0" marL="0">
              <a:buNone/>
            </a:pPr>
            <a:r>
              <a:rPr lang="en-US" sz="900" dirty="0">
                <a:solidFill>
                  <a:schemeClr val="accent5"/>
                </a:solidFill>
              </a:rPr>
              <a:t>metrics-otel.slo-* transforms</a:t>
            </a:r>
            <a:endParaRPr lang="en-US" sz="1050" dirty="0"/>
          </a:p>
        </p:txBody>
      </p:sp>
      <p:sp>
        <p:nvSpPr>
          <p:cNvPr id="26" name="box Audit stream"/>
          <p:cNvSpPr/>
          <p:nvPr/>
        </p:nvSpPr>
        <p:spPr>
          <a:xfrm>
            <a:off x="7580147" y="2670048"/>
            <a:ext cx="1731188" cy="658368"/>
          </a:xfrm>
          <a:prstGeom prst="roundRect">
            <a:avLst>
              <a:gd name="adj" fmla="val 5556"/>
            </a:avLst>
          </a:prstGeom>
          <a:solidFill>
            <a:srgbClr val="FFFFFF"/>
          </a:solidFill>
          <a:ln w="15875">
            <a:solidFill>
              <a:srgbClr val="008F5F"/>
            </a:solidFill>
            <a:prstDash val="solid"/>
          </a:ln>
        </p:spPr>
      </p:sp>
      <p:sp>
        <p:nvSpPr>
          <p:cNvPr id="27" name="box text Audit stream"/>
          <p:cNvSpPr txBox="1"/>
          <p:nvPr/>
        </p:nvSpPr>
        <p:spPr>
          <a:xfrm>
            <a:off x="7671587" y="2706624"/>
            <a:ext cx="1548308" cy="585216"/>
          </a:xfrm>
          <a:prstGeom prst="rect">
            <a:avLst/>
          </a:prstGeom>
          <a:noFill/>
          <a:ln/>
        </p:spPr>
        <p:txBody>
          <a:bodyPr wrap="square" lIns="0" tIns="0" rIns="0" bIns="0" rtlCol="0" anchor="ctr"/>
          <a:lstStyle/>
          <a:p>
            <a:pPr indent="0" marL="0">
              <a:buNone/>
            </a:pPr>
            <a:r>
              <a:rPr lang="en-US" sz="1050" b="1" dirty="0">
                <a:solidFill>
                  <a:schemeClr val="accent2"/>
                </a:solidFill>
              </a:rPr>
              <a:t>Audit stream</a:t>
            </a:r>
            <a:endParaRPr lang="en-US" sz="1050" dirty="0"/>
          </a:p>
          <a:p>
            <a:pPr indent="0" marL="0">
              <a:buNone/>
            </a:pPr>
            <a:r>
              <a:rPr lang="en-US" sz="900" dirty="0">
                <a:solidFill>
                  <a:schemeClr val="accent5"/>
                </a:solidFill>
              </a:rPr>
              <a:t>audit-tcc-actions · write-once · 30 d hot → 7 y cold</a:t>
            </a:r>
            <a:endParaRPr lang="en-US" sz="1050" dirty="0"/>
          </a:p>
        </p:txBody>
      </p:sp>
      <p:sp>
        <p:nvSpPr>
          <p:cNvPr id="28" name="arrow 1-0"/>
          <p:cNvSpPr/>
          <p:nvPr/>
        </p:nvSpPr>
        <p:spPr>
          <a:xfrm>
            <a:off x="3870884" y="3355848"/>
            <a:ext cx="0" cy="146304"/>
          </a:xfrm>
          <a:prstGeom prst="line">
            <a:avLst/>
          </a:prstGeom>
          <a:noFill/>
          <a:ln w="12700">
            <a:solidFill>
              <a:srgbClr val="AFB1B6"/>
            </a:solidFill>
            <a:prstDash val="solid"/>
            <a:tailEnd type="triangle"/>
          </a:ln>
        </p:spPr>
      </p:sp>
      <p:sp>
        <p:nvSpPr>
          <p:cNvPr id="29" name="arrow 1-1"/>
          <p:cNvSpPr/>
          <p:nvPr/>
        </p:nvSpPr>
        <p:spPr>
          <a:xfrm>
            <a:off x="5684368" y="3355848"/>
            <a:ext cx="0" cy="146304"/>
          </a:xfrm>
          <a:prstGeom prst="line">
            <a:avLst/>
          </a:prstGeom>
          <a:noFill/>
          <a:ln w="12700">
            <a:solidFill>
              <a:srgbClr val="AFB1B6"/>
            </a:solidFill>
            <a:prstDash val="solid"/>
            <a:tailEnd type="triangle"/>
          </a:ln>
        </p:spPr>
      </p:sp>
      <p:sp>
        <p:nvSpPr>
          <p:cNvPr id="30" name="arrow 1-2"/>
          <p:cNvSpPr/>
          <p:nvPr/>
        </p:nvSpPr>
        <p:spPr>
          <a:xfrm>
            <a:off x="7497851" y="3355848"/>
            <a:ext cx="0" cy="146304"/>
          </a:xfrm>
          <a:prstGeom prst="line">
            <a:avLst/>
          </a:prstGeom>
          <a:noFill/>
          <a:ln w="12700">
            <a:solidFill>
              <a:srgbClr val="AFB1B6"/>
            </a:solidFill>
            <a:prstDash val="solid"/>
            <a:tailEnd type="triangle"/>
          </a:ln>
        </p:spPr>
      </p:sp>
      <p:sp>
        <p:nvSpPr>
          <p:cNvPr id="31" name="band DECIDE"/>
          <p:cNvSpPr txBox="1"/>
          <p:nvPr/>
        </p:nvSpPr>
        <p:spPr>
          <a:xfrm>
            <a:off x="548640" y="3529584"/>
            <a:ext cx="1371600" cy="658368"/>
          </a:xfrm>
          <a:prstGeom prst="rect">
            <a:avLst/>
          </a:prstGeom>
          <a:noFill/>
          <a:ln/>
        </p:spPr>
        <p:txBody>
          <a:bodyPr wrap="square" lIns="0" tIns="0" rIns="0" bIns="0" rtlCol="0" anchor="ctr"/>
          <a:lstStyle/>
          <a:p>
            <a:pPr indent="0" marL="0">
              <a:buNone/>
            </a:pPr>
            <a:r>
              <a:rPr lang="en-US" sz="950" b="1" spc="100" kern="0" dirty="0">
                <a:solidFill>
                  <a:schemeClr val="accent5"/>
                </a:solidFill>
                <a:latin typeface="Courier New" pitchFamily="34" charset="0"/>
                <a:ea typeface="Courier New" pitchFamily="34" charset="-122"/>
                <a:cs typeface="Courier New" pitchFamily="34" charset="-120"/>
              </a:rPr>
              <a:t>DECIDE</a:t>
            </a:r>
            <a:endParaRPr lang="en-US" sz="950" dirty="0"/>
          </a:p>
        </p:txBody>
      </p:sp>
      <p:sp>
        <p:nvSpPr>
          <p:cNvPr id="32" name="box SLI engine · burn-rate rules"/>
          <p:cNvSpPr/>
          <p:nvPr/>
        </p:nvSpPr>
        <p:spPr>
          <a:xfrm>
            <a:off x="2057400" y="3529584"/>
            <a:ext cx="2344826" cy="658368"/>
          </a:xfrm>
          <a:prstGeom prst="roundRect">
            <a:avLst>
              <a:gd name="adj" fmla="val 5556"/>
            </a:avLst>
          </a:prstGeom>
          <a:solidFill>
            <a:srgbClr val="FFFFFF"/>
          </a:solidFill>
          <a:ln w="15875">
            <a:solidFill>
              <a:srgbClr val="008F5F"/>
            </a:solidFill>
            <a:prstDash val="solid"/>
          </a:ln>
        </p:spPr>
      </p:sp>
      <p:sp>
        <p:nvSpPr>
          <p:cNvPr id="33" name="box text SLI engine · burn-rate rules"/>
          <p:cNvSpPr txBox="1"/>
          <p:nvPr/>
        </p:nvSpPr>
        <p:spPr>
          <a:xfrm>
            <a:off x="2148840" y="3566160"/>
            <a:ext cx="2161946" cy="585216"/>
          </a:xfrm>
          <a:prstGeom prst="rect">
            <a:avLst/>
          </a:prstGeom>
          <a:noFill/>
          <a:ln/>
        </p:spPr>
        <p:txBody>
          <a:bodyPr wrap="square" lIns="0" tIns="0" rIns="0" bIns="0" rtlCol="0" anchor="ctr"/>
          <a:lstStyle/>
          <a:p>
            <a:pPr indent="0" marL="0">
              <a:buNone/>
            </a:pPr>
            <a:r>
              <a:rPr lang="en-US" sz="1050" b="1" dirty="0">
                <a:solidFill>
                  <a:schemeClr val="accent2"/>
                </a:solidFill>
              </a:rPr>
              <a:t>SLI engine · burn-rate rules</a:t>
            </a:r>
            <a:endParaRPr lang="en-US" sz="1050" dirty="0"/>
          </a:p>
          <a:p>
            <a:pPr indent="0" marL="0">
              <a:buNone/>
            </a:pPr>
            <a:r>
              <a:rPr lang="en-US" sz="900" dirty="0">
                <a:solidFill>
                  <a:schemeClr val="accent5"/>
                </a:solidFill>
              </a:rPr>
              <a:t>Elastic alerting and Grafana — new rules on existing tools</a:t>
            </a:r>
            <a:endParaRPr lang="en-US" sz="1050" dirty="0"/>
          </a:p>
        </p:txBody>
      </p:sp>
      <p:sp>
        <p:nvSpPr>
          <p:cNvPr id="34" name="box Correlator"/>
          <p:cNvSpPr/>
          <p:nvPr/>
        </p:nvSpPr>
        <p:spPr>
          <a:xfrm>
            <a:off x="4511954" y="3529584"/>
            <a:ext cx="2344826" cy="658368"/>
          </a:xfrm>
          <a:prstGeom prst="roundRect">
            <a:avLst>
              <a:gd name="adj" fmla="val 5556"/>
            </a:avLst>
          </a:prstGeom>
          <a:solidFill>
            <a:srgbClr val="FFFFFF"/>
          </a:solidFill>
          <a:ln w="15875">
            <a:solidFill>
              <a:srgbClr val="008F5F"/>
            </a:solidFill>
            <a:prstDash val="solid"/>
          </a:ln>
        </p:spPr>
      </p:sp>
      <p:sp>
        <p:nvSpPr>
          <p:cNvPr id="35" name="box text Correlator"/>
          <p:cNvSpPr txBox="1"/>
          <p:nvPr/>
        </p:nvSpPr>
        <p:spPr>
          <a:xfrm>
            <a:off x="4603394" y="3566160"/>
            <a:ext cx="2161946" cy="585216"/>
          </a:xfrm>
          <a:prstGeom prst="rect">
            <a:avLst/>
          </a:prstGeom>
          <a:noFill/>
          <a:ln/>
        </p:spPr>
        <p:txBody>
          <a:bodyPr wrap="square" lIns="0" tIns="0" rIns="0" bIns="0" rtlCol="0" anchor="ctr"/>
          <a:lstStyle/>
          <a:p>
            <a:pPr indent="0" marL="0">
              <a:buNone/>
            </a:pPr>
            <a:r>
              <a:rPr lang="en-US" sz="1050" b="1" dirty="0">
                <a:solidFill>
                  <a:schemeClr val="accent2"/>
                </a:solidFill>
              </a:rPr>
              <a:t>Correlator</a:t>
            </a:r>
            <a:endParaRPr lang="en-US" sz="1050" dirty="0"/>
          </a:p>
          <a:p>
            <a:pPr indent="0" marL="0">
              <a:buNone/>
            </a:pPr>
            <a:r>
              <a:rPr lang="en-US" sz="900" dirty="0">
                <a:solidFill>
                  <a:schemeClr val="accent5"/>
                </a:solidFill>
              </a:rPr>
              <a:t>Moogsoft situations + correlator over Elasticsearch</a:t>
            </a:r>
            <a:endParaRPr lang="en-US" sz="1050" dirty="0"/>
          </a:p>
        </p:txBody>
      </p:sp>
      <p:sp>
        <p:nvSpPr>
          <p:cNvPr id="36" name="box Incident record"/>
          <p:cNvSpPr/>
          <p:nvPr/>
        </p:nvSpPr>
        <p:spPr>
          <a:xfrm>
            <a:off x="6966509" y="3529584"/>
            <a:ext cx="2344826" cy="658368"/>
          </a:xfrm>
          <a:prstGeom prst="roundRect">
            <a:avLst>
              <a:gd name="adj" fmla="val 5556"/>
            </a:avLst>
          </a:prstGeom>
          <a:solidFill>
            <a:srgbClr val="F3F4F6"/>
          </a:solidFill>
          <a:ln w="12700">
            <a:solidFill>
              <a:srgbClr val="F3F4F6"/>
            </a:solidFill>
            <a:prstDash val="solid"/>
          </a:ln>
        </p:spPr>
      </p:sp>
      <p:sp>
        <p:nvSpPr>
          <p:cNvPr id="37" name="box text Incident record"/>
          <p:cNvSpPr txBox="1"/>
          <p:nvPr/>
        </p:nvSpPr>
        <p:spPr>
          <a:xfrm>
            <a:off x="7057949" y="3566160"/>
            <a:ext cx="2161946" cy="585216"/>
          </a:xfrm>
          <a:prstGeom prst="rect">
            <a:avLst/>
          </a:prstGeom>
          <a:noFill/>
          <a:ln/>
        </p:spPr>
        <p:txBody>
          <a:bodyPr wrap="square" lIns="0" tIns="0" rIns="0" bIns="0" rtlCol="0" anchor="ctr"/>
          <a:lstStyle/>
          <a:p>
            <a:pPr indent="0" marL="0">
              <a:buNone/>
            </a:pPr>
            <a:r>
              <a:rPr lang="en-US" sz="1050" b="1" dirty="0">
                <a:solidFill>
                  <a:schemeClr val="tx1"/>
                </a:solidFill>
              </a:rPr>
              <a:t>Incident record</a:t>
            </a:r>
            <a:endParaRPr lang="en-US" sz="1050" dirty="0"/>
          </a:p>
          <a:p>
            <a:pPr indent="0" marL="0">
              <a:buNone/>
            </a:pPr>
            <a:r>
              <a:rPr lang="en-US" sz="900" dirty="0">
                <a:solidFill>
                  <a:schemeClr val="accent5"/>
                </a:solidFill>
              </a:rPr>
              <a:t>ServiceNow INC · CHG · PRB, published contract</a:t>
            </a:r>
            <a:endParaRPr lang="en-US" sz="1050" dirty="0"/>
          </a:p>
        </p:txBody>
      </p:sp>
      <p:sp>
        <p:nvSpPr>
          <p:cNvPr id="38" name="arrow 2-0"/>
          <p:cNvSpPr/>
          <p:nvPr/>
        </p:nvSpPr>
        <p:spPr>
          <a:xfrm>
            <a:off x="3870884" y="4215384"/>
            <a:ext cx="0" cy="146304"/>
          </a:xfrm>
          <a:prstGeom prst="line">
            <a:avLst/>
          </a:prstGeom>
          <a:noFill/>
          <a:ln w="12700">
            <a:solidFill>
              <a:srgbClr val="AFB1B6"/>
            </a:solidFill>
            <a:prstDash val="solid"/>
            <a:tailEnd type="triangle"/>
          </a:ln>
        </p:spPr>
      </p:sp>
      <p:sp>
        <p:nvSpPr>
          <p:cNvPr id="39" name="arrow 2-1"/>
          <p:cNvSpPr/>
          <p:nvPr/>
        </p:nvSpPr>
        <p:spPr>
          <a:xfrm>
            <a:off x="5684368" y="4215384"/>
            <a:ext cx="0" cy="146304"/>
          </a:xfrm>
          <a:prstGeom prst="line">
            <a:avLst/>
          </a:prstGeom>
          <a:noFill/>
          <a:ln w="12700">
            <a:solidFill>
              <a:srgbClr val="AFB1B6"/>
            </a:solidFill>
            <a:prstDash val="solid"/>
            <a:tailEnd type="triangle"/>
          </a:ln>
        </p:spPr>
      </p:sp>
      <p:sp>
        <p:nvSpPr>
          <p:cNvPr id="40" name="arrow 2-2"/>
          <p:cNvSpPr/>
          <p:nvPr/>
        </p:nvSpPr>
        <p:spPr>
          <a:xfrm>
            <a:off x="7497851" y="4215384"/>
            <a:ext cx="0" cy="146304"/>
          </a:xfrm>
          <a:prstGeom prst="line">
            <a:avLst/>
          </a:prstGeom>
          <a:noFill/>
          <a:ln w="12700">
            <a:solidFill>
              <a:srgbClr val="AFB1B6"/>
            </a:solidFill>
            <a:prstDash val="solid"/>
            <a:tailEnd type="triangle"/>
          </a:ln>
        </p:spPr>
      </p:sp>
      <p:sp>
        <p:nvSpPr>
          <p:cNvPr id="41" name="band COMMAND"/>
          <p:cNvSpPr txBox="1"/>
          <p:nvPr/>
        </p:nvSpPr>
        <p:spPr>
          <a:xfrm>
            <a:off x="548640" y="4389120"/>
            <a:ext cx="1371600" cy="658368"/>
          </a:xfrm>
          <a:prstGeom prst="rect">
            <a:avLst/>
          </a:prstGeom>
          <a:noFill/>
          <a:ln/>
        </p:spPr>
        <p:txBody>
          <a:bodyPr wrap="square" lIns="0" tIns="0" rIns="0" bIns="0" rtlCol="0" anchor="ctr"/>
          <a:lstStyle/>
          <a:p>
            <a:pPr indent="0" marL="0">
              <a:buNone/>
            </a:pPr>
            <a:r>
              <a:rPr lang="en-US" sz="950" b="1" spc="100" kern="0" dirty="0">
                <a:solidFill>
                  <a:schemeClr val="accent5"/>
                </a:solidFill>
                <a:latin typeface="Courier New" pitchFamily="34" charset="0"/>
                <a:ea typeface="Courier New" pitchFamily="34" charset="-122"/>
                <a:cs typeface="Courier New" pitchFamily="34" charset="-120"/>
              </a:rPr>
              <a:t>COMMAND</a:t>
            </a:r>
            <a:endParaRPr lang="en-US" sz="950" dirty="0"/>
          </a:p>
        </p:txBody>
      </p:sp>
      <p:sp>
        <p:nvSpPr>
          <p:cNvPr id="42" name="box Fleet Commander — Bridge · Mission · Debrief"/>
          <p:cNvSpPr/>
          <p:nvPr/>
        </p:nvSpPr>
        <p:spPr>
          <a:xfrm>
            <a:off x="2057400" y="4389120"/>
            <a:ext cx="7253935" cy="658368"/>
          </a:xfrm>
          <a:prstGeom prst="roundRect">
            <a:avLst>
              <a:gd name="adj" fmla="val 5556"/>
            </a:avLst>
          </a:prstGeom>
          <a:solidFill>
            <a:srgbClr val="FFFFFF"/>
          </a:solidFill>
          <a:ln w="15875">
            <a:solidFill>
              <a:srgbClr val="008F5F"/>
            </a:solidFill>
            <a:prstDash val="solid"/>
          </a:ln>
        </p:spPr>
      </p:sp>
      <p:sp>
        <p:nvSpPr>
          <p:cNvPr id="43" name="box text Fleet Commander — Bridge · Mission · Debrief"/>
          <p:cNvSpPr txBox="1"/>
          <p:nvPr/>
        </p:nvSpPr>
        <p:spPr>
          <a:xfrm>
            <a:off x="2148840" y="4425696"/>
            <a:ext cx="7071055" cy="585216"/>
          </a:xfrm>
          <a:prstGeom prst="rect">
            <a:avLst/>
          </a:prstGeom>
          <a:noFill/>
          <a:ln/>
        </p:spPr>
        <p:txBody>
          <a:bodyPr wrap="square" lIns="0" tIns="0" rIns="0" bIns="0" rtlCol="0" anchor="ctr"/>
          <a:lstStyle/>
          <a:p>
            <a:pPr indent="0" marL="0">
              <a:buNone/>
            </a:pPr>
            <a:r>
              <a:rPr lang="en-US" sz="1050" b="1" dirty="0">
                <a:solidFill>
                  <a:schemeClr val="accent2"/>
                </a:solidFill>
              </a:rPr>
              <a:t>Fleet Commander — Bridge · Mission · Debrief</a:t>
            </a:r>
            <a:endParaRPr lang="en-US" sz="1050" dirty="0"/>
          </a:p>
          <a:p>
            <a:pPr indent="0" marL="0">
              <a:buNone/>
            </a:pPr>
            <a:r>
              <a:rPr lang="en-US" sz="900" dirty="0">
                <a:solidFill>
                  <a:schemeClr val="accent5"/>
                </a:solidFill>
              </a:rPr>
              <a:t>React + Canvas · WebSocket feed from the SLI aggregation API · SSO, one role per page</a:t>
            </a:r>
            <a:endParaRPr lang="en-US" sz="1050" dirty="0"/>
          </a:p>
        </p:txBody>
      </p:sp>
      <p:sp>
        <p:nvSpPr>
          <p:cNvPr id="44" name="arrow 3-0"/>
          <p:cNvSpPr/>
          <p:nvPr/>
        </p:nvSpPr>
        <p:spPr>
          <a:xfrm>
            <a:off x="3870884" y="5074920"/>
            <a:ext cx="0" cy="146304"/>
          </a:xfrm>
          <a:prstGeom prst="line">
            <a:avLst/>
          </a:prstGeom>
          <a:noFill/>
          <a:ln w="12700">
            <a:solidFill>
              <a:srgbClr val="AFB1B6"/>
            </a:solidFill>
            <a:prstDash val="solid"/>
            <a:tailEnd type="triangle"/>
          </a:ln>
        </p:spPr>
      </p:sp>
      <p:sp>
        <p:nvSpPr>
          <p:cNvPr id="45" name="arrow 3-1"/>
          <p:cNvSpPr/>
          <p:nvPr/>
        </p:nvSpPr>
        <p:spPr>
          <a:xfrm>
            <a:off x="5684368" y="5074920"/>
            <a:ext cx="0" cy="146304"/>
          </a:xfrm>
          <a:prstGeom prst="line">
            <a:avLst/>
          </a:prstGeom>
          <a:noFill/>
          <a:ln w="12700">
            <a:solidFill>
              <a:srgbClr val="AFB1B6"/>
            </a:solidFill>
            <a:prstDash val="solid"/>
            <a:tailEnd type="triangle"/>
          </a:ln>
        </p:spPr>
      </p:sp>
      <p:sp>
        <p:nvSpPr>
          <p:cNvPr id="46" name="arrow 3-2"/>
          <p:cNvSpPr/>
          <p:nvPr/>
        </p:nvSpPr>
        <p:spPr>
          <a:xfrm>
            <a:off x="7497851" y="5074920"/>
            <a:ext cx="0" cy="146304"/>
          </a:xfrm>
          <a:prstGeom prst="line">
            <a:avLst/>
          </a:prstGeom>
          <a:noFill/>
          <a:ln w="12700">
            <a:solidFill>
              <a:srgbClr val="AFB1B6"/>
            </a:solidFill>
            <a:prstDash val="solid"/>
            <a:tailEnd type="triangle"/>
          </a:ln>
        </p:spPr>
      </p:sp>
      <p:sp>
        <p:nvSpPr>
          <p:cNvPr id="47" name="band ACT"/>
          <p:cNvSpPr txBox="1"/>
          <p:nvPr/>
        </p:nvSpPr>
        <p:spPr>
          <a:xfrm>
            <a:off x="548640" y="5248656"/>
            <a:ext cx="1371600" cy="658368"/>
          </a:xfrm>
          <a:prstGeom prst="rect">
            <a:avLst/>
          </a:prstGeom>
          <a:noFill/>
          <a:ln/>
        </p:spPr>
        <p:txBody>
          <a:bodyPr wrap="square" lIns="0" tIns="0" rIns="0" bIns="0" rtlCol="0" anchor="ctr"/>
          <a:lstStyle/>
          <a:p>
            <a:pPr indent="0" marL="0">
              <a:buNone/>
            </a:pPr>
            <a:r>
              <a:rPr lang="en-US" sz="950" b="1" spc="100" kern="0" dirty="0">
                <a:solidFill>
                  <a:schemeClr val="accent5"/>
                </a:solidFill>
                <a:latin typeface="Courier New" pitchFamily="34" charset="0"/>
                <a:ea typeface="Courier New" pitchFamily="34" charset="-122"/>
                <a:cs typeface="Courier New" pitchFamily="34" charset="-120"/>
              </a:rPr>
              <a:t>ACT</a:t>
            </a:r>
            <a:endParaRPr lang="en-US" sz="950" dirty="0"/>
          </a:p>
        </p:txBody>
      </p:sp>
      <p:sp>
        <p:nvSpPr>
          <p:cNvPr id="48" name="box Signed runbook catalogue"/>
          <p:cNvSpPr/>
          <p:nvPr/>
        </p:nvSpPr>
        <p:spPr>
          <a:xfrm>
            <a:off x="2057400" y="5248656"/>
            <a:ext cx="1731188" cy="658368"/>
          </a:xfrm>
          <a:prstGeom prst="roundRect">
            <a:avLst>
              <a:gd name="adj" fmla="val 5556"/>
            </a:avLst>
          </a:prstGeom>
          <a:solidFill>
            <a:srgbClr val="FFFFFF"/>
          </a:solidFill>
          <a:ln w="15875">
            <a:solidFill>
              <a:srgbClr val="008F5F"/>
            </a:solidFill>
            <a:prstDash val="solid"/>
          </a:ln>
        </p:spPr>
      </p:sp>
      <p:sp>
        <p:nvSpPr>
          <p:cNvPr id="49" name="box text Signed runbook catalogue"/>
          <p:cNvSpPr txBox="1"/>
          <p:nvPr/>
        </p:nvSpPr>
        <p:spPr>
          <a:xfrm>
            <a:off x="2148840" y="5285232"/>
            <a:ext cx="1548308" cy="585216"/>
          </a:xfrm>
          <a:prstGeom prst="rect">
            <a:avLst/>
          </a:prstGeom>
          <a:noFill/>
          <a:ln/>
        </p:spPr>
        <p:txBody>
          <a:bodyPr wrap="square" lIns="0" tIns="0" rIns="0" bIns="0" rtlCol="0" anchor="ctr"/>
          <a:lstStyle/>
          <a:p>
            <a:pPr indent="0" marL="0">
              <a:buNone/>
            </a:pPr>
            <a:r>
              <a:rPr lang="en-US" sz="1050" b="1" dirty="0">
                <a:solidFill>
                  <a:schemeClr val="accent2"/>
                </a:solidFill>
              </a:rPr>
              <a:t>Signed runbook catalogue</a:t>
            </a:r>
            <a:endParaRPr lang="en-US" sz="1050" dirty="0"/>
          </a:p>
          <a:p>
            <a:pPr indent="0" marL="0">
              <a:buNone/>
            </a:pPr>
            <a:r>
              <a:rPr lang="en-US" sz="900" dirty="0">
                <a:solidFill>
                  <a:schemeClr val="accent5"/>
                </a:solidFill>
              </a:rPr>
              <a:t>Bitbucket, reviewed and signed</a:t>
            </a:r>
            <a:endParaRPr lang="en-US" sz="1050" dirty="0"/>
          </a:p>
        </p:txBody>
      </p:sp>
      <p:sp>
        <p:nvSpPr>
          <p:cNvPr id="50" name="box Event-Driven Ansible"/>
          <p:cNvSpPr/>
          <p:nvPr/>
        </p:nvSpPr>
        <p:spPr>
          <a:xfrm>
            <a:off x="3898316" y="5248656"/>
            <a:ext cx="1731188" cy="658368"/>
          </a:xfrm>
          <a:prstGeom prst="roundRect">
            <a:avLst>
              <a:gd name="adj" fmla="val 5556"/>
            </a:avLst>
          </a:prstGeom>
          <a:solidFill>
            <a:srgbClr val="F3F4F6"/>
          </a:solidFill>
          <a:ln w="12700">
            <a:solidFill>
              <a:srgbClr val="F3F4F6"/>
            </a:solidFill>
            <a:prstDash val="solid"/>
          </a:ln>
        </p:spPr>
      </p:sp>
      <p:sp>
        <p:nvSpPr>
          <p:cNvPr id="51" name="box text Event-Driven Ansible"/>
          <p:cNvSpPr txBox="1"/>
          <p:nvPr/>
        </p:nvSpPr>
        <p:spPr>
          <a:xfrm>
            <a:off x="3989756" y="5285232"/>
            <a:ext cx="1548308" cy="585216"/>
          </a:xfrm>
          <a:prstGeom prst="rect">
            <a:avLst/>
          </a:prstGeom>
          <a:noFill/>
          <a:ln/>
        </p:spPr>
        <p:txBody>
          <a:bodyPr wrap="square" lIns="0" tIns="0" rIns="0" bIns="0" rtlCol="0" anchor="ctr"/>
          <a:lstStyle/>
          <a:p>
            <a:pPr indent="0" marL="0">
              <a:buNone/>
            </a:pPr>
            <a:r>
              <a:rPr lang="en-US" sz="1050" b="1" dirty="0">
                <a:solidFill>
                  <a:schemeClr val="tx1"/>
                </a:solidFill>
              </a:rPr>
              <a:t>Event-Driven Ansible</a:t>
            </a:r>
            <a:endParaRPr lang="en-US" sz="1050" dirty="0"/>
          </a:p>
          <a:p>
            <a:pPr indent="0" marL="0">
              <a:buNone/>
            </a:pPr>
            <a:r>
              <a:rPr lang="en-US" sz="900" dirty="0">
                <a:solidFill>
                  <a:schemeClr val="accent5"/>
                </a:solidFill>
              </a:rPr>
              <a:t>rulebooks — already proven</a:t>
            </a:r>
            <a:endParaRPr lang="en-US" sz="1050" dirty="0"/>
          </a:p>
        </p:txBody>
      </p:sp>
      <p:sp>
        <p:nvSpPr>
          <p:cNvPr id="52" name="box Ansible · ArgoCD · OpenShift"/>
          <p:cNvSpPr/>
          <p:nvPr/>
        </p:nvSpPr>
        <p:spPr>
          <a:xfrm>
            <a:off x="5739232" y="5248656"/>
            <a:ext cx="1731188" cy="658368"/>
          </a:xfrm>
          <a:prstGeom prst="roundRect">
            <a:avLst>
              <a:gd name="adj" fmla="val 5556"/>
            </a:avLst>
          </a:prstGeom>
          <a:solidFill>
            <a:srgbClr val="F3F4F6"/>
          </a:solidFill>
          <a:ln w="12700">
            <a:solidFill>
              <a:srgbClr val="F3F4F6"/>
            </a:solidFill>
            <a:prstDash val="solid"/>
          </a:ln>
        </p:spPr>
      </p:sp>
      <p:sp>
        <p:nvSpPr>
          <p:cNvPr id="53" name="box text Ansible · ArgoCD · OpenShift"/>
          <p:cNvSpPr txBox="1"/>
          <p:nvPr/>
        </p:nvSpPr>
        <p:spPr>
          <a:xfrm>
            <a:off x="5830672" y="5285232"/>
            <a:ext cx="1548308" cy="585216"/>
          </a:xfrm>
          <a:prstGeom prst="rect">
            <a:avLst/>
          </a:prstGeom>
          <a:noFill/>
          <a:ln/>
        </p:spPr>
        <p:txBody>
          <a:bodyPr wrap="square" lIns="0" tIns="0" rIns="0" bIns="0" rtlCol="0" anchor="ctr"/>
          <a:lstStyle/>
          <a:p>
            <a:pPr indent="0" marL="0">
              <a:buNone/>
            </a:pPr>
            <a:r>
              <a:rPr lang="en-US" sz="1050" b="1" dirty="0">
                <a:solidFill>
                  <a:schemeClr val="tx1"/>
                </a:solidFill>
              </a:rPr>
              <a:t>Ansible · ArgoCD · OpenShift</a:t>
            </a:r>
            <a:endParaRPr lang="en-US" sz="1050" dirty="0"/>
          </a:p>
          <a:p>
            <a:pPr indent="0" marL="0">
              <a:buNone/>
            </a:pPr>
            <a:r>
              <a:rPr lang="en-US" sz="900" dirty="0">
                <a:solidFill>
                  <a:schemeClr val="accent5"/>
                </a:solidFill>
              </a:rPr>
              <a:t>execution targets</a:t>
            </a:r>
            <a:endParaRPr lang="en-US" sz="1050" dirty="0"/>
          </a:p>
        </p:txBody>
      </p:sp>
      <p:sp>
        <p:nvSpPr>
          <p:cNvPr id="54" name="box Gates"/>
          <p:cNvSpPr/>
          <p:nvPr/>
        </p:nvSpPr>
        <p:spPr>
          <a:xfrm>
            <a:off x="7580147" y="5248656"/>
            <a:ext cx="1731188" cy="658368"/>
          </a:xfrm>
          <a:prstGeom prst="roundRect">
            <a:avLst>
              <a:gd name="adj" fmla="val 5556"/>
            </a:avLst>
          </a:prstGeom>
          <a:solidFill>
            <a:srgbClr val="FFFFFF"/>
          </a:solidFill>
          <a:ln w="15875">
            <a:solidFill>
              <a:srgbClr val="008F5F"/>
            </a:solidFill>
            <a:prstDash val="solid"/>
          </a:ln>
        </p:spPr>
      </p:sp>
      <p:sp>
        <p:nvSpPr>
          <p:cNvPr id="55" name="box text Gates"/>
          <p:cNvSpPr txBox="1"/>
          <p:nvPr/>
        </p:nvSpPr>
        <p:spPr>
          <a:xfrm>
            <a:off x="7671587" y="5285232"/>
            <a:ext cx="1548308" cy="585216"/>
          </a:xfrm>
          <a:prstGeom prst="rect">
            <a:avLst/>
          </a:prstGeom>
          <a:noFill/>
          <a:ln/>
        </p:spPr>
        <p:txBody>
          <a:bodyPr wrap="square" lIns="0" tIns="0" rIns="0" bIns="0" rtlCol="0" anchor="ctr"/>
          <a:lstStyle/>
          <a:p>
            <a:pPr indent="0" marL="0">
              <a:buNone/>
            </a:pPr>
            <a:r>
              <a:rPr lang="en-US" sz="1050" b="1" dirty="0">
                <a:solidFill>
                  <a:schemeClr val="accent2"/>
                </a:solidFill>
              </a:rPr>
              <a:t>Gates</a:t>
            </a:r>
            <a:endParaRPr lang="en-US" sz="1050" dirty="0"/>
          </a:p>
          <a:p>
            <a:pPr indent="0" marL="0">
              <a:buNone/>
            </a:pPr>
            <a:r>
              <a:rPr lang="en-US" sz="900" dirty="0">
                <a:solidFill>
                  <a:schemeClr val="accent5"/>
                </a:solidFill>
              </a:rPr>
              <a:t>four-eyes · change freeze · dry-run · blast radius · post-check</a:t>
            </a:r>
            <a:endParaRPr lang="en-US" sz="1050" dirty="0"/>
          </a:p>
        </p:txBody>
      </p:sp>
      <p:sp>
        <p:nvSpPr>
          <p:cNvPr id="56" name="governance rail"/>
          <p:cNvSpPr/>
          <p:nvPr/>
        </p:nvSpPr>
        <p:spPr>
          <a:xfrm>
            <a:off x="9585655" y="1810512"/>
            <a:ext cx="2057400" cy="4096512"/>
          </a:xfrm>
          <a:prstGeom prst="roundRect">
            <a:avLst>
              <a:gd name="adj" fmla="val 1778"/>
            </a:avLst>
          </a:prstGeom>
          <a:solidFill>
            <a:srgbClr val="0C0D0D"/>
          </a:solidFill>
          <a:ln w="12700">
            <a:solidFill>
              <a:srgbClr val="0C0D0D"/>
            </a:solidFill>
            <a:prstDash val="solid"/>
          </a:ln>
        </p:spPr>
      </p:sp>
      <p:sp>
        <p:nvSpPr>
          <p:cNvPr id="57" name="eyebrow mark"/>
          <p:cNvSpPr/>
          <p:nvPr/>
        </p:nvSpPr>
        <p:spPr>
          <a:xfrm>
            <a:off x="9768535" y="2043684"/>
            <a:ext cx="91440" cy="91440"/>
          </a:xfrm>
          <a:prstGeom prst="rect">
            <a:avLst/>
          </a:prstGeom>
          <a:solidFill>
            <a:schemeClr val="accent1"/>
          </a:solidFill>
          <a:ln w="12700">
            <a:solidFill>
              <a:schemeClr val="accent1"/>
            </a:solidFill>
            <a:prstDash val="solid"/>
          </a:ln>
        </p:spPr>
      </p:sp>
      <p:sp>
        <p:nvSpPr>
          <p:cNvPr id="58" name="eyebrow MAS TRM CONTROLS"/>
          <p:cNvSpPr txBox="1"/>
          <p:nvPr/>
        </p:nvSpPr>
        <p:spPr>
          <a:xfrm>
            <a:off x="9933127" y="1975104"/>
            <a:ext cx="1691640" cy="228600"/>
          </a:xfrm>
          <a:prstGeom prst="rect">
            <a:avLst/>
          </a:prstGeom>
          <a:noFill/>
          <a:ln/>
        </p:spPr>
        <p:txBody>
          <a:bodyPr wrap="square" lIns="0" tIns="0" rIns="0" bIns="0" rtlCol="0" anchor="ctr"/>
          <a:lstStyle/>
          <a:p>
            <a:pPr indent="0" marL="0">
              <a:buNone/>
            </a:pPr>
            <a:r>
              <a:rPr lang="en-US" sz="950" b="1" spc="150" kern="0" dirty="0">
                <a:solidFill>
                  <a:srgbClr val="AFB1B6"/>
                </a:solidFill>
                <a:latin typeface="Courier New" pitchFamily="34" charset="0"/>
                <a:ea typeface="Courier New" pitchFamily="34" charset="-122"/>
                <a:cs typeface="Courier New" pitchFamily="34" charset="-120"/>
              </a:rPr>
              <a:t>MAS TRM CONTROLS</a:t>
            </a:r>
            <a:endParaRPr lang="en-US" sz="950" dirty="0"/>
          </a:p>
        </p:txBody>
      </p:sp>
      <p:sp>
        <p:nvSpPr>
          <p:cNvPr id="59" name="governance items"/>
          <p:cNvSpPr txBox="1"/>
          <p:nvPr/>
        </p:nvSpPr>
        <p:spPr>
          <a:xfrm>
            <a:off x="9768535" y="2313432"/>
            <a:ext cx="1691640" cy="3456432"/>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E4E5E8"/>
                </a:solidFill>
              </a:rPr>
              <a:t>Approval recorded with reason, RCA confidence and change reference</a:t>
            </a:r>
            <a:endParaRPr lang="en-US" sz="1050" dirty="0"/>
          </a:p>
          <a:p>
            <a:pPr marL="152400" indent="-152400">
              <a:spcAft>
                <a:spcPts val="500"/>
              </a:spcAft>
              <a:buSzPct val="100000"/>
              <a:buChar char="•"/>
            </a:pPr>
            <a:r>
              <a:rPr lang="en-US" sz="1050" dirty="0">
                <a:solidFill>
                  <a:srgbClr val="E4E5E8"/>
                </a:solidFill>
              </a:rPr>
              <a:t>Second approver is the service owner; break-glass actions retro-approved</a:t>
            </a:r>
            <a:endParaRPr lang="en-US" sz="1050" dirty="0"/>
          </a:p>
          <a:p>
            <a:pPr marL="152400" indent="-152400">
              <a:spcAft>
                <a:spcPts val="500"/>
              </a:spcAft>
              <a:buSzPct val="100000"/>
              <a:buChar char="•"/>
            </a:pPr>
            <a:r>
              <a:rPr lang="en-US" sz="1050" dirty="0">
                <a:solidFill>
                  <a:srgbClr val="E4E5E8"/>
                </a:solidFill>
              </a:rPr>
              <a:t>Notify ≤ 1 h · recover ≤ 4 h · report ≤ 14 d, timed from discovery</a:t>
            </a:r>
            <a:endParaRPr lang="en-US" sz="1050" dirty="0"/>
          </a:p>
          <a:p>
            <a:pPr marL="152400" indent="-152400">
              <a:spcAft>
                <a:spcPts val="500"/>
              </a:spcAft>
              <a:buSzPct val="100000"/>
              <a:buChar char="•"/>
            </a:pPr>
            <a:r>
              <a:rPr lang="en-US" sz="1050" dirty="0">
                <a:solidFill>
                  <a:srgbClr val="E4E5E8"/>
                </a:solidFill>
              </a:rPr>
              <a:t>Evidence, hypotheses, outcomes and attestations append-only</a:t>
            </a:r>
            <a:endParaRPr lang="en-US" sz="1050" dirty="0"/>
          </a:p>
          <a:p>
            <a:pPr marL="152400" indent="-152400">
              <a:spcAft>
                <a:spcPts val="500"/>
              </a:spcAft>
              <a:buSzPct val="100000"/>
              <a:buChar char="•"/>
            </a:pPr>
            <a:r>
              <a:rPr lang="en-US" sz="1050" dirty="0">
                <a:solidFill>
                  <a:srgbClr val="E4E5E8"/>
                </a:solidFill>
              </a:rPr>
              <a:t>Every step in the audit stream, retained seven years</a:t>
            </a:r>
            <a:endParaRPr lang="en-US" sz="1050" dirty="0"/>
          </a:p>
        </p:txBody>
      </p:sp>
      <p:sp>
        <p:nvSpPr>
          <p:cNvPr id="60" name="legend old"/>
          <p:cNvSpPr/>
          <p:nvPr/>
        </p:nvSpPr>
        <p:spPr>
          <a:xfrm>
            <a:off x="2057400" y="6071616"/>
            <a:ext cx="274320" cy="146304"/>
          </a:xfrm>
          <a:prstGeom prst="roundRect">
            <a:avLst>
              <a:gd name="adj" fmla="val 12500"/>
            </a:avLst>
          </a:prstGeom>
          <a:solidFill>
            <a:srgbClr val="F3F4F6"/>
          </a:solidFill>
          <a:ln w="12700">
            <a:solidFill>
              <a:srgbClr val="F3F4F6"/>
            </a:solidFill>
            <a:prstDash val="solid"/>
          </a:ln>
        </p:spPr>
      </p:sp>
      <p:sp>
        <p:nvSpPr>
          <p:cNvPr id="61" name="legend old text"/>
          <p:cNvSpPr txBox="1"/>
          <p:nvPr/>
        </p:nvSpPr>
        <p:spPr>
          <a:xfrm>
            <a:off x="2404872" y="6035040"/>
            <a:ext cx="1645920" cy="219456"/>
          </a:xfrm>
          <a:prstGeom prst="rect">
            <a:avLst/>
          </a:prstGeom>
          <a:noFill/>
          <a:ln/>
        </p:spPr>
        <p:txBody>
          <a:bodyPr wrap="square" lIns="0" tIns="0" rIns="0" bIns="0" rtlCol="0" anchor="ctr"/>
          <a:lstStyle/>
          <a:p>
            <a:pPr indent="0" marL="0">
              <a:buNone/>
            </a:pPr>
            <a:r>
              <a:rPr lang="en-US" sz="950" dirty="0">
                <a:solidFill>
                  <a:schemeClr val="accent5"/>
                </a:solidFill>
              </a:rPr>
              <a:t>in production today</a:t>
            </a:r>
            <a:endParaRPr lang="en-US" sz="950" dirty="0"/>
          </a:p>
        </p:txBody>
      </p:sp>
      <p:sp>
        <p:nvSpPr>
          <p:cNvPr id="62" name="legend new"/>
          <p:cNvSpPr/>
          <p:nvPr/>
        </p:nvSpPr>
        <p:spPr>
          <a:xfrm>
            <a:off x="4069080" y="6071616"/>
            <a:ext cx="274320" cy="146304"/>
          </a:xfrm>
          <a:prstGeom prst="roundRect">
            <a:avLst>
              <a:gd name="adj" fmla="val 12500"/>
            </a:avLst>
          </a:prstGeom>
          <a:solidFill>
            <a:srgbClr val="FFFFFF"/>
          </a:solidFill>
          <a:ln w="15875">
            <a:solidFill>
              <a:srgbClr val="008F5F"/>
            </a:solidFill>
            <a:prstDash val="solid"/>
          </a:ln>
        </p:spPr>
      </p:sp>
      <p:sp>
        <p:nvSpPr>
          <p:cNvPr id="63" name="legend new text"/>
          <p:cNvSpPr txBox="1"/>
          <p:nvPr/>
        </p:nvSpPr>
        <p:spPr>
          <a:xfrm>
            <a:off x="4416552" y="6035040"/>
            <a:ext cx="2926080" cy="219456"/>
          </a:xfrm>
          <a:prstGeom prst="rect">
            <a:avLst/>
          </a:prstGeom>
          <a:noFill/>
          <a:ln/>
        </p:spPr>
        <p:txBody>
          <a:bodyPr wrap="square" lIns="0" tIns="0" rIns="0" bIns="0" rtlCol="0" anchor="ctr"/>
          <a:lstStyle/>
          <a:p>
            <a:pPr indent="0" marL="0">
              <a:buNone/>
            </a:pPr>
            <a:r>
              <a:rPr lang="en-US" sz="950" dirty="0">
                <a:solidFill>
                  <a:schemeClr val="accent5"/>
                </a:solidFill>
              </a:rPr>
              <a:t>to be built or configured by the squad</a:t>
            </a:r>
            <a:endParaRPr lang="en-US" sz="9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mark"/>
          <p:cNvSpPr/>
          <p:nvPr/>
        </p:nvSpPr>
        <p:spPr>
          <a:xfrm>
            <a:off x="548640" y="452628"/>
            <a:ext cx="91440" cy="91440"/>
          </a:xfrm>
          <a:prstGeom prst="rect">
            <a:avLst/>
          </a:prstGeom>
          <a:solidFill>
            <a:schemeClr val="accent1"/>
          </a:solidFill>
          <a:ln w="12700">
            <a:solidFill>
              <a:schemeClr val="accent1"/>
            </a:solidFill>
            <a:prstDash val="solid"/>
          </a:ln>
        </p:spPr>
      </p:sp>
      <p:sp>
        <p:nvSpPr>
          <p:cNvPr id="3" name="eyebrow THE NEXT TWO YEARS · Q4 2026 → Q4 2028"/>
          <p:cNvSpPr txBox="1"/>
          <p:nvPr/>
        </p:nvSpPr>
        <p:spPr>
          <a:xfrm>
            <a:off x="713232" y="384048"/>
            <a:ext cx="5486400" cy="228600"/>
          </a:xfrm>
          <a:prstGeom prst="rect">
            <a:avLst/>
          </a:prstGeom>
          <a:noFill/>
          <a:ln/>
        </p:spPr>
        <p:txBody>
          <a:bodyPr wrap="square" lIns="0" tIns="0" rIns="0" bIns="0" rtlCol="0" anchor="ctr"/>
          <a:lstStyle/>
          <a:p>
            <a:pPr indent="0" marL="0">
              <a:buNone/>
            </a:pPr>
            <a:r>
              <a:rPr lang="en-US" sz="950" b="1" spc="150" kern="0" dirty="0">
                <a:solidFill>
                  <a:schemeClr val="accent5"/>
                </a:solidFill>
                <a:latin typeface="Courier New" pitchFamily="34" charset="0"/>
                <a:ea typeface="Courier New" pitchFamily="34" charset="-122"/>
                <a:cs typeface="Courier New" pitchFamily="34" charset="-120"/>
              </a:rPr>
              <a:t>THE NEXT TWO YEARS · Q4 2026 → Q4 2028</a:t>
            </a:r>
            <a:endParaRPr lang="en-US" sz="950" dirty="0"/>
          </a:p>
        </p:txBody>
      </p:sp>
      <p:sp>
        <p:nvSpPr>
          <p:cNvPr id="4" name="Text 0"/>
          <p:cNvSpPr/>
          <p:nvPr>
            <p:ph idx="100" type="title" hasCustomPrompt="1"/>
          </p:nvPr>
        </p:nvSpPr>
        <p:spPr>
          <a:xfrm>
            <a:off x="548640" y="658368"/>
            <a:ext cx="11094415" cy="960120"/>
          </a:xfrm>
          <a:prstGeom prst="rect">
            <a:avLst/>
          </a:prstGeom>
          <a:noFill/>
          <a:ln/>
        </p:spPr>
        <p:txBody>
          <a:bodyPr wrap="square" lIns="0" tIns="0" rIns="0" bIns="0" rtlCol="0" anchor="t"/>
          <a:lstStyle/>
          <a:p>
            <a:pPr algn="l" indent="0" marL="0">
              <a:lnSpc>
                <a:spcPct val="100000"/>
              </a:lnSpc>
              <a:buNone/>
            </a:pPr>
            <a:r>
              <a:rPr lang="en-US" sz="2600" b="1" dirty="0">
                <a:solidFill>
                  <a:schemeClr val="tx1"/>
                </a:solidFill>
              </a:rPr>
              <a:t>Tier-1 services are on the Bridge within a year; the full command-and-assurance loop is live by the end of 2028</a:t>
            </a:r>
            <a:endParaRPr lang="en-US" sz="2600" dirty="0"/>
          </a:p>
        </p:txBody>
      </p:sp>
      <p:sp>
        <p:nvSpPr>
          <p:cNvPr id="5" name="year 2026"/>
          <p:cNvSpPr txBox="1"/>
          <p:nvPr/>
        </p:nvSpPr>
        <p:spPr>
          <a:xfrm>
            <a:off x="2057400" y="1755648"/>
            <a:ext cx="1065073" cy="219456"/>
          </a:xfrm>
          <a:prstGeom prst="rect">
            <a:avLst/>
          </a:prstGeom>
          <a:noFill/>
          <a:ln/>
        </p:spPr>
        <p:txBody>
          <a:bodyPr wrap="square" lIns="0" tIns="0" rIns="0" bIns="0" rtlCol="0" anchor="ctr"/>
          <a:lstStyle/>
          <a:p>
            <a:pPr algn="ctr" indent="0" marL="0">
              <a:buNone/>
            </a:pPr>
            <a:r>
              <a:rPr lang="en-US" sz="950" b="1" dirty="0">
                <a:solidFill>
                  <a:schemeClr val="tx1"/>
                </a:solidFill>
                <a:latin typeface="Courier New" pitchFamily="34" charset="0"/>
                <a:ea typeface="Courier New" pitchFamily="34" charset="-122"/>
                <a:cs typeface="Courier New" pitchFamily="34" charset="-120"/>
              </a:rPr>
              <a:t>2026</a:t>
            </a:r>
            <a:endParaRPr lang="en-US" sz="950" dirty="0"/>
          </a:p>
        </p:txBody>
      </p:sp>
      <p:sp>
        <p:nvSpPr>
          <p:cNvPr id="6" name="year rule 2026"/>
          <p:cNvSpPr/>
          <p:nvPr/>
        </p:nvSpPr>
        <p:spPr>
          <a:xfrm>
            <a:off x="2103120" y="1993392"/>
            <a:ext cx="973633" cy="0"/>
          </a:xfrm>
          <a:prstGeom prst="line">
            <a:avLst/>
          </a:prstGeom>
          <a:noFill/>
          <a:ln w="9525">
            <a:solidFill>
              <a:srgbClr val="C9CBCF"/>
            </a:solidFill>
            <a:prstDash val="solid"/>
          </a:ln>
        </p:spPr>
      </p:sp>
      <p:sp>
        <p:nvSpPr>
          <p:cNvPr id="7" name="year 2027"/>
          <p:cNvSpPr txBox="1"/>
          <p:nvPr/>
        </p:nvSpPr>
        <p:spPr>
          <a:xfrm>
            <a:off x="3122473" y="1755648"/>
            <a:ext cx="4260291" cy="219456"/>
          </a:xfrm>
          <a:prstGeom prst="rect">
            <a:avLst/>
          </a:prstGeom>
          <a:noFill/>
          <a:ln/>
        </p:spPr>
        <p:txBody>
          <a:bodyPr wrap="square" lIns="0" tIns="0" rIns="0" bIns="0" rtlCol="0" anchor="ctr"/>
          <a:lstStyle/>
          <a:p>
            <a:pPr algn="ctr" indent="0" marL="0">
              <a:buNone/>
            </a:pPr>
            <a:r>
              <a:rPr lang="en-US" sz="950" b="1" dirty="0">
                <a:solidFill>
                  <a:schemeClr val="tx1"/>
                </a:solidFill>
                <a:latin typeface="Courier New" pitchFamily="34" charset="0"/>
                <a:ea typeface="Courier New" pitchFamily="34" charset="-122"/>
                <a:cs typeface="Courier New" pitchFamily="34" charset="-120"/>
              </a:rPr>
              <a:t>2027</a:t>
            </a:r>
            <a:endParaRPr lang="en-US" sz="950" dirty="0"/>
          </a:p>
        </p:txBody>
      </p:sp>
      <p:sp>
        <p:nvSpPr>
          <p:cNvPr id="8" name="year rule 2027"/>
          <p:cNvSpPr/>
          <p:nvPr/>
        </p:nvSpPr>
        <p:spPr>
          <a:xfrm>
            <a:off x="3168193" y="1993392"/>
            <a:ext cx="4168851" cy="0"/>
          </a:xfrm>
          <a:prstGeom prst="line">
            <a:avLst/>
          </a:prstGeom>
          <a:noFill/>
          <a:ln w="9525">
            <a:solidFill>
              <a:srgbClr val="C9CBCF"/>
            </a:solidFill>
            <a:prstDash val="solid"/>
          </a:ln>
        </p:spPr>
      </p:sp>
      <p:sp>
        <p:nvSpPr>
          <p:cNvPr id="9" name="year 2028"/>
          <p:cNvSpPr txBox="1"/>
          <p:nvPr/>
        </p:nvSpPr>
        <p:spPr>
          <a:xfrm>
            <a:off x="7382764" y="1755648"/>
            <a:ext cx="4260291" cy="219456"/>
          </a:xfrm>
          <a:prstGeom prst="rect">
            <a:avLst/>
          </a:prstGeom>
          <a:noFill/>
          <a:ln/>
        </p:spPr>
        <p:txBody>
          <a:bodyPr wrap="square" lIns="0" tIns="0" rIns="0" bIns="0" rtlCol="0" anchor="ctr"/>
          <a:lstStyle/>
          <a:p>
            <a:pPr algn="ctr" indent="0" marL="0">
              <a:buNone/>
            </a:pPr>
            <a:r>
              <a:rPr lang="en-US" sz="950" b="1" dirty="0">
                <a:solidFill>
                  <a:schemeClr val="tx1"/>
                </a:solidFill>
                <a:latin typeface="Courier New" pitchFamily="34" charset="0"/>
                <a:ea typeface="Courier New" pitchFamily="34" charset="-122"/>
                <a:cs typeface="Courier New" pitchFamily="34" charset="-120"/>
              </a:rPr>
              <a:t>2028</a:t>
            </a:r>
            <a:endParaRPr lang="en-US" sz="950" dirty="0"/>
          </a:p>
        </p:txBody>
      </p:sp>
      <p:sp>
        <p:nvSpPr>
          <p:cNvPr id="10" name="year rule 2028"/>
          <p:cNvSpPr/>
          <p:nvPr/>
        </p:nvSpPr>
        <p:spPr>
          <a:xfrm>
            <a:off x="7428484" y="1993392"/>
            <a:ext cx="4168851" cy="0"/>
          </a:xfrm>
          <a:prstGeom prst="line">
            <a:avLst/>
          </a:prstGeom>
          <a:noFill/>
          <a:ln w="9525">
            <a:solidFill>
              <a:srgbClr val="C9CBCF"/>
            </a:solidFill>
            <a:prstDash val="solid"/>
          </a:ln>
        </p:spPr>
      </p:sp>
      <p:sp>
        <p:nvSpPr>
          <p:cNvPr id="11" name="quarter 0"/>
          <p:cNvSpPr txBox="1"/>
          <p:nvPr/>
        </p:nvSpPr>
        <p:spPr>
          <a:xfrm>
            <a:off x="2057400" y="1993392"/>
            <a:ext cx="1065073" cy="219456"/>
          </a:xfrm>
          <a:prstGeom prst="rect">
            <a:avLst/>
          </a:prstGeom>
          <a:noFill/>
          <a:ln/>
        </p:spPr>
        <p:txBody>
          <a:bodyPr wrap="square" lIns="0" tIns="0" rIns="0" bIns="0" rtlCol="0" anchor="ctr"/>
          <a:lstStyle/>
          <a:p>
            <a:pPr algn="ctr" indent="0" marL="0">
              <a:buNone/>
            </a:pPr>
            <a:r>
              <a:rPr lang="en-US" sz="900" dirty="0">
                <a:solidFill>
                  <a:schemeClr val="accent5"/>
                </a:solidFill>
                <a:latin typeface="Courier New" pitchFamily="34" charset="0"/>
                <a:ea typeface="Courier New" pitchFamily="34" charset="-122"/>
                <a:cs typeface="Courier New" pitchFamily="34" charset="-120"/>
              </a:rPr>
              <a:t>Q4</a:t>
            </a:r>
            <a:endParaRPr lang="en-US" sz="900" dirty="0"/>
          </a:p>
        </p:txBody>
      </p:sp>
      <p:sp>
        <p:nvSpPr>
          <p:cNvPr id="12" name="quarter 1"/>
          <p:cNvSpPr txBox="1"/>
          <p:nvPr/>
        </p:nvSpPr>
        <p:spPr>
          <a:xfrm>
            <a:off x="3122473" y="1993392"/>
            <a:ext cx="1065073" cy="219456"/>
          </a:xfrm>
          <a:prstGeom prst="rect">
            <a:avLst/>
          </a:prstGeom>
          <a:noFill/>
          <a:ln/>
        </p:spPr>
        <p:txBody>
          <a:bodyPr wrap="square" lIns="0" tIns="0" rIns="0" bIns="0" rtlCol="0" anchor="ctr"/>
          <a:lstStyle/>
          <a:p>
            <a:pPr algn="ctr" indent="0" marL="0">
              <a:buNone/>
            </a:pPr>
            <a:r>
              <a:rPr lang="en-US" sz="900" dirty="0">
                <a:solidFill>
                  <a:schemeClr val="accent5"/>
                </a:solidFill>
                <a:latin typeface="Courier New" pitchFamily="34" charset="0"/>
                <a:ea typeface="Courier New" pitchFamily="34" charset="-122"/>
                <a:cs typeface="Courier New" pitchFamily="34" charset="-120"/>
              </a:rPr>
              <a:t>Q1</a:t>
            </a:r>
            <a:endParaRPr lang="en-US" sz="900" dirty="0"/>
          </a:p>
        </p:txBody>
      </p:sp>
      <p:sp>
        <p:nvSpPr>
          <p:cNvPr id="13" name="quarter 2"/>
          <p:cNvSpPr txBox="1"/>
          <p:nvPr/>
        </p:nvSpPr>
        <p:spPr>
          <a:xfrm>
            <a:off x="4187546" y="1993392"/>
            <a:ext cx="1065073" cy="219456"/>
          </a:xfrm>
          <a:prstGeom prst="rect">
            <a:avLst/>
          </a:prstGeom>
          <a:noFill/>
          <a:ln/>
        </p:spPr>
        <p:txBody>
          <a:bodyPr wrap="square" lIns="0" tIns="0" rIns="0" bIns="0" rtlCol="0" anchor="ctr"/>
          <a:lstStyle/>
          <a:p>
            <a:pPr algn="ctr" indent="0" marL="0">
              <a:buNone/>
            </a:pPr>
            <a:r>
              <a:rPr lang="en-US" sz="900" dirty="0">
                <a:solidFill>
                  <a:schemeClr val="accent5"/>
                </a:solidFill>
                <a:latin typeface="Courier New" pitchFamily="34" charset="0"/>
                <a:ea typeface="Courier New" pitchFamily="34" charset="-122"/>
                <a:cs typeface="Courier New" pitchFamily="34" charset="-120"/>
              </a:rPr>
              <a:t>Q2</a:t>
            </a:r>
            <a:endParaRPr lang="en-US" sz="900" dirty="0"/>
          </a:p>
        </p:txBody>
      </p:sp>
      <p:sp>
        <p:nvSpPr>
          <p:cNvPr id="14" name="quarter 3"/>
          <p:cNvSpPr txBox="1"/>
          <p:nvPr/>
        </p:nvSpPr>
        <p:spPr>
          <a:xfrm>
            <a:off x="5252618" y="1993392"/>
            <a:ext cx="1065073" cy="219456"/>
          </a:xfrm>
          <a:prstGeom prst="rect">
            <a:avLst/>
          </a:prstGeom>
          <a:noFill/>
          <a:ln/>
        </p:spPr>
        <p:txBody>
          <a:bodyPr wrap="square" lIns="0" tIns="0" rIns="0" bIns="0" rtlCol="0" anchor="ctr"/>
          <a:lstStyle/>
          <a:p>
            <a:pPr algn="ctr" indent="0" marL="0">
              <a:buNone/>
            </a:pPr>
            <a:r>
              <a:rPr lang="en-US" sz="900" dirty="0">
                <a:solidFill>
                  <a:schemeClr val="accent5"/>
                </a:solidFill>
                <a:latin typeface="Courier New" pitchFamily="34" charset="0"/>
                <a:ea typeface="Courier New" pitchFamily="34" charset="-122"/>
                <a:cs typeface="Courier New" pitchFamily="34" charset="-120"/>
              </a:rPr>
              <a:t>Q3</a:t>
            </a:r>
            <a:endParaRPr lang="en-US" sz="900" dirty="0"/>
          </a:p>
        </p:txBody>
      </p:sp>
      <p:sp>
        <p:nvSpPr>
          <p:cNvPr id="15" name="quarter 4"/>
          <p:cNvSpPr txBox="1"/>
          <p:nvPr/>
        </p:nvSpPr>
        <p:spPr>
          <a:xfrm>
            <a:off x="6317691" y="1993392"/>
            <a:ext cx="1065073" cy="219456"/>
          </a:xfrm>
          <a:prstGeom prst="rect">
            <a:avLst/>
          </a:prstGeom>
          <a:noFill/>
          <a:ln/>
        </p:spPr>
        <p:txBody>
          <a:bodyPr wrap="square" lIns="0" tIns="0" rIns="0" bIns="0" rtlCol="0" anchor="ctr"/>
          <a:lstStyle/>
          <a:p>
            <a:pPr algn="ctr" indent="0" marL="0">
              <a:buNone/>
            </a:pPr>
            <a:r>
              <a:rPr lang="en-US" sz="900" dirty="0">
                <a:solidFill>
                  <a:schemeClr val="accent5"/>
                </a:solidFill>
                <a:latin typeface="Courier New" pitchFamily="34" charset="0"/>
                <a:ea typeface="Courier New" pitchFamily="34" charset="-122"/>
                <a:cs typeface="Courier New" pitchFamily="34" charset="-120"/>
              </a:rPr>
              <a:t>Q4</a:t>
            </a:r>
            <a:endParaRPr lang="en-US" sz="900" dirty="0"/>
          </a:p>
        </p:txBody>
      </p:sp>
      <p:sp>
        <p:nvSpPr>
          <p:cNvPr id="16" name="quarter 5"/>
          <p:cNvSpPr txBox="1"/>
          <p:nvPr/>
        </p:nvSpPr>
        <p:spPr>
          <a:xfrm>
            <a:off x="7382764" y="1993392"/>
            <a:ext cx="1065073" cy="219456"/>
          </a:xfrm>
          <a:prstGeom prst="rect">
            <a:avLst/>
          </a:prstGeom>
          <a:noFill/>
          <a:ln/>
        </p:spPr>
        <p:txBody>
          <a:bodyPr wrap="square" lIns="0" tIns="0" rIns="0" bIns="0" rtlCol="0" anchor="ctr"/>
          <a:lstStyle/>
          <a:p>
            <a:pPr algn="ctr" indent="0" marL="0">
              <a:buNone/>
            </a:pPr>
            <a:r>
              <a:rPr lang="en-US" sz="900" dirty="0">
                <a:solidFill>
                  <a:schemeClr val="accent5"/>
                </a:solidFill>
                <a:latin typeface="Courier New" pitchFamily="34" charset="0"/>
                <a:ea typeface="Courier New" pitchFamily="34" charset="-122"/>
                <a:cs typeface="Courier New" pitchFamily="34" charset="-120"/>
              </a:rPr>
              <a:t>Q1</a:t>
            </a:r>
            <a:endParaRPr lang="en-US" sz="900" dirty="0"/>
          </a:p>
        </p:txBody>
      </p:sp>
      <p:sp>
        <p:nvSpPr>
          <p:cNvPr id="17" name="quarter 6"/>
          <p:cNvSpPr txBox="1"/>
          <p:nvPr/>
        </p:nvSpPr>
        <p:spPr>
          <a:xfrm>
            <a:off x="8447837" y="1993392"/>
            <a:ext cx="1065073" cy="219456"/>
          </a:xfrm>
          <a:prstGeom prst="rect">
            <a:avLst/>
          </a:prstGeom>
          <a:noFill/>
          <a:ln/>
        </p:spPr>
        <p:txBody>
          <a:bodyPr wrap="square" lIns="0" tIns="0" rIns="0" bIns="0" rtlCol="0" anchor="ctr"/>
          <a:lstStyle/>
          <a:p>
            <a:pPr algn="ctr" indent="0" marL="0">
              <a:buNone/>
            </a:pPr>
            <a:r>
              <a:rPr lang="en-US" sz="900" dirty="0">
                <a:solidFill>
                  <a:schemeClr val="accent5"/>
                </a:solidFill>
                <a:latin typeface="Courier New" pitchFamily="34" charset="0"/>
                <a:ea typeface="Courier New" pitchFamily="34" charset="-122"/>
                <a:cs typeface="Courier New" pitchFamily="34" charset="-120"/>
              </a:rPr>
              <a:t>Q2</a:t>
            </a:r>
            <a:endParaRPr lang="en-US" sz="900" dirty="0"/>
          </a:p>
        </p:txBody>
      </p:sp>
      <p:sp>
        <p:nvSpPr>
          <p:cNvPr id="18" name="quarter 7"/>
          <p:cNvSpPr txBox="1"/>
          <p:nvPr/>
        </p:nvSpPr>
        <p:spPr>
          <a:xfrm>
            <a:off x="9512910" y="1993392"/>
            <a:ext cx="1065073" cy="219456"/>
          </a:xfrm>
          <a:prstGeom prst="rect">
            <a:avLst/>
          </a:prstGeom>
          <a:noFill/>
          <a:ln/>
        </p:spPr>
        <p:txBody>
          <a:bodyPr wrap="square" lIns="0" tIns="0" rIns="0" bIns="0" rtlCol="0" anchor="ctr"/>
          <a:lstStyle/>
          <a:p>
            <a:pPr algn="ctr" indent="0" marL="0">
              <a:buNone/>
            </a:pPr>
            <a:r>
              <a:rPr lang="en-US" sz="900" dirty="0">
                <a:solidFill>
                  <a:schemeClr val="accent5"/>
                </a:solidFill>
                <a:latin typeface="Courier New" pitchFamily="34" charset="0"/>
                <a:ea typeface="Courier New" pitchFamily="34" charset="-122"/>
                <a:cs typeface="Courier New" pitchFamily="34" charset="-120"/>
              </a:rPr>
              <a:t>Q3</a:t>
            </a:r>
            <a:endParaRPr lang="en-US" sz="900" dirty="0"/>
          </a:p>
        </p:txBody>
      </p:sp>
      <p:sp>
        <p:nvSpPr>
          <p:cNvPr id="19" name="quarter 8"/>
          <p:cNvSpPr txBox="1"/>
          <p:nvPr/>
        </p:nvSpPr>
        <p:spPr>
          <a:xfrm>
            <a:off x="10577982" y="1993392"/>
            <a:ext cx="1065073" cy="219456"/>
          </a:xfrm>
          <a:prstGeom prst="rect">
            <a:avLst/>
          </a:prstGeom>
          <a:noFill/>
          <a:ln/>
        </p:spPr>
        <p:txBody>
          <a:bodyPr wrap="square" lIns="0" tIns="0" rIns="0" bIns="0" rtlCol="0" anchor="ctr"/>
          <a:lstStyle/>
          <a:p>
            <a:pPr algn="ctr" indent="0" marL="0">
              <a:buNone/>
            </a:pPr>
            <a:r>
              <a:rPr lang="en-US" sz="900" dirty="0">
                <a:solidFill>
                  <a:schemeClr val="accent5"/>
                </a:solidFill>
                <a:latin typeface="Courier New" pitchFamily="34" charset="0"/>
                <a:ea typeface="Courier New" pitchFamily="34" charset="-122"/>
                <a:cs typeface="Courier New" pitchFamily="34" charset="-120"/>
              </a:rPr>
              <a:t>Q4</a:t>
            </a:r>
            <a:endParaRPr lang="en-US" sz="900" dirty="0"/>
          </a:p>
        </p:txBody>
      </p:sp>
      <p:sp>
        <p:nvSpPr>
          <p:cNvPr id="20" name="lane Foundations"/>
          <p:cNvSpPr txBox="1"/>
          <p:nvPr/>
        </p:nvSpPr>
        <p:spPr>
          <a:xfrm>
            <a:off x="548640" y="2286000"/>
            <a:ext cx="1417320" cy="512064"/>
          </a:xfrm>
          <a:prstGeom prst="rect">
            <a:avLst/>
          </a:prstGeom>
          <a:noFill/>
          <a:ln/>
        </p:spPr>
        <p:txBody>
          <a:bodyPr wrap="square" lIns="0" tIns="0" rIns="0" bIns="0" rtlCol="0" anchor="ctr"/>
          <a:lstStyle/>
          <a:p>
            <a:pPr indent="0" marL="0">
              <a:buNone/>
            </a:pPr>
            <a:r>
              <a:rPr lang="en-US" sz="1150" b="1" dirty="0">
                <a:solidFill>
                  <a:schemeClr val="tx1"/>
                </a:solidFill>
              </a:rPr>
              <a:t>Foundations</a:t>
            </a:r>
            <a:endParaRPr lang="en-US" sz="1150" dirty="0"/>
          </a:p>
        </p:txBody>
      </p:sp>
      <p:sp>
        <p:nvSpPr>
          <p:cNvPr id="21" name="lane rule 0"/>
          <p:cNvSpPr/>
          <p:nvPr/>
        </p:nvSpPr>
        <p:spPr>
          <a:xfrm>
            <a:off x="2057400" y="2834640"/>
            <a:ext cx="9585655" cy="0"/>
          </a:xfrm>
          <a:prstGeom prst="line">
            <a:avLst/>
          </a:prstGeom>
          <a:noFill/>
          <a:ln w="9525">
            <a:solidFill>
              <a:srgbClr val="ECEDEF"/>
            </a:solidFill>
            <a:prstDash val="solid"/>
          </a:ln>
        </p:spPr>
      </p:sp>
      <p:sp>
        <p:nvSpPr>
          <p:cNvPr id="22" name="bar Foundations 0"/>
          <p:cNvSpPr/>
          <p:nvPr/>
        </p:nvSpPr>
        <p:spPr>
          <a:xfrm>
            <a:off x="2093976" y="2322576"/>
            <a:ext cx="991921" cy="438912"/>
          </a:xfrm>
          <a:prstGeom prst="roundRect">
            <a:avLst>
              <a:gd name="adj" fmla="val 6250"/>
            </a:avLst>
          </a:prstGeom>
          <a:solidFill>
            <a:srgbClr val="0C0D0D"/>
          </a:solidFill>
          <a:ln w="9525">
            <a:solidFill>
              <a:srgbClr val="0C0D0D"/>
            </a:solidFill>
            <a:prstDash val="solid"/>
          </a:ln>
        </p:spPr>
      </p:sp>
      <p:sp>
        <p:nvSpPr>
          <p:cNvPr id="23" name="bar text Foundations 0"/>
          <p:cNvSpPr txBox="1"/>
          <p:nvPr/>
        </p:nvSpPr>
        <p:spPr>
          <a:xfrm>
            <a:off x="2148840" y="2322576"/>
            <a:ext cx="882193" cy="438912"/>
          </a:xfrm>
          <a:prstGeom prst="rect">
            <a:avLst/>
          </a:prstGeom>
          <a:noFill/>
          <a:ln/>
        </p:spPr>
        <p:txBody>
          <a:bodyPr wrap="square" lIns="0" tIns="0" rIns="0" bIns="0" rtlCol="0" anchor="ctr"/>
          <a:lstStyle/>
          <a:p>
            <a:pPr algn="l" indent="0" marL="0">
              <a:buNone/>
            </a:pPr>
            <a:r>
              <a:rPr lang="en-US" sz="900" dirty="0">
                <a:solidFill>
                  <a:srgbClr val="FFFFFF"/>
                </a:solidFill>
              </a:rPr>
              <a:t>Squad staffed · first 5 SLOs</a:t>
            </a:r>
            <a:endParaRPr lang="en-US" sz="900" dirty="0"/>
          </a:p>
        </p:txBody>
      </p:sp>
      <p:sp>
        <p:nvSpPr>
          <p:cNvPr id="24" name="bar Foundations 1"/>
          <p:cNvSpPr/>
          <p:nvPr/>
        </p:nvSpPr>
        <p:spPr>
          <a:xfrm>
            <a:off x="3159049" y="2322576"/>
            <a:ext cx="991921" cy="438912"/>
          </a:xfrm>
          <a:prstGeom prst="roundRect">
            <a:avLst>
              <a:gd name="adj" fmla="val 6250"/>
            </a:avLst>
          </a:prstGeom>
          <a:solidFill>
            <a:srgbClr val="0C0D0D"/>
          </a:solidFill>
          <a:ln w="9525">
            <a:solidFill>
              <a:srgbClr val="0C0D0D"/>
            </a:solidFill>
            <a:prstDash val="solid"/>
          </a:ln>
        </p:spPr>
      </p:sp>
      <p:sp>
        <p:nvSpPr>
          <p:cNvPr id="25" name="bar text Foundations 1"/>
          <p:cNvSpPr txBox="1"/>
          <p:nvPr/>
        </p:nvSpPr>
        <p:spPr>
          <a:xfrm>
            <a:off x="3213913" y="2322576"/>
            <a:ext cx="882193" cy="438912"/>
          </a:xfrm>
          <a:prstGeom prst="rect">
            <a:avLst/>
          </a:prstGeom>
          <a:noFill/>
          <a:ln/>
        </p:spPr>
        <p:txBody>
          <a:bodyPr wrap="square" lIns="0" tIns="0" rIns="0" bIns="0" rtlCol="0" anchor="ctr"/>
          <a:lstStyle/>
          <a:p>
            <a:pPr algn="l" indent="0" marL="0">
              <a:buNone/>
            </a:pPr>
            <a:r>
              <a:rPr lang="en-US" sz="900" dirty="0">
                <a:solidFill>
                  <a:srgbClr val="FFFFFF"/>
                </a:solidFill>
              </a:rPr>
              <a:t>SLI store · aggregation API</a:t>
            </a:r>
            <a:endParaRPr lang="en-US" sz="900" dirty="0"/>
          </a:p>
        </p:txBody>
      </p:sp>
      <p:sp>
        <p:nvSpPr>
          <p:cNvPr id="26" name="bar Foundations 2"/>
          <p:cNvSpPr/>
          <p:nvPr/>
        </p:nvSpPr>
        <p:spPr>
          <a:xfrm>
            <a:off x="4224122" y="2322576"/>
            <a:ext cx="991921" cy="438912"/>
          </a:xfrm>
          <a:prstGeom prst="roundRect">
            <a:avLst>
              <a:gd name="adj" fmla="val 6250"/>
            </a:avLst>
          </a:prstGeom>
          <a:solidFill>
            <a:srgbClr val="0C0D0D"/>
          </a:solidFill>
          <a:ln w="9525">
            <a:solidFill>
              <a:srgbClr val="0C0D0D"/>
            </a:solidFill>
            <a:prstDash val="solid"/>
          </a:ln>
        </p:spPr>
      </p:sp>
      <p:sp>
        <p:nvSpPr>
          <p:cNvPr id="27" name="bar text Foundations 2"/>
          <p:cNvSpPr txBox="1"/>
          <p:nvPr/>
        </p:nvSpPr>
        <p:spPr>
          <a:xfrm>
            <a:off x="4278986" y="2322576"/>
            <a:ext cx="882193" cy="438912"/>
          </a:xfrm>
          <a:prstGeom prst="rect">
            <a:avLst/>
          </a:prstGeom>
          <a:noFill/>
          <a:ln/>
        </p:spPr>
        <p:txBody>
          <a:bodyPr wrap="square" lIns="0" tIns="0" rIns="0" bIns="0" rtlCol="0" anchor="ctr"/>
          <a:lstStyle/>
          <a:p>
            <a:pPr algn="l" indent="0" marL="0">
              <a:buNone/>
            </a:pPr>
            <a:r>
              <a:rPr lang="en-US" sz="900" dirty="0">
                <a:solidFill>
                  <a:srgbClr val="FFFFFF"/>
                </a:solidFill>
              </a:rPr>
              <a:t>Burn-rate paging live</a:t>
            </a:r>
            <a:endParaRPr lang="en-US" sz="900" dirty="0"/>
          </a:p>
        </p:txBody>
      </p:sp>
      <p:sp>
        <p:nvSpPr>
          <p:cNvPr id="28" name="bar Foundations 3"/>
          <p:cNvSpPr/>
          <p:nvPr/>
        </p:nvSpPr>
        <p:spPr>
          <a:xfrm>
            <a:off x="6354267" y="2322576"/>
            <a:ext cx="2056994" cy="438912"/>
          </a:xfrm>
          <a:prstGeom prst="roundRect">
            <a:avLst>
              <a:gd name="adj" fmla="val 6250"/>
            </a:avLst>
          </a:prstGeom>
          <a:solidFill>
            <a:srgbClr val="F3F4F6"/>
          </a:solidFill>
          <a:ln w="9525">
            <a:solidFill>
              <a:srgbClr val="D9DBDF"/>
            </a:solidFill>
            <a:prstDash val="solid"/>
          </a:ln>
        </p:spPr>
      </p:sp>
      <p:sp>
        <p:nvSpPr>
          <p:cNvPr id="29" name="bar text Foundations 3"/>
          <p:cNvSpPr txBox="1"/>
          <p:nvPr/>
        </p:nvSpPr>
        <p:spPr>
          <a:xfrm>
            <a:off x="6409131" y="2322576"/>
            <a:ext cx="1947266" cy="438912"/>
          </a:xfrm>
          <a:prstGeom prst="rect">
            <a:avLst/>
          </a:prstGeom>
          <a:noFill/>
          <a:ln/>
        </p:spPr>
        <p:txBody>
          <a:bodyPr wrap="square" lIns="0" tIns="0" rIns="0" bIns="0" rtlCol="0" anchor="ctr"/>
          <a:lstStyle/>
          <a:p>
            <a:pPr algn="l" indent="0" marL="0">
              <a:buNone/>
            </a:pPr>
            <a:r>
              <a:rPr lang="en-US" sz="900" dirty="0">
                <a:solidFill>
                  <a:srgbClr val="0B0B0B"/>
                </a:solidFill>
              </a:rPr>
              <a:t>SLI store scale-out for Tier-2</a:t>
            </a:r>
            <a:endParaRPr lang="en-US" sz="900" dirty="0"/>
          </a:p>
        </p:txBody>
      </p:sp>
      <p:sp>
        <p:nvSpPr>
          <p:cNvPr id="30" name="lane Bridge"/>
          <p:cNvSpPr txBox="1"/>
          <p:nvPr/>
        </p:nvSpPr>
        <p:spPr>
          <a:xfrm>
            <a:off x="548640" y="2871216"/>
            <a:ext cx="1417320" cy="512064"/>
          </a:xfrm>
          <a:prstGeom prst="rect">
            <a:avLst/>
          </a:prstGeom>
          <a:noFill/>
          <a:ln/>
        </p:spPr>
        <p:txBody>
          <a:bodyPr wrap="square" lIns="0" tIns="0" rIns="0" bIns="0" rtlCol="0" anchor="ctr"/>
          <a:lstStyle/>
          <a:p>
            <a:pPr indent="0" marL="0">
              <a:buNone/>
            </a:pPr>
            <a:r>
              <a:rPr lang="en-US" sz="1150" b="1" dirty="0">
                <a:solidFill>
                  <a:schemeClr val="tx1"/>
                </a:solidFill>
              </a:rPr>
              <a:t>Bridge</a:t>
            </a:r>
            <a:endParaRPr lang="en-US" sz="1150" dirty="0"/>
          </a:p>
        </p:txBody>
      </p:sp>
      <p:sp>
        <p:nvSpPr>
          <p:cNvPr id="31" name="lane rule 1"/>
          <p:cNvSpPr/>
          <p:nvPr/>
        </p:nvSpPr>
        <p:spPr>
          <a:xfrm>
            <a:off x="2057400" y="3419856"/>
            <a:ext cx="9585655" cy="0"/>
          </a:xfrm>
          <a:prstGeom prst="line">
            <a:avLst/>
          </a:prstGeom>
          <a:noFill/>
          <a:ln w="9525">
            <a:solidFill>
              <a:srgbClr val="ECEDEF"/>
            </a:solidFill>
            <a:prstDash val="solid"/>
          </a:ln>
        </p:spPr>
      </p:sp>
      <p:sp>
        <p:nvSpPr>
          <p:cNvPr id="32" name="bar Bridge 0"/>
          <p:cNvSpPr/>
          <p:nvPr/>
        </p:nvSpPr>
        <p:spPr>
          <a:xfrm>
            <a:off x="3159049" y="2907792"/>
            <a:ext cx="991921" cy="438912"/>
          </a:xfrm>
          <a:prstGeom prst="roundRect">
            <a:avLst>
              <a:gd name="adj" fmla="val 6250"/>
            </a:avLst>
          </a:prstGeom>
          <a:solidFill>
            <a:srgbClr val="0C0D0D"/>
          </a:solidFill>
          <a:ln w="9525">
            <a:solidFill>
              <a:srgbClr val="0C0D0D"/>
            </a:solidFill>
            <a:prstDash val="solid"/>
          </a:ln>
        </p:spPr>
      </p:sp>
      <p:sp>
        <p:nvSpPr>
          <p:cNvPr id="33" name="bar text Bridge 0"/>
          <p:cNvSpPr txBox="1"/>
          <p:nvPr/>
        </p:nvSpPr>
        <p:spPr>
          <a:xfrm>
            <a:off x="3213913" y="2907792"/>
            <a:ext cx="882193" cy="438912"/>
          </a:xfrm>
          <a:prstGeom prst="rect">
            <a:avLst/>
          </a:prstGeom>
          <a:noFill/>
          <a:ln/>
        </p:spPr>
        <p:txBody>
          <a:bodyPr wrap="square" lIns="0" tIns="0" rIns="0" bIns="0" rtlCol="0" anchor="ctr"/>
          <a:lstStyle/>
          <a:p>
            <a:pPr algn="l" indent="0" marL="0">
              <a:buNone/>
            </a:pPr>
            <a:r>
              <a:rPr lang="en-US" sz="900" dirty="0">
                <a:solidFill>
                  <a:srgbClr val="FFFFFF"/>
                </a:solidFill>
              </a:rPr>
              <a:t>SLO board, read-only, in TCC</a:t>
            </a:r>
            <a:endParaRPr lang="en-US" sz="900" dirty="0"/>
          </a:p>
        </p:txBody>
      </p:sp>
      <p:sp>
        <p:nvSpPr>
          <p:cNvPr id="34" name="bar Bridge 1"/>
          <p:cNvSpPr/>
          <p:nvPr/>
        </p:nvSpPr>
        <p:spPr>
          <a:xfrm>
            <a:off x="4224122" y="2907792"/>
            <a:ext cx="991921" cy="438912"/>
          </a:xfrm>
          <a:prstGeom prst="roundRect">
            <a:avLst>
              <a:gd name="adj" fmla="val 6250"/>
            </a:avLst>
          </a:prstGeom>
          <a:solidFill>
            <a:srgbClr val="00E599"/>
          </a:solidFill>
          <a:ln w="9525">
            <a:solidFill>
              <a:srgbClr val="00E599"/>
            </a:solidFill>
            <a:prstDash val="solid"/>
          </a:ln>
        </p:spPr>
      </p:sp>
      <p:sp>
        <p:nvSpPr>
          <p:cNvPr id="35" name="bar text Bridge 1"/>
          <p:cNvSpPr txBox="1"/>
          <p:nvPr/>
        </p:nvSpPr>
        <p:spPr>
          <a:xfrm>
            <a:off x="4278986" y="2907792"/>
            <a:ext cx="882193" cy="438912"/>
          </a:xfrm>
          <a:prstGeom prst="rect">
            <a:avLst/>
          </a:prstGeom>
          <a:noFill/>
          <a:ln/>
        </p:spPr>
        <p:txBody>
          <a:bodyPr wrap="square" lIns="0" tIns="0" rIns="0" bIns="0" rtlCol="0" anchor="ctr"/>
          <a:lstStyle/>
          <a:p>
            <a:pPr algn="l" indent="0" marL="0">
              <a:buNone/>
            </a:pPr>
            <a:r>
              <a:rPr lang="en-US" sz="900" b="1" dirty="0">
                <a:solidFill>
                  <a:srgbClr val="0B0B0B"/>
                </a:solidFill>
              </a:rPr>
              <a:t>Bridge GA · 20 Tier-1</a:t>
            </a:r>
            <a:endParaRPr lang="en-US" sz="900" dirty="0"/>
          </a:p>
        </p:txBody>
      </p:sp>
      <p:sp>
        <p:nvSpPr>
          <p:cNvPr id="36" name="bar Bridge 2"/>
          <p:cNvSpPr/>
          <p:nvPr/>
        </p:nvSpPr>
        <p:spPr>
          <a:xfrm>
            <a:off x="5289194" y="2907792"/>
            <a:ext cx="2056994" cy="438912"/>
          </a:xfrm>
          <a:prstGeom prst="roundRect">
            <a:avLst>
              <a:gd name="adj" fmla="val 6250"/>
            </a:avLst>
          </a:prstGeom>
          <a:solidFill>
            <a:srgbClr val="F3F4F6"/>
          </a:solidFill>
          <a:ln w="9525">
            <a:solidFill>
              <a:srgbClr val="D9DBDF"/>
            </a:solidFill>
            <a:prstDash val="solid"/>
          </a:ln>
        </p:spPr>
      </p:sp>
      <p:sp>
        <p:nvSpPr>
          <p:cNvPr id="37" name="bar text Bridge 2"/>
          <p:cNvSpPr txBox="1"/>
          <p:nvPr/>
        </p:nvSpPr>
        <p:spPr>
          <a:xfrm>
            <a:off x="5344058" y="2907792"/>
            <a:ext cx="1947266" cy="438912"/>
          </a:xfrm>
          <a:prstGeom prst="rect">
            <a:avLst/>
          </a:prstGeom>
          <a:noFill/>
          <a:ln/>
        </p:spPr>
        <p:txBody>
          <a:bodyPr wrap="square" lIns="0" tIns="0" rIns="0" bIns="0" rtlCol="0" anchor="ctr"/>
          <a:lstStyle/>
          <a:p>
            <a:pPr algn="l" indent="0" marL="0">
              <a:buNone/>
            </a:pPr>
            <a:r>
              <a:rPr lang="en-US" sz="900" dirty="0">
                <a:solidFill>
                  <a:srgbClr val="0B0B0B"/>
                </a:solidFill>
              </a:rPr>
              <a:t>Hardening: dispatch, admission tuning</a:t>
            </a:r>
            <a:endParaRPr lang="en-US" sz="900" dirty="0"/>
          </a:p>
        </p:txBody>
      </p:sp>
      <p:sp>
        <p:nvSpPr>
          <p:cNvPr id="38" name="bar Bridge 3"/>
          <p:cNvSpPr/>
          <p:nvPr/>
        </p:nvSpPr>
        <p:spPr>
          <a:xfrm>
            <a:off x="9549486" y="2907792"/>
            <a:ext cx="991921" cy="438912"/>
          </a:xfrm>
          <a:prstGeom prst="roundRect">
            <a:avLst>
              <a:gd name="adj" fmla="val 6250"/>
            </a:avLst>
          </a:prstGeom>
          <a:solidFill>
            <a:srgbClr val="00E599"/>
          </a:solidFill>
          <a:ln w="9525">
            <a:solidFill>
              <a:srgbClr val="00E599"/>
            </a:solidFill>
            <a:prstDash val="solid"/>
          </a:ln>
        </p:spPr>
      </p:sp>
      <p:sp>
        <p:nvSpPr>
          <p:cNvPr id="39" name="bar text Bridge 3"/>
          <p:cNvSpPr txBox="1"/>
          <p:nvPr/>
        </p:nvSpPr>
        <p:spPr>
          <a:xfrm>
            <a:off x="9604350" y="2907792"/>
            <a:ext cx="882193" cy="438912"/>
          </a:xfrm>
          <a:prstGeom prst="rect">
            <a:avLst/>
          </a:prstGeom>
          <a:noFill/>
          <a:ln/>
        </p:spPr>
        <p:txBody>
          <a:bodyPr wrap="square" lIns="0" tIns="0" rIns="0" bIns="0" rtlCol="0" anchor="ctr"/>
          <a:lstStyle/>
          <a:p>
            <a:pPr algn="l" indent="0" marL="0">
              <a:buNone/>
            </a:pPr>
            <a:r>
              <a:rPr lang="en-US" sz="900" b="1" dirty="0">
                <a:solidFill>
                  <a:srgbClr val="0B0B0B"/>
                </a:solidFill>
              </a:rPr>
              <a:t>Wall display, fleet-wide</a:t>
            </a:r>
            <a:endParaRPr lang="en-US" sz="900" dirty="0"/>
          </a:p>
        </p:txBody>
      </p:sp>
      <p:sp>
        <p:nvSpPr>
          <p:cNvPr id="40" name="lane Mission"/>
          <p:cNvSpPr txBox="1"/>
          <p:nvPr/>
        </p:nvSpPr>
        <p:spPr>
          <a:xfrm>
            <a:off x="548640" y="3456432"/>
            <a:ext cx="1417320" cy="512064"/>
          </a:xfrm>
          <a:prstGeom prst="rect">
            <a:avLst/>
          </a:prstGeom>
          <a:noFill/>
          <a:ln/>
        </p:spPr>
        <p:txBody>
          <a:bodyPr wrap="square" lIns="0" tIns="0" rIns="0" bIns="0" rtlCol="0" anchor="ctr"/>
          <a:lstStyle/>
          <a:p>
            <a:pPr indent="0" marL="0">
              <a:buNone/>
            </a:pPr>
            <a:r>
              <a:rPr lang="en-US" sz="1150" b="1" dirty="0">
                <a:solidFill>
                  <a:schemeClr val="tx1"/>
                </a:solidFill>
              </a:rPr>
              <a:t>Mission</a:t>
            </a:r>
            <a:endParaRPr lang="en-US" sz="1150" dirty="0"/>
          </a:p>
        </p:txBody>
      </p:sp>
      <p:sp>
        <p:nvSpPr>
          <p:cNvPr id="41" name="lane rule 2"/>
          <p:cNvSpPr/>
          <p:nvPr/>
        </p:nvSpPr>
        <p:spPr>
          <a:xfrm>
            <a:off x="2057400" y="4005072"/>
            <a:ext cx="9585655" cy="0"/>
          </a:xfrm>
          <a:prstGeom prst="line">
            <a:avLst/>
          </a:prstGeom>
          <a:noFill/>
          <a:ln w="9525">
            <a:solidFill>
              <a:srgbClr val="ECEDEF"/>
            </a:solidFill>
            <a:prstDash val="solid"/>
          </a:ln>
        </p:spPr>
      </p:sp>
      <p:sp>
        <p:nvSpPr>
          <p:cNvPr id="42" name="bar Mission 0"/>
          <p:cNvSpPr/>
          <p:nvPr/>
        </p:nvSpPr>
        <p:spPr>
          <a:xfrm>
            <a:off x="5289194" y="3493008"/>
            <a:ext cx="991921" cy="438912"/>
          </a:xfrm>
          <a:prstGeom prst="roundRect">
            <a:avLst>
              <a:gd name="adj" fmla="val 6250"/>
            </a:avLst>
          </a:prstGeom>
          <a:solidFill>
            <a:srgbClr val="0C0D0D"/>
          </a:solidFill>
          <a:ln w="9525">
            <a:solidFill>
              <a:srgbClr val="0C0D0D"/>
            </a:solidFill>
            <a:prstDash val="solid"/>
          </a:ln>
        </p:spPr>
      </p:sp>
      <p:sp>
        <p:nvSpPr>
          <p:cNvPr id="43" name="bar text Mission 0"/>
          <p:cNvSpPr txBox="1"/>
          <p:nvPr/>
        </p:nvSpPr>
        <p:spPr>
          <a:xfrm>
            <a:off x="5344058" y="3493008"/>
            <a:ext cx="882193" cy="438912"/>
          </a:xfrm>
          <a:prstGeom prst="rect">
            <a:avLst/>
          </a:prstGeom>
          <a:noFill/>
          <a:ln/>
        </p:spPr>
        <p:txBody>
          <a:bodyPr wrap="square" lIns="0" tIns="0" rIns="0" bIns="0" rtlCol="0" anchor="ctr"/>
          <a:lstStyle/>
          <a:p>
            <a:pPr algn="l" indent="0" marL="0">
              <a:buNone/>
            </a:pPr>
            <a:r>
              <a:rPr lang="en-US" sz="900" dirty="0">
                <a:solidFill>
                  <a:srgbClr val="FFFFFF"/>
                </a:solidFill>
              </a:rPr>
              <a:t>Correlator · RCA lock</a:t>
            </a:r>
            <a:endParaRPr lang="en-US" sz="900" dirty="0"/>
          </a:p>
        </p:txBody>
      </p:sp>
      <p:sp>
        <p:nvSpPr>
          <p:cNvPr id="44" name="bar Mission 1"/>
          <p:cNvSpPr/>
          <p:nvPr/>
        </p:nvSpPr>
        <p:spPr>
          <a:xfrm>
            <a:off x="6354267" y="3493008"/>
            <a:ext cx="991921" cy="438912"/>
          </a:xfrm>
          <a:prstGeom prst="roundRect">
            <a:avLst>
              <a:gd name="adj" fmla="val 6250"/>
            </a:avLst>
          </a:prstGeom>
          <a:solidFill>
            <a:srgbClr val="00E599"/>
          </a:solidFill>
          <a:ln w="9525">
            <a:solidFill>
              <a:srgbClr val="00E599"/>
            </a:solidFill>
            <a:prstDash val="solid"/>
          </a:ln>
        </p:spPr>
      </p:sp>
      <p:sp>
        <p:nvSpPr>
          <p:cNvPr id="45" name="bar text Mission 1"/>
          <p:cNvSpPr txBox="1"/>
          <p:nvPr/>
        </p:nvSpPr>
        <p:spPr>
          <a:xfrm>
            <a:off x="6409131" y="3493008"/>
            <a:ext cx="882193" cy="438912"/>
          </a:xfrm>
          <a:prstGeom prst="rect">
            <a:avLst/>
          </a:prstGeom>
          <a:noFill/>
          <a:ln/>
        </p:spPr>
        <p:txBody>
          <a:bodyPr wrap="square" lIns="0" tIns="0" rIns="0" bIns="0" rtlCol="0" anchor="ctr"/>
          <a:lstStyle/>
          <a:p>
            <a:pPr algn="l" indent="0" marL="0">
              <a:buNone/>
            </a:pPr>
            <a:r>
              <a:rPr lang="en-US" sz="900" b="1" dirty="0">
                <a:solidFill>
                  <a:srgbClr val="0B0B0B"/>
                </a:solidFill>
              </a:rPr>
              <a:t>Recover via EDA, four-eyes</a:t>
            </a:r>
            <a:endParaRPr lang="en-US" sz="900" dirty="0"/>
          </a:p>
        </p:txBody>
      </p:sp>
      <p:sp>
        <p:nvSpPr>
          <p:cNvPr id="46" name="bar Mission 2"/>
          <p:cNvSpPr/>
          <p:nvPr/>
        </p:nvSpPr>
        <p:spPr>
          <a:xfrm>
            <a:off x="8484413" y="3493008"/>
            <a:ext cx="991921" cy="438912"/>
          </a:xfrm>
          <a:prstGeom prst="roundRect">
            <a:avLst>
              <a:gd name="adj" fmla="val 6250"/>
            </a:avLst>
          </a:prstGeom>
          <a:solidFill>
            <a:srgbClr val="F3F4F6"/>
          </a:solidFill>
          <a:ln w="9525">
            <a:solidFill>
              <a:srgbClr val="D9DBDF"/>
            </a:solidFill>
            <a:prstDash val="solid"/>
          </a:ln>
        </p:spPr>
      </p:sp>
      <p:sp>
        <p:nvSpPr>
          <p:cNvPr id="47" name="bar text Mission 2"/>
          <p:cNvSpPr txBox="1"/>
          <p:nvPr/>
        </p:nvSpPr>
        <p:spPr>
          <a:xfrm>
            <a:off x="8539277" y="3493008"/>
            <a:ext cx="882193" cy="438912"/>
          </a:xfrm>
          <a:prstGeom prst="rect">
            <a:avLst/>
          </a:prstGeom>
          <a:noFill/>
          <a:ln/>
        </p:spPr>
        <p:txBody>
          <a:bodyPr wrap="square" lIns="0" tIns="0" rIns="0" bIns="0" rtlCol="0" anchor="ctr"/>
          <a:lstStyle/>
          <a:p>
            <a:pPr algn="l" indent="0" marL="0">
              <a:buNone/>
            </a:pPr>
            <a:r>
              <a:rPr lang="en-US" sz="900" dirty="0">
                <a:solidFill>
                  <a:srgbClr val="0B0B0B"/>
                </a:solidFill>
              </a:rPr>
              <a:t>Manual records · break-glass</a:t>
            </a:r>
            <a:endParaRPr lang="en-US" sz="900" dirty="0"/>
          </a:p>
        </p:txBody>
      </p:sp>
      <p:sp>
        <p:nvSpPr>
          <p:cNvPr id="48" name="bar Mission 3"/>
          <p:cNvSpPr/>
          <p:nvPr/>
        </p:nvSpPr>
        <p:spPr>
          <a:xfrm>
            <a:off x="10614558" y="3493008"/>
            <a:ext cx="991921" cy="438912"/>
          </a:xfrm>
          <a:prstGeom prst="roundRect">
            <a:avLst>
              <a:gd name="adj" fmla="val 6250"/>
            </a:avLst>
          </a:prstGeom>
          <a:solidFill>
            <a:srgbClr val="F3F4F6"/>
          </a:solidFill>
          <a:ln w="9525">
            <a:solidFill>
              <a:srgbClr val="D9DBDF"/>
            </a:solidFill>
            <a:prstDash val="solid"/>
          </a:ln>
        </p:spPr>
      </p:sp>
      <p:sp>
        <p:nvSpPr>
          <p:cNvPr id="49" name="bar text Mission 3"/>
          <p:cNvSpPr txBox="1"/>
          <p:nvPr/>
        </p:nvSpPr>
        <p:spPr>
          <a:xfrm>
            <a:off x="10669422" y="3493008"/>
            <a:ext cx="882193" cy="438912"/>
          </a:xfrm>
          <a:prstGeom prst="rect">
            <a:avLst/>
          </a:prstGeom>
          <a:noFill/>
          <a:ln/>
        </p:spPr>
        <p:txBody>
          <a:bodyPr wrap="square" lIns="0" tIns="0" rIns="0" bIns="0" rtlCol="0" anchor="ctr"/>
          <a:lstStyle/>
          <a:p>
            <a:pPr algn="l" indent="0" marL="0">
              <a:buNone/>
            </a:pPr>
            <a:r>
              <a:rPr lang="en-US" sz="900" dirty="0">
                <a:solidFill>
                  <a:srgbClr val="0B0B0B"/>
                </a:solidFill>
              </a:rPr>
              <a:t>Per-IC view · agent intents</a:t>
            </a:r>
            <a:endParaRPr lang="en-US" sz="900" dirty="0"/>
          </a:p>
        </p:txBody>
      </p:sp>
      <p:sp>
        <p:nvSpPr>
          <p:cNvPr id="50" name="lane Debrief"/>
          <p:cNvSpPr txBox="1"/>
          <p:nvPr/>
        </p:nvSpPr>
        <p:spPr>
          <a:xfrm>
            <a:off x="548640" y="4041648"/>
            <a:ext cx="1417320" cy="512064"/>
          </a:xfrm>
          <a:prstGeom prst="rect">
            <a:avLst/>
          </a:prstGeom>
          <a:noFill/>
          <a:ln/>
        </p:spPr>
        <p:txBody>
          <a:bodyPr wrap="square" lIns="0" tIns="0" rIns="0" bIns="0" rtlCol="0" anchor="ctr"/>
          <a:lstStyle/>
          <a:p>
            <a:pPr indent="0" marL="0">
              <a:buNone/>
            </a:pPr>
            <a:r>
              <a:rPr lang="en-US" sz="1150" b="1" dirty="0">
                <a:solidFill>
                  <a:schemeClr val="tx1"/>
                </a:solidFill>
              </a:rPr>
              <a:t>Debrief</a:t>
            </a:r>
            <a:endParaRPr lang="en-US" sz="1150" dirty="0"/>
          </a:p>
        </p:txBody>
      </p:sp>
      <p:sp>
        <p:nvSpPr>
          <p:cNvPr id="51" name="lane rule 3"/>
          <p:cNvSpPr/>
          <p:nvPr/>
        </p:nvSpPr>
        <p:spPr>
          <a:xfrm>
            <a:off x="2057400" y="4590288"/>
            <a:ext cx="9585655" cy="0"/>
          </a:xfrm>
          <a:prstGeom prst="line">
            <a:avLst/>
          </a:prstGeom>
          <a:noFill/>
          <a:ln w="9525">
            <a:solidFill>
              <a:srgbClr val="ECEDEF"/>
            </a:solidFill>
            <a:prstDash val="solid"/>
          </a:ln>
        </p:spPr>
      </p:sp>
      <p:sp>
        <p:nvSpPr>
          <p:cNvPr id="52" name="bar Debrief 0"/>
          <p:cNvSpPr/>
          <p:nvPr/>
        </p:nvSpPr>
        <p:spPr>
          <a:xfrm>
            <a:off x="7419340" y="4078224"/>
            <a:ext cx="991921" cy="438912"/>
          </a:xfrm>
          <a:prstGeom prst="roundRect">
            <a:avLst>
              <a:gd name="adj" fmla="val 6250"/>
            </a:avLst>
          </a:prstGeom>
          <a:solidFill>
            <a:srgbClr val="00E599"/>
          </a:solidFill>
          <a:ln w="9525">
            <a:solidFill>
              <a:srgbClr val="00E599"/>
            </a:solidFill>
            <a:prstDash val="solid"/>
          </a:ln>
        </p:spPr>
      </p:sp>
      <p:sp>
        <p:nvSpPr>
          <p:cNvPr id="53" name="bar text Debrief 0"/>
          <p:cNvSpPr txBox="1"/>
          <p:nvPr/>
        </p:nvSpPr>
        <p:spPr>
          <a:xfrm>
            <a:off x="7474204" y="4078224"/>
            <a:ext cx="882193" cy="438912"/>
          </a:xfrm>
          <a:prstGeom prst="rect">
            <a:avLst/>
          </a:prstGeom>
          <a:noFill/>
          <a:ln/>
        </p:spPr>
        <p:txBody>
          <a:bodyPr wrap="square" lIns="0" tIns="0" rIns="0" bIns="0" rtlCol="0" anchor="ctr"/>
          <a:lstStyle/>
          <a:p>
            <a:pPr algn="l" indent="0" marL="0">
              <a:buNone/>
            </a:pPr>
            <a:r>
              <a:rPr lang="en-US" sz="900" b="1" dirty="0">
                <a:solidFill>
                  <a:srgbClr val="0B0B0B"/>
                </a:solidFill>
              </a:rPr>
              <a:t>MAS clocks · RCA from record</a:t>
            </a:r>
            <a:endParaRPr lang="en-US" sz="900" dirty="0"/>
          </a:p>
        </p:txBody>
      </p:sp>
      <p:sp>
        <p:nvSpPr>
          <p:cNvPr id="54" name="bar Debrief 1"/>
          <p:cNvSpPr/>
          <p:nvPr/>
        </p:nvSpPr>
        <p:spPr>
          <a:xfrm>
            <a:off x="8484413" y="4078224"/>
            <a:ext cx="991921" cy="438912"/>
          </a:xfrm>
          <a:prstGeom prst="roundRect">
            <a:avLst>
              <a:gd name="adj" fmla="val 6250"/>
            </a:avLst>
          </a:prstGeom>
          <a:solidFill>
            <a:srgbClr val="0C0D0D"/>
          </a:solidFill>
          <a:ln w="9525">
            <a:solidFill>
              <a:srgbClr val="0C0D0D"/>
            </a:solidFill>
            <a:prstDash val="solid"/>
          </a:ln>
        </p:spPr>
      </p:sp>
      <p:sp>
        <p:nvSpPr>
          <p:cNvPr id="55" name="bar text Debrief 1"/>
          <p:cNvSpPr txBox="1"/>
          <p:nvPr/>
        </p:nvSpPr>
        <p:spPr>
          <a:xfrm>
            <a:off x="8539277" y="4078224"/>
            <a:ext cx="882193" cy="438912"/>
          </a:xfrm>
          <a:prstGeom prst="rect">
            <a:avLst/>
          </a:prstGeom>
          <a:noFill/>
          <a:ln/>
        </p:spPr>
        <p:txBody>
          <a:bodyPr wrap="square" lIns="0" tIns="0" rIns="0" bIns="0" rtlCol="0" anchor="ctr"/>
          <a:lstStyle/>
          <a:p>
            <a:pPr algn="l" indent="0" marL="0">
              <a:buNone/>
            </a:pPr>
            <a:r>
              <a:rPr lang="en-US" sz="900" dirty="0">
                <a:solidFill>
                  <a:srgbClr val="FFFFFF"/>
                </a:solidFill>
              </a:rPr>
              <a:t>7-year audit · risk sign-off</a:t>
            </a:r>
            <a:endParaRPr lang="en-US" sz="900" dirty="0"/>
          </a:p>
        </p:txBody>
      </p:sp>
      <p:sp>
        <p:nvSpPr>
          <p:cNvPr id="56" name="bar Debrief 2"/>
          <p:cNvSpPr/>
          <p:nvPr/>
        </p:nvSpPr>
        <p:spPr>
          <a:xfrm>
            <a:off x="9549486" y="4078224"/>
            <a:ext cx="2056994" cy="438912"/>
          </a:xfrm>
          <a:prstGeom prst="roundRect">
            <a:avLst>
              <a:gd name="adj" fmla="val 6250"/>
            </a:avLst>
          </a:prstGeom>
          <a:solidFill>
            <a:srgbClr val="F3F4F6"/>
          </a:solidFill>
          <a:ln w="9525">
            <a:solidFill>
              <a:srgbClr val="D9DBDF"/>
            </a:solidFill>
            <a:prstDash val="solid"/>
          </a:ln>
        </p:spPr>
      </p:sp>
      <p:sp>
        <p:nvSpPr>
          <p:cNvPr id="57" name="bar text Debrief 2"/>
          <p:cNvSpPr txBox="1"/>
          <p:nvPr/>
        </p:nvSpPr>
        <p:spPr>
          <a:xfrm>
            <a:off x="9604350" y="4078224"/>
            <a:ext cx="1947266" cy="438912"/>
          </a:xfrm>
          <a:prstGeom prst="rect">
            <a:avLst/>
          </a:prstGeom>
          <a:noFill/>
          <a:ln/>
        </p:spPr>
        <p:txBody>
          <a:bodyPr wrap="square" lIns="0" tIns="0" rIns="0" bIns="0" rtlCol="0" anchor="ctr"/>
          <a:lstStyle/>
          <a:p>
            <a:pPr algn="l" indent="0" marL="0">
              <a:buNone/>
            </a:pPr>
            <a:r>
              <a:rPr lang="en-US" sz="900" dirty="0">
                <a:solidFill>
                  <a:srgbClr val="0B0B0B"/>
                </a:solidFill>
              </a:rPr>
              <a:t>Preventive actions tracked in ServiceNow PRB</a:t>
            </a:r>
            <a:endParaRPr lang="en-US" sz="900" dirty="0"/>
          </a:p>
        </p:txBody>
      </p:sp>
      <p:sp>
        <p:nvSpPr>
          <p:cNvPr id="58" name="lane Governance"/>
          <p:cNvSpPr txBox="1"/>
          <p:nvPr/>
        </p:nvSpPr>
        <p:spPr>
          <a:xfrm>
            <a:off x="548640" y="4626864"/>
            <a:ext cx="1417320" cy="512064"/>
          </a:xfrm>
          <a:prstGeom prst="rect">
            <a:avLst/>
          </a:prstGeom>
          <a:noFill/>
          <a:ln/>
        </p:spPr>
        <p:txBody>
          <a:bodyPr wrap="square" lIns="0" tIns="0" rIns="0" bIns="0" rtlCol="0" anchor="ctr"/>
          <a:lstStyle/>
          <a:p>
            <a:pPr indent="0" marL="0">
              <a:buNone/>
            </a:pPr>
            <a:r>
              <a:rPr lang="en-US" sz="1150" b="1" dirty="0">
                <a:solidFill>
                  <a:schemeClr val="tx1"/>
                </a:solidFill>
              </a:rPr>
              <a:t>Governance</a:t>
            </a:r>
            <a:endParaRPr lang="en-US" sz="1150" dirty="0"/>
          </a:p>
        </p:txBody>
      </p:sp>
      <p:sp>
        <p:nvSpPr>
          <p:cNvPr id="59" name="lane rule 4"/>
          <p:cNvSpPr/>
          <p:nvPr/>
        </p:nvSpPr>
        <p:spPr>
          <a:xfrm>
            <a:off x="2057400" y="5175504"/>
            <a:ext cx="9585655" cy="0"/>
          </a:xfrm>
          <a:prstGeom prst="line">
            <a:avLst/>
          </a:prstGeom>
          <a:noFill/>
          <a:ln w="9525">
            <a:solidFill>
              <a:srgbClr val="ECEDEF"/>
            </a:solidFill>
            <a:prstDash val="solid"/>
          </a:ln>
        </p:spPr>
      </p:sp>
      <p:sp>
        <p:nvSpPr>
          <p:cNvPr id="60" name="bar Governance 0"/>
          <p:cNvSpPr/>
          <p:nvPr/>
        </p:nvSpPr>
        <p:spPr>
          <a:xfrm>
            <a:off x="2093976" y="4663440"/>
            <a:ext cx="991921" cy="438912"/>
          </a:xfrm>
          <a:prstGeom prst="roundRect">
            <a:avLst>
              <a:gd name="adj" fmla="val 6250"/>
            </a:avLst>
          </a:prstGeom>
          <a:solidFill>
            <a:srgbClr val="FED16B"/>
          </a:solidFill>
          <a:ln w="9525">
            <a:solidFill>
              <a:srgbClr val="FED16B"/>
            </a:solidFill>
            <a:prstDash val="solid"/>
          </a:ln>
        </p:spPr>
      </p:sp>
      <p:sp>
        <p:nvSpPr>
          <p:cNvPr id="61" name="bar text Governance 0"/>
          <p:cNvSpPr txBox="1"/>
          <p:nvPr/>
        </p:nvSpPr>
        <p:spPr>
          <a:xfrm>
            <a:off x="2148840" y="4663440"/>
            <a:ext cx="882193" cy="438912"/>
          </a:xfrm>
          <a:prstGeom prst="rect">
            <a:avLst/>
          </a:prstGeom>
          <a:noFill/>
          <a:ln/>
        </p:spPr>
        <p:txBody>
          <a:bodyPr wrap="square" lIns="0" tIns="0" rIns="0" bIns="0" rtlCol="0" anchor="ctr"/>
          <a:lstStyle/>
          <a:p>
            <a:pPr algn="l" indent="0" marL="0">
              <a:buNone/>
            </a:pPr>
            <a:r>
              <a:rPr lang="en-US" sz="900" dirty="0">
                <a:solidFill>
                  <a:srgbClr val="0B0B0B"/>
                </a:solidFill>
              </a:rPr>
              <a:t>Three decisions (this forum)</a:t>
            </a:r>
            <a:endParaRPr lang="en-US" sz="900" dirty="0"/>
          </a:p>
        </p:txBody>
      </p:sp>
      <p:sp>
        <p:nvSpPr>
          <p:cNvPr id="62" name="bar Governance 1"/>
          <p:cNvSpPr/>
          <p:nvPr/>
        </p:nvSpPr>
        <p:spPr>
          <a:xfrm>
            <a:off x="3159049" y="4663440"/>
            <a:ext cx="991921" cy="438912"/>
          </a:xfrm>
          <a:prstGeom prst="roundRect">
            <a:avLst>
              <a:gd name="adj" fmla="val 6250"/>
            </a:avLst>
          </a:prstGeom>
          <a:solidFill>
            <a:srgbClr val="F3F4F6"/>
          </a:solidFill>
          <a:ln w="9525">
            <a:solidFill>
              <a:srgbClr val="D9DBDF"/>
            </a:solidFill>
            <a:prstDash val="solid"/>
          </a:ln>
        </p:spPr>
      </p:sp>
      <p:sp>
        <p:nvSpPr>
          <p:cNvPr id="63" name="bar text Governance 1"/>
          <p:cNvSpPr txBox="1"/>
          <p:nvPr/>
        </p:nvSpPr>
        <p:spPr>
          <a:xfrm>
            <a:off x="3213913" y="4663440"/>
            <a:ext cx="882193" cy="438912"/>
          </a:xfrm>
          <a:prstGeom prst="rect">
            <a:avLst/>
          </a:prstGeom>
          <a:noFill/>
          <a:ln/>
        </p:spPr>
        <p:txBody>
          <a:bodyPr wrap="square" lIns="0" tIns="0" rIns="0" bIns="0" rtlCol="0" anchor="ctr"/>
          <a:lstStyle/>
          <a:p>
            <a:pPr algn="l" indent="0" marL="0">
              <a:buNone/>
            </a:pPr>
            <a:r>
              <a:rPr lang="en-US" sz="900" dirty="0">
                <a:solidFill>
                  <a:srgbClr val="0B0B0B"/>
                </a:solidFill>
              </a:rPr>
              <a:t>Signed runbook standard</a:t>
            </a:r>
            <a:endParaRPr lang="en-US" sz="900" dirty="0"/>
          </a:p>
        </p:txBody>
      </p:sp>
      <p:sp>
        <p:nvSpPr>
          <p:cNvPr id="64" name="bar Governance 2"/>
          <p:cNvSpPr/>
          <p:nvPr/>
        </p:nvSpPr>
        <p:spPr>
          <a:xfrm>
            <a:off x="5289194" y="4663440"/>
            <a:ext cx="2056994" cy="438912"/>
          </a:xfrm>
          <a:prstGeom prst="roundRect">
            <a:avLst>
              <a:gd name="adj" fmla="val 6250"/>
            </a:avLst>
          </a:prstGeom>
          <a:solidFill>
            <a:srgbClr val="F3F4F6"/>
          </a:solidFill>
          <a:ln w="9525">
            <a:solidFill>
              <a:srgbClr val="D9DBDF"/>
            </a:solidFill>
            <a:prstDash val="solid"/>
          </a:ln>
        </p:spPr>
      </p:sp>
      <p:sp>
        <p:nvSpPr>
          <p:cNvPr id="65" name="bar text Governance 2"/>
          <p:cNvSpPr txBox="1"/>
          <p:nvPr/>
        </p:nvSpPr>
        <p:spPr>
          <a:xfrm>
            <a:off x="5344058" y="4663440"/>
            <a:ext cx="1947266" cy="438912"/>
          </a:xfrm>
          <a:prstGeom prst="rect">
            <a:avLst/>
          </a:prstGeom>
          <a:noFill/>
          <a:ln/>
        </p:spPr>
        <p:txBody>
          <a:bodyPr wrap="square" lIns="0" tIns="0" rIns="0" bIns="0" rtlCol="0" anchor="ctr"/>
          <a:lstStyle/>
          <a:p>
            <a:pPr algn="l" indent="0" marL="0">
              <a:buNone/>
            </a:pPr>
            <a:r>
              <a:rPr lang="en-US" sz="900" dirty="0">
                <a:solidFill>
                  <a:srgbClr val="0B0B0B"/>
                </a:solidFill>
              </a:rPr>
              <a:t>Automation policy approved by CAB</a:t>
            </a:r>
            <a:endParaRPr lang="en-US" sz="900" dirty="0"/>
          </a:p>
        </p:txBody>
      </p:sp>
      <p:sp>
        <p:nvSpPr>
          <p:cNvPr id="66" name="bar Governance 3"/>
          <p:cNvSpPr/>
          <p:nvPr/>
        </p:nvSpPr>
        <p:spPr>
          <a:xfrm>
            <a:off x="8484413" y="4663440"/>
            <a:ext cx="991921" cy="438912"/>
          </a:xfrm>
          <a:prstGeom prst="roundRect">
            <a:avLst>
              <a:gd name="adj" fmla="val 6250"/>
            </a:avLst>
          </a:prstGeom>
          <a:solidFill>
            <a:srgbClr val="FED16B"/>
          </a:solidFill>
          <a:ln w="9525">
            <a:solidFill>
              <a:srgbClr val="FED16B"/>
            </a:solidFill>
            <a:prstDash val="solid"/>
          </a:ln>
        </p:spPr>
      </p:sp>
      <p:sp>
        <p:nvSpPr>
          <p:cNvPr id="67" name="bar text Governance 3"/>
          <p:cNvSpPr txBox="1"/>
          <p:nvPr/>
        </p:nvSpPr>
        <p:spPr>
          <a:xfrm>
            <a:off x="8539277" y="4663440"/>
            <a:ext cx="882193" cy="438912"/>
          </a:xfrm>
          <a:prstGeom prst="rect">
            <a:avLst/>
          </a:prstGeom>
          <a:noFill/>
          <a:ln/>
        </p:spPr>
        <p:txBody>
          <a:bodyPr wrap="square" lIns="0" tIns="0" rIns="0" bIns="0" rtlCol="0" anchor="ctr"/>
          <a:lstStyle/>
          <a:p>
            <a:pPr algn="l" indent="0" marL="0">
              <a:buNone/>
            </a:pPr>
            <a:r>
              <a:rPr lang="en-US" sz="900" dirty="0">
                <a:solidFill>
                  <a:srgbClr val="0B0B0B"/>
                </a:solidFill>
              </a:rPr>
              <a:t>MAS TRM attestation</a:t>
            </a:r>
            <a:endParaRPr lang="en-US" sz="900" dirty="0"/>
          </a:p>
        </p:txBody>
      </p:sp>
      <p:sp>
        <p:nvSpPr>
          <p:cNvPr id="68" name="bar Governance 4"/>
          <p:cNvSpPr/>
          <p:nvPr/>
        </p:nvSpPr>
        <p:spPr>
          <a:xfrm>
            <a:off x="10614558" y="4663440"/>
            <a:ext cx="991921" cy="438912"/>
          </a:xfrm>
          <a:prstGeom prst="roundRect">
            <a:avLst>
              <a:gd name="adj" fmla="val 6250"/>
            </a:avLst>
          </a:prstGeom>
          <a:solidFill>
            <a:srgbClr val="F3F4F6"/>
          </a:solidFill>
          <a:ln w="9525">
            <a:solidFill>
              <a:srgbClr val="D9DBDF"/>
            </a:solidFill>
            <a:prstDash val="solid"/>
          </a:ln>
        </p:spPr>
      </p:sp>
      <p:sp>
        <p:nvSpPr>
          <p:cNvPr id="69" name="bar text Governance 4"/>
          <p:cNvSpPr txBox="1"/>
          <p:nvPr/>
        </p:nvSpPr>
        <p:spPr>
          <a:xfrm>
            <a:off x="10669422" y="4663440"/>
            <a:ext cx="882193" cy="438912"/>
          </a:xfrm>
          <a:prstGeom prst="rect">
            <a:avLst/>
          </a:prstGeom>
          <a:noFill/>
          <a:ln/>
        </p:spPr>
        <p:txBody>
          <a:bodyPr wrap="square" lIns="0" tIns="0" rIns="0" bIns="0" rtlCol="0" anchor="ctr"/>
          <a:lstStyle/>
          <a:p>
            <a:pPr algn="l" indent="0" marL="0">
              <a:buNone/>
            </a:pPr>
            <a:r>
              <a:rPr lang="en-US" sz="900" dirty="0">
                <a:solidFill>
                  <a:srgbClr val="0B0B0B"/>
                </a:solidFill>
              </a:rPr>
              <a:t>Annual control review</a:t>
            </a:r>
            <a:endParaRPr lang="en-US" sz="900" dirty="0"/>
          </a:p>
        </p:txBody>
      </p:sp>
      <p:sp>
        <p:nvSpPr>
          <p:cNvPr id="70" name="lane Services on the Bridge"/>
          <p:cNvSpPr txBox="1"/>
          <p:nvPr/>
        </p:nvSpPr>
        <p:spPr>
          <a:xfrm>
            <a:off x="548640" y="5212080"/>
            <a:ext cx="1417320" cy="512064"/>
          </a:xfrm>
          <a:prstGeom prst="rect">
            <a:avLst/>
          </a:prstGeom>
          <a:noFill/>
          <a:ln/>
        </p:spPr>
        <p:txBody>
          <a:bodyPr wrap="square" lIns="0" tIns="0" rIns="0" bIns="0" rtlCol="0" anchor="ctr"/>
          <a:lstStyle/>
          <a:p>
            <a:pPr indent="0" marL="0">
              <a:buNone/>
            </a:pPr>
            <a:r>
              <a:rPr lang="en-US" sz="1150" b="1" dirty="0">
                <a:solidFill>
                  <a:schemeClr val="tx1"/>
                </a:solidFill>
              </a:rPr>
              <a:t>Services on the Bridge</a:t>
            </a:r>
            <a:endParaRPr lang="en-US" sz="1150" dirty="0"/>
          </a:p>
        </p:txBody>
      </p:sp>
      <p:sp>
        <p:nvSpPr>
          <p:cNvPr id="71" name="lane rule 5"/>
          <p:cNvSpPr/>
          <p:nvPr/>
        </p:nvSpPr>
        <p:spPr>
          <a:xfrm>
            <a:off x="2057400" y="5760720"/>
            <a:ext cx="9585655" cy="0"/>
          </a:xfrm>
          <a:prstGeom prst="line">
            <a:avLst/>
          </a:prstGeom>
          <a:noFill/>
          <a:ln w="9525">
            <a:solidFill>
              <a:srgbClr val="ECEDEF"/>
            </a:solidFill>
            <a:prstDash val="solid"/>
          </a:ln>
        </p:spPr>
      </p:sp>
      <p:sp>
        <p:nvSpPr>
          <p:cNvPr id="72" name="bar Services on the Bridge 0"/>
          <p:cNvSpPr/>
          <p:nvPr/>
        </p:nvSpPr>
        <p:spPr>
          <a:xfrm>
            <a:off x="3159049" y="5248656"/>
            <a:ext cx="991921" cy="438912"/>
          </a:xfrm>
          <a:prstGeom prst="roundRect">
            <a:avLst>
              <a:gd name="adj" fmla="val 6250"/>
            </a:avLst>
          </a:prstGeom>
          <a:solidFill>
            <a:srgbClr val="E6FBF3"/>
          </a:solidFill>
          <a:ln w="9525">
            <a:solidFill>
              <a:srgbClr val="E6FBF3"/>
            </a:solidFill>
            <a:prstDash val="solid"/>
          </a:ln>
        </p:spPr>
      </p:sp>
      <p:sp>
        <p:nvSpPr>
          <p:cNvPr id="73" name="bar text Services on the Bridge 0"/>
          <p:cNvSpPr txBox="1"/>
          <p:nvPr/>
        </p:nvSpPr>
        <p:spPr>
          <a:xfrm>
            <a:off x="3213913" y="5248656"/>
            <a:ext cx="882193" cy="438912"/>
          </a:xfrm>
          <a:prstGeom prst="rect">
            <a:avLst/>
          </a:prstGeom>
          <a:noFill/>
          <a:ln/>
        </p:spPr>
        <p:txBody>
          <a:bodyPr wrap="square" lIns="0" tIns="0" rIns="0" bIns="0" rtlCol="0" anchor="ctr"/>
          <a:lstStyle/>
          <a:p>
            <a:pPr algn="ctr" indent="0" marL="0">
              <a:buNone/>
            </a:pPr>
            <a:r>
              <a:rPr lang="en-US" sz="1050" b="1" dirty="0">
                <a:solidFill>
                  <a:srgbClr val="008F5F"/>
                </a:solidFill>
              </a:rPr>
              <a:t>5</a:t>
            </a:r>
            <a:endParaRPr lang="en-US" sz="1050" dirty="0"/>
          </a:p>
        </p:txBody>
      </p:sp>
      <p:sp>
        <p:nvSpPr>
          <p:cNvPr id="74" name="bar Services on the Bridge 1"/>
          <p:cNvSpPr/>
          <p:nvPr/>
        </p:nvSpPr>
        <p:spPr>
          <a:xfrm>
            <a:off x="4224122" y="5248656"/>
            <a:ext cx="991921" cy="438912"/>
          </a:xfrm>
          <a:prstGeom prst="roundRect">
            <a:avLst>
              <a:gd name="adj" fmla="val 6250"/>
            </a:avLst>
          </a:prstGeom>
          <a:solidFill>
            <a:srgbClr val="E6FBF3"/>
          </a:solidFill>
          <a:ln w="9525">
            <a:solidFill>
              <a:srgbClr val="E6FBF3"/>
            </a:solidFill>
            <a:prstDash val="solid"/>
          </a:ln>
        </p:spPr>
      </p:sp>
      <p:sp>
        <p:nvSpPr>
          <p:cNvPr id="75" name="bar text Services on the Bridge 1"/>
          <p:cNvSpPr txBox="1"/>
          <p:nvPr/>
        </p:nvSpPr>
        <p:spPr>
          <a:xfrm>
            <a:off x="4278986" y="5248656"/>
            <a:ext cx="882193" cy="438912"/>
          </a:xfrm>
          <a:prstGeom prst="rect">
            <a:avLst/>
          </a:prstGeom>
          <a:noFill/>
          <a:ln/>
        </p:spPr>
        <p:txBody>
          <a:bodyPr wrap="square" lIns="0" tIns="0" rIns="0" bIns="0" rtlCol="0" anchor="ctr"/>
          <a:lstStyle/>
          <a:p>
            <a:pPr algn="ctr" indent="0" marL="0">
              <a:buNone/>
            </a:pPr>
            <a:r>
              <a:rPr lang="en-US" sz="1050" b="1" dirty="0">
                <a:solidFill>
                  <a:srgbClr val="008F5F"/>
                </a:solidFill>
              </a:rPr>
              <a:t>20 · Tier-1</a:t>
            </a:r>
            <a:endParaRPr lang="en-US" sz="1050" dirty="0"/>
          </a:p>
        </p:txBody>
      </p:sp>
      <p:sp>
        <p:nvSpPr>
          <p:cNvPr id="76" name="bar Services on the Bridge 2"/>
          <p:cNvSpPr/>
          <p:nvPr/>
        </p:nvSpPr>
        <p:spPr>
          <a:xfrm>
            <a:off x="6354267" y="5248656"/>
            <a:ext cx="991921" cy="438912"/>
          </a:xfrm>
          <a:prstGeom prst="roundRect">
            <a:avLst>
              <a:gd name="adj" fmla="val 6250"/>
            </a:avLst>
          </a:prstGeom>
          <a:solidFill>
            <a:srgbClr val="E6FBF3"/>
          </a:solidFill>
          <a:ln w="9525">
            <a:solidFill>
              <a:srgbClr val="E6FBF3"/>
            </a:solidFill>
            <a:prstDash val="solid"/>
          </a:ln>
        </p:spPr>
      </p:sp>
      <p:sp>
        <p:nvSpPr>
          <p:cNvPr id="77" name="bar text Services on the Bridge 2"/>
          <p:cNvSpPr txBox="1"/>
          <p:nvPr/>
        </p:nvSpPr>
        <p:spPr>
          <a:xfrm>
            <a:off x="6409131" y="5248656"/>
            <a:ext cx="882193" cy="438912"/>
          </a:xfrm>
          <a:prstGeom prst="rect">
            <a:avLst/>
          </a:prstGeom>
          <a:noFill/>
          <a:ln/>
        </p:spPr>
        <p:txBody>
          <a:bodyPr wrap="square" lIns="0" tIns="0" rIns="0" bIns="0" rtlCol="0" anchor="ctr"/>
          <a:lstStyle/>
          <a:p>
            <a:pPr algn="ctr" indent="0" marL="0">
              <a:buNone/>
            </a:pPr>
            <a:r>
              <a:rPr lang="en-US" sz="1050" b="1" dirty="0">
                <a:solidFill>
                  <a:srgbClr val="008F5F"/>
                </a:solidFill>
              </a:rPr>
              <a:t>40</a:t>
            </a:r>
            <a:endParaRPr lang="en-US" sz="1050" dirty="0"/>
          </a:p>
        </p:txBody>
      </p:sp>
      <p:sp>
        <p:nvSpPr>
          <p:cNvPr id="78" name="bar Services on the Bridge 3"/>
          <p:cNvSpPr/>
          <p:nvPr/>
        </p:nvSpPr>
        <p:spPr>
          <a:xfrm>
            <a:off x="7419340" y="5248656"/>
            <a:ext cx="991921" cy="438912"/>
          </a:xfrm>
          <a:prstGeom prst="roundRect">
            <a:avLst>
              <a:gd name="adj" fmla="val 6250"/>
            </a:avLst>
          </a:prstGeom>
          <a:solidFill>
            <a:srgbClr val="E6FBF3"/>
          </a:solidFill>
          <a:ln w="9525">
            <a:solidFill>
              <a:srgbClr val="E6FBF3"/>
            </a:solidFill>
            <a:prstDash val="solid"/>
          </a:ln>
        </p:spPr>
      </p:sp>
      <p:sp>
        <p:nvSpPr>
          <p:cNvPr id="79" name="bar text Services on the Bridge 3"/>
          <p:cNvSpPr txBox="1"/>
          <p:nvPr/>
        </p:nvSpPr>
        <p:spPr>
          <a:xfrm>
            <a:off x="7474204" y="5248656"/>
            <a:ext cx="882193" cy="438912"/>
          </a:xfrm>
          <a:prstGeom prst="rect">
            <a:avLst/>
          </a:prstGeom>
          <a:noFill/>
          <a:ln/>
        </p:spPr>
        <p:txBody>
          <a:bodyPr wrap="square" lIns="0" tIns="0" rIns="0" bIns="0" rtlCol="0" anchor="ctr"/>
          <a:lstStyle/>
          <a:p>
            <a:pPr algn="ctr" indent="0" marL="0">
              <a:buNone/>
            </a:pPr>
            <a:r>
              <a:rPr lang="en-US" sz="1050" b="1" dirty="0">
                <a:solidFill>
                  <a:srgbClr val="008F5F"/>
                </a:solidFill>
              </a:rPr>
              <a:t>Tier-1 + Tier-2</a:t>
            </a:r>
            <a:endParaRPr lang="en-US" sz="1050" dirty="0"/>
          </a:p>
        </p:txBody>
      </p:sp>
      <p:sp>
        <p:nvSpPr>
          <p:cNvPr id="80" name="bar Services on the Bridge 4"/>
          <p:cNvSpPr/>
          <p:nvPr/>
        </p:nvSpPr>
        <p:spPr>
          <a:xfrm>
            <a:off x="9549486" y="5248656"/>
            <a:ext cx="2056994" cy="438912"/>
          </a:xfrm>
          <a:prstGeom prst="roundRect">
            <a:avLst>
              <a:gd name="adj" fmla="val 6250"/>
            </a:avLst>
          </a:prstGeom>
          <a:solidFill>
            <a:srgbClr val="E6FBF3"/>
          </a:solidFill>
          <a:ln w="9525">
            <a:solidFill>
              <a:srgbClr val="E6FBF3"/>
            </a:solidFill>
            <a:prstDash val="solid"/>
          </a:ln>
        </p:spPr>
      </p:sp>
      <p:sp>
        <p:nvSpPr>
          <p:cNvPr id="81" name="bar text Services on the Bridge 4"/>
          <p:cNvSpPr txBox="1"/>
          <p:nvPr/>
        </p:nvSpPr>
        <p:spPr>
          <a:xfrm>
            <a:off x="9604350" y="5248656"/>
            <a:ext cx="1947266" cy="438912"/>
          </a:xfrm>
          <a:prstGeom prst="rect">
            <a:avLst/>
          </a:prstGeom>
          <a:noFill/>
          <a:ln/>
        </p:spPr>
        <p:txBody>
          <a:bodyPr wrap="square" lIns="0" tIns="0" rIns="0" bIns="0" rtlCol="0" anchor="ctr"/>
          <a:lstStyle/>
          <a:p>
            <a:pPr algn="ctr" indent="0" marL="0">
              <a:buNone/>
            </a:pPr>
            <a:r>
              <a:rPr lang="en-US" sz="1050" b="1" dirty="0">
                <a:solidFill>
                  <a:srgbClr val="008F5F"/>
                </a:solidFill>
              </a:rPr>
              <a:t>All tiers</a:t>
            </a:r>
            <a:endParaRPr lang="en-US" sz="1050" dirty="0"/>
          </a:p>
        </p:txBody>
      </p:sp>
      <p:sp>
        <p:nvSpPr>
          <p:cNvPr id="82" name="grid 1"/>
          <p:cNvSpPr/>
          <p:nvPr/>
        </p:nvSpPr>
        <p:spPr>
          <a:xfrm>
            <a:off x="3122473" y="2231136"/>
            <a:ext cx="0" cy="3511296"/>
          </a:xfrm>
          <a:prstGeom prst="line">
            <a:avLst/>
          </a:prstGeom>
          <a:noFill/>
          <a:ln w="6350">
            <a:solidFill>
              <a:srgbClr val="ECEDEF"/>
            </a:solidFill>
            <a:prstDash val="solid"/>
          </a:ln>
        </p:spPr>
      </p:sp>
      <p:sp>
        <p:nvSpPr>
          <p:cNvPr id="83" name="grid 2"/>
          <p:cNvSpPr/>
          <p:nvPr/>
        </p:nvSpPr>
        <p:spPr>
          <a:xfrm>
            <a:off x="4187546" y="2231136"/>
            <a:ext cx="0" cy="3511296"/>
          </a:xfrm>
          <a:prstGeom prst="line">
            <a:avLst/>
          </a:prstGeom>
          <a:noFill/>
          <a:ln w="6350">
            <a:solidFill>
              <a:srgbClr val="ECEDEF"/>
            </a:solidFill>
            <a:prstDash val="solid"/>
          </a:ln>
        </p:spPr>
      </p:sp>
      <p:sp>
        <p:nvSpPr>
          <p:cNvPr id="84" name="grid 3"/>
          <p:cNvSpPr/>
          <p:nvPr/>
        </p:nvSpPr>
        <p:spPr>
          <a:xfrm>
            <a:off x="5252618" y="2231136"/>
            <a:ext cx="0" cy="3511296"/>
          </a:xfrm>
          <a:prstGeom prst="line">
            <a:avLst/>
          </a:prstGeom>
          <a:noFill/>
          <a:ln w="6350">
            <a:solidFill>
              <a:srgbClr val="ECEDEF"/>
            </a:solidFill>
            <a:prstDash val="solid"/>
          </a:ln>
        </p:spPr>
      </p:sp>
      <p:sp>
        <p:nvSpPr>
          <p:cNvPr id="85" name="grid 4"/>
          <p:cNvSpPr/>
          <p:nvPr/>
        </p:nvSpPr>
        <p:spPr>
          <a:xfrm>
            <a:off x="6317691" y="2231136"/>
            <a:ext cx="0" cy="3511296"/>
          </a:xfrm>
          <a:prstGeom prst="line">
            <a:avLst/>
          </a:prstGeom>
          <a:noFill/>
          <a:ln w="6350">
            <a:solidFill>
              <a:srgbClr val="ECEDEF"/>
            </a:solidFill>
            <a:prstDash val="solid"/>
          </a:ln>
        </p:spPr>
      </p:sp>
      <p:sp>
        <p:nvSpPr>
          <p:cNvPr id="86" name="grid 5"/>
          <p:cNvSpPr/>
          <p:nvPr/>
        </p:nvSpPr>
        <p:spPr>
          <a:xfrm>
            <a:off x="7382764" y="2231136"/>
            <a:ext cx="0" cy="3511296"/>
          </a:xfrm>
          <a:prstGeom prst="line">
            <a:avLst/>
          </a:prstGeom>
          <a:noFill/>
          <a:ln w="6350">
            <a:solidFill>
              <a:srgbClr val="ECEDEF"/>
            </a:solidFill>
            <a:prstDash val="solid"/>
          </a:ln>
        </p:spPr>
      </p:sp>
      <p:sp>
        <p:nvSpPr>
          <p:cNvPr id="87" name="grid 6"/>
          <p:cNvSpPr/>
          <p:nvPr/>
        </p:nvSpPr>
        <p:spPr>
          <a:xfrm>
            <a:off x="8447837" y="2231136"/>
            <a:ext cx="0" cy="3511296"/>
          </a:xfrm>
          <a:prstGeom prst="line">
            <a:avLst/>
          </a:prstGeom>
          <a:noFill/>
          <a:ln w="6350">
            <a:solidFill>
              <a:srgbClr val="ECEDEF"/>
            </a:solidFill>
            <a:prstDash val="solid"/>
          </a:ln>
        </p:spPr>
      </p:sp>
      <p:sp>
        <p:nvSpPr>
          <p:cNvPr id="88" name="grid 7"/>
          <p:cNvSpPr/>
          <p:nvPr/>
        </p:nvSpPr>
        <p:spPr>
          <a:xfrm>
            <a:off x="9512910" y="2231136"/>
            <a:ext cx="0" cy="3511296"/>
          </a:xfrm>
          <a:prstGeom prst="line">
            <a:avLst/>
          </a:prstGeom>
          <a:noFill/>
          <a:ln w="6350">
            <a:solidFill>
              <a:srgbClr val="ECEDEF"/>
            </a:solidFill>
            <a:prstDash val="solid"/>
          </a:ln>
        </p:spPr>
      </p:sp>
      <p:sp>
        <p:nvSpPr>
          <p:cNvPr id="89" name="grid 8"/>
          <p:cNvSpPr/>
          <p:nvPr/>
        </p:nvSpPr>
        <p:spPr>
          <a:xfrm>
            <a:off x="10577982" y="2231136"/>
            <a:ext cx="0" cy="3511296"/>
          </a:xfrm>
          <a:prstGeom prst="line">
            <a:avLst/>
          </a:prstGeom>
          <a:noFill/>
          <a:ln w="6350">
            <a:solidFill>
              <a:srgbClr val="ECEDEF"/>
            </a:solidFill>
            <a:prstDash val="solid"/>
          </a:ln>
        </p:spPr>
      </p:sp>
      <p:sp>
        <p:nvSpPr>
          <p:cNvPr id="90" name="now line"/>
          <p:cNvSpPr/>
          <p:nvPr/>
        </p:nvSpPr>
        <p:spPr>
          <a:xfrm>
            <a:off x="2075688" y="2176272"/>
            <a:ext cx="0" cy="3566160"/>
          </a:xfrm>
          <a:prstGeom prst="line">
            <a:avLst/>
          </a:prstGeom>
          <a:noFill/>
          <a:ln w="19050">
            <a:solidFill>
              <a:srgbClr val="FED16B"/>
            </a:solidFill>
            <a:prstDash val="dash"/>
          </a:ln>
        </p:spPr>
      </p:sp>
      <p:sp>
        <p:nvSpPr>
          <p:cNvPr id="91" name="now label"/>
          <p:cNvSpPr txBox="1"/>
          <p:nvPr/>
        </p:nvSpPr>
        <p:spPr>
          <a:xfrm>
            <a:off x="2039112" y="1975104"/>
            <a:ext cx="548640" cy="182880"/>
          </a:xfrm>
          <a:prstGeom prst="rect">
            <a:avLst/>
          </a:prstGeom>
          <a:noFill/>
          <a:ln/>
        </p:spPr>
        <p:txBody>
          <a:bodyPr wrap="square" lIns="0" tIns="0" rIns="0" bIns="0" rtlCol="0" anchor="ctr"/>
          <a:lstStyle/>
          <a:p>
            <a:pPr indent="0" marL="0">
              <a:buNone/>
            </a:pPr>
            <a:r>
              <a:rPr lang="en-US" sz="850" b="1" dirty="0">
                <a:solidFill>
                  <a:srgbClr val="B07B00"/>
                </a:solidFill>
                <a:latin typeface="Courier New" pitchFamily="34" charset="0"/>
                <a:ea typeface="Courier New" pitchFamily="34" charset="-122"/>
                <a:cs typeface="Courier New" pitchFamily="34" charset="-120"/>
              </a:rPr>
              <a:t>now</a:t>
            </a:r>
            <a:endParaRPr lang="en-US" sz="850" dirty="0"/>
          </a:p>
        </p:txBody>
      </p:sp>
      <p:sp>
        <p:nvSpPr>
          <p:cNvPr id="92" name="milestone 0"/>
          <p:cNvSpPr/>
          <p:nvPr/>
        </p:nvSpPr>
        <p:spPr>
          <a:xfrm>
            <a:off x="4637786" y="5852160"/>
            <a:ext cx="164592" cy="164592"/>
          </a:xfrm>
          <a:prstGeom prst="diamond">
            <a:avLst/>
          </a:prstGeom>
          <a:solidFill>
            <a:schemeClr val="accent2"/>
          </a:solidFill>
          <a:ln w="12700">
            <a:solidFill>
              <a:schemeClr val="accent2"/>
            </a:solidFill>
            <a:prstDash val="solid"/>
          </a:ln>
        </p:spPr>
      </p:sp>
      <p:sp>
        <p:nvSpPr>
          <p:cNvPr id="93" name="milestone text 0"/>
          <p:cNvSpPr txBox="1"/>
          <p:nvPr/>
        </p:nvSpPr>
        <p:spPr>
          <a:xfrm>
            <a:off x="3942842" y="6053328"/>
            <a:ext cx="1554480" cy="329184"/>
          </a:xfrm>
          <a:prstGeom prst="rect">
            <a:avLst/>
          </a:prstGeom>
          <a:noFill/>
          <a:ln/>
        </p:spPr>
        <p:txBody>
          <a:bodyPr wrap="square" lIns="0" tIns="0" rIns="0" bIns="0" rtlCol="0" anchor="t"/>
          <a:lstStyle/>
          <a:p>
            <a:pPr algn="ctr" indent="0" marL="0">
              <a:buNone/>
            </a:pPr>
            <a:r>
              <a:rPr lang="en-US" sz="900" dirty="0">
                <a:solidFill>
                  <a:schemeClr val="accent2"/>
                </a:solidFill>
              </a:rPr>
              <a:t>Bridge GA · the year-one go-live</a:t>
            </a:r>
            <a:endParaRPr lang="en-US" sz="900" dirty="0"/>
          </a:p>
        </p:txBody>
      </p:sp>
      <p:sp>
        <p:nvSpPr>
          <p:cNvPr id="94" name="milestone 1"/>
          <p:cNvSpPr/>
          <p:nvPr/>
        </p:nvSpPr>
        <p:spPr>
          <a:xfrm>
            <a:off x="6767932" y="5852160"/>
            <a:ext cx="164592" cy="164592"/>
          </a:xfrm>
          <a:prstGeom prst="diamond">
            <a:avLst/>
          </a:prstGeom>
          <a:solidFill>
            <a:schemeClr val="accent2"/>
          </a:solidFill>
          <a:ln w="12700">
            <a:solidFill>
              <a:schemeClr val="accent2"/>
            </a:solidFill>
            <a:prstDash val="solid"/>
          </a:ln>
        </p:spPr>
      </p:sp>
      <p:sp>
        <p:nvSpPr>
          <p:cNvPr id="95" name="milestone text 1"/>
          <p:cNvSpPr txBox="1"/>
          <p:nvPr/>
        </p:nvSpPr>
        <p:spPr>
          <a:xfrm>
            <a:off x="5579212" y="6053328"/>
            <a:ext cx="1143000" cy="329184"/>
          </a:xfrm>
          <a:prstGeom prst="rect">
            <a:avLst/>
          </a:prstGeom>
          <a:noFill/>
          <a:ln/>
        </p:spPr>
        <p:txBody>
          <a:bodyPr wrap="square" lIns="0" tIns="0" rIns="0" bIns="0" rtlCol="0" anchor="t"/>
          <a:lstStyle/>
          <a:p>
            <a:pPr algn="r" indent="0" marL="0">
              <a:buNone/>
            </a:pPr>
            <a:r>
              <a:rPr lang="en-US" sz="900" dirty="0">
                <a:solidFill>
                  <a:schemeClr val="accent2"/>
                </a:solidFill>
              </a:rPr>
              <a:t>First automated remediation</a:t>
            </a:r>
            <a:endParaRPr lang="en-US" sz="900" dirty="0"/>
          </a:p>
        </p:txBody>
      </p:sp>
      <p:sp>
        <p:nvSpPr>
          <p:cNvPr id="96" name="milestone 2"/>
          <p:cNvSpPr/>
          <p:nvPr/>
        </p:nvSpPr>
        <p:spPr>
          <a:xfrm>
            <a:off x="7833004" y="5852160"/>
            <a:ext cx="164592" cy="164592"/>
          </a:xfrm>
          <a:prstGeom prst="diamond">
            <a:avLst/>
          </a:prstGeom>
          <a:solidFill>
            <a:schemeClr val="accent2"/>
          </a:solidFill>
          <a:ln w="12700">
            <a:solidFill>
              <a:schemeClr val="accent2"/>
            </a:solidFill>
            <a:prstDash val="solid"/>
          </a:ln>
        </p:spPr>
      </p:sp>
      <p:sp>
        <p:nvSpPr>
          <p:cNvPr id="97" name="milestone text 2"/>
          <p:cNvSpPr txBox="1"/>
          <p:nvPr/>
        </p:nvSpPr>
        <p:spPr>
          <a:xfrm>
            <a:off x="8043316" y="6053328"/>
            <a:ext cx="1371600" cy="329184"/>
          </a:xfrm>
          <a:prstGeom prst="rect">
            <a:avLst/>
          </a:prstGeom>
          <a:noFill/>
          <a:ln/>
        </p:spPr>
        <p:txBody>
          <a:bodyPr wrap="square" lIns="0" tIns="0" rIns="0" bIns="0" rtlCol="0" anchor="t"/>
          <a:lstStyle/>
          <a:p>
            <a:pPr algn="l" indent="0" marL="0">
              <a:buNone/>
            </a:pPr>
            <a:r>
              <a:rPr lang="en-US" sz="900" dirty="0">
                <a:solidFill>
                  <a:schemeClr val="accent2"/>
                </a:solidFill>
              </a:rPr>
              <a:t>First RCA report from the record</a:t>
            </a:r>
            <a:endParaRPr lang="en-US" sz="900" dirty="0"/>
          </a:p>
        </p:txBody>
      </p:sp>
      <p:sp>
        <p:nvSpPr>
          <p:cNvPr id="98" name="milestone 3"/>
          <p:cNvSpPr/>
          <p:nvPr/>
        </p:nvSpPr>
        <p:spPr>
          <a:xfrm>
            <a:off x="11028223" y="5852160"/>
            <a:ext cx="164592" cy="164592"/>
          </a:xfrm>
          <a:prstGeom prst="diamond">
            <a:avLst/>
          </a:prstGeom>
          <a:solidFill>
            <a:schemeClr val="accent2"/>
          </a:solidFill>
          <a:ln w="12700">
            <a:solidFill>
              <a:schemeClr val="accent2"/>
            </a:solidFill>
            <a:prstDash val="solid"/>
          </a:ln>
        </p:spPr>
      </p:sp>
      <p:sp>
        <p:nvSpPr>
          <p:cNvPr id="99" name="milestone text 3"/>
          <p:cNvSpPr txBox="1"/>
          <p:nvPr/>
        </p:nvSpPr>
        <p:spPr>
          <a:xfrm>
            <a:off x="10362895" y="6053328"/>
            <a:ext cx="1280160" cy="329184"/>
          </a:xfrm>
          <a:prstGeom prst="rect">
            <a:avLst/>
          </a:prstGeom>
          <a:noFill/>
          <a:ln/>
        </p:spPr>
        <p:txBody>
          <a:bodyPr wrap="square" lIns="0" tIns="0" rIns="0" bIns="0" rtlCol="0" anchor="t"/>
          <a:lstStyle/>
          <a:p>
            <a:pPr algn="r" indent="0" marL="0">
              <a:buNone/>
            </a:pPr>
            <a:r>
              <a:rPr lang="en-US" sz="900" dirty="0">
                <a:solidFill>
                  <a:schemeClr val="accent2"/>
                </a:solidFill>
              </a:rPr>
              <a:t>Steady state</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accent5"/>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Fleet Commander">
  <a:themeElements>
    <a:clrScheme name="Fleet Commander">
      <a:dk1>
        <a:srgbClr val="0B0B0B"/>
      </a:dk1>
      <a:lt1>
        <a:srgbClr val="FFFFFF"/>
      </a:lt1>
      <a:dk2>
        <a:srgbClr val="0C0D0D"/>
      </a:dk2>
      <a:lt2>
        <a:srgbClr val="F3F4F6"/>
      </a:lt2>
      <a:accent1>
        <a:srgbClr val="00E599"/>
      </a:accent1>
      <a:accent2>
        <a:srgbClr val="008F5F"/>
      </a:accent2>
      <a:accent3>
        <a:srgbClr val="FED16B"/>
      </a:accent3>
      <a:accent4>
        <a:srgbClr val="FF3621"/>
      </a:accent4>
      <a:accent5>
        <a:srgbClr val="61646B"/>
      </a:accent5>
      <a:accent6>
        <a:srgbClr val="303236"/>
      </a:accent6>
      <a:hlink>
        <a:srgbClr val="008F5F"/>
      </a:hlink>
      <a:folHlink>
        <a:srgbClr val="61646B"/>
      </a:folHlink>
    </a:clrScheme>
    <a:fontScheme name="Fleet Comma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Fleet Commander — SLO Mission Control for the Technology Command Center</dc:title>
  <dc:subject>PptxGenJS Presentation</dc:subject>
  <dc:creator>Platform Engineering &amp;amp; Observability</dc:creator>
  <cp:lastModifiedBy>Platform Engineering &amp;amp; Observability</cp:lastModifiedBy>
  <cp:revision>1</cp:revision>
  <dcterms:created xsi:type="dcterms:W3CDTF">2026-10-18T16:25:29Z</dcterms:created>
  <dcterms:modified xsi:type="dcterms:W3CDTF">2026-10-18T16:25:29Z</dcterms:modified>
</cp:coreProperties>
</file>